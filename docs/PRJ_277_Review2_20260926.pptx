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j-277-media-research.manojhv13.workers.dev/" TargetMode="External"/><Relationship Id="rId4" Type="http://schemas.openxmlformats.org/officeDocument/2006/relationships/hyperlink" Target="https://github.com/codemanojhv/prj-277-media-research" TargetMode="External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 xml:space="preserve"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REVIEW-2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26-09-2026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360° AI/ML Feedback on Government of India News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 PRJ_277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Supervisor name not provided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Designation not provided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CSE7102 - Mini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Program: CSE7102 Mini Project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 xml:space="preserve">HoD /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Team Leader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Not provided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 xml:space="preserve">Project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Coordinator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Not provided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 xml:space="preserve">School Project Coordinator: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 xml:space="preserve"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(details pending):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 Not assigned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Problem statement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Objectives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Literature and research basis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Methodology and architecture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Implementation progress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dirty="0"/>
              <a:t>Individual work, links, conclusion and 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 xml:space="preserve">Problem Statement: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900" b="1">
                <a:solidFill>
                  <a:srgbClr val="FF0000"/>
                </a:solidFill>
                <a:latin typeface="Arial"/>
              </a:rPr>
              <a:t>Context — </a:t>
            </a:r>
            <a:r>
              <a:rPr sz="1900" b="0">
                <a:solidFill>
                  <a:srgbClr val="FF0000"/>
                </a:solidFill>
                <a:latin typeface="Arial"/>
              </a:rPr>
              <a:t>One Government of India initiative may be reported by national and regional outlets in five languages.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Challenge — </a:t>
            </a:r>
            <a:r>
              <a:rPr sz="1900" b="0">
                <a:solidFill>
                  <a:srgbClr val="FF0000"/>
                </a:solidFill>
                <a:latin typeface="Arial"/>
              </a:rPr>
              <a:t>Manual collection makes those reports hard to find, compare and trace back to the original source.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Research question — </a:t>
            </a:r>
            <a:r>
              <a:rPr sz="1900" b="0">
                <a:solidFill>
                  <a:srgbClr val="FF0000"/>
                </a:solidFill>
                <a:latin typeface="Arial"/>
              </a:rPr>
              <a:t>How does coverage differ across the sources and languages in a selected sample?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Scope — </a:t>
            </a:r>
            <a:r>
              <a:rPr sz="1900" b="0">
                <a:solidFill>
                  <a:srgbClr val="FF0000"/>
                </a:solidFill>
                <a:latin typeface="Arial"/>
              </a:rPr>
              <a:t>Results describe only what this bounded search collected; they do not represent all media or readers.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SzPct val="100000"/>
              <a:buNone/>
            </a:pPr>
            <a:r>
              <a:rPr sz="1900" b="1">
                <a:solidFill>
                  <a:srgbClr val="FF0000"/>
                </a:solidFill>
                <a:latin typeface="Arial"/>
              </a:rPr>
              <a:t>Collect — </a:t>
            </a:r>
            <a:r>
              <a:rPr sz="1900" b="0">
                <a:solidFill>
                  <a:srgbClr val="FF0000"/>
                </a:solidFill>
                <a:latin typeface="Arial"/>
              </a:rPr>
              <a:t>Search an initiative by topic, alternate names, dates, language and optional outlet.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Preserve — </a:t>
            </a:r>
            <a:r>
              <a:rPr sz="1900" b="0">
                <a:solidFill>
                  <a:srgbClr val="FF0000"/>
                </a:solidFill>
                <a:latin typeface="Arial"/>
              </a:rPr>
              <a:t>Store the source and discovery URLs, publication and collection times, and available article text.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Classify — </a:t>
            </a:r>
            <a:r>
              <a:rPr sz="1900" b="0">
                <a:solidFill>
                  <a:srgbClr val="FF0000"/>
                </a:solidFill>
                <a:latin typeface="Arial"/>
              </a:rPr>
              <a:t>Detect English, Hindi, Kannada, Tamil or Telugu and show the reasons for Government of India relevance.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Analyze — </a:t>
            </a:r>
            <a:r>
              <a:rPr sz="1900" b="0">
                <a:solidFill>
                  <a:srgbClr val="FF0000"/>
                </a:solidFill>
                <a:latin typeface="Arial"/>
              </a:rPr>
              <a:t>Summarize content and keep article tone separate from stance toward a named government action.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Compare — </a:t>
            </a:r>
            <a:r>
              <a:rPr sz="1900" b="0">
                <a:solidFill>
                  <a:srgbClr val="FF0000"/>
                </a:solidFill>
                <a:latin typeface="Arial"/>
              </a:rPr>
              <a:t>Group candidate reports, show shared topics and differences, and link every result to its evidence.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and Research Basis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SzPct val="100000"/>
              <a:buNone/>
            </a:pPr>
            <a:r>
              <a:rPr sz="1900" b="1">
                <a:solidFill>
                  <a:srgbClr val="FF0000"/>
                </a:solidFill>
                <a:latin typeface="Arial"/>
              </a:rPr>
              <a:t>Media framing [1] — </a:t>
            </a:r>
            <a:r>
              <a:rPr sz="1900" b="0">
                <a:solidFill>
                  <a:srgbClr val="FF0000"/>
                </a:solidFill>
                <a:latin typeface="Arial"/>
              </a:rPr>
              <a:t>Motivates comparing which themes and details receive emphasis across reports.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Sentence-BERT [2] — </a:t>
            </a:r>
            <a:r>
              <a:rPr sz="1900" b="0">
                <a:solidFill>
                  <a:srgbClr val="FF0000"/>
                </a:solidFill>
                <a:latin typeface="Arial"/>
              </a:rPr>
              <a:t>Shows how texts can be compared by meaning, not only by matching exact words.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IndicNLPSuite [3] — </a:t>
            </a:r>
            <a:r>
              <a:rPr sz="1900" b="0">
                <a:solidFill>
                  <a:srgbClr val="FF0000"/>
                </a:solidFill>
                <a:latin typeface="Arial"/>
              </a:rPr>
              <a:t>Documents resources and benchmarks for Indian-language NLP.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Project gap — </a:t>
            </a:r>
            <a:r>
              <a:rPr sz="1900" b="0">
                <a:solidFill>
                  <a:srgbClr val="FF0000"/>
                </a:solidFill>
                <a:latin typeface="Arial"/>
              </a:rPr>
              <a:t>This prototype applies those ideas to five-language research but still needs human-labeled evaluation.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Methodology and Architecture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 rtl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ct val="100000"/>
              <a:buNone/>
            </a:pPr>
            <a:r>
              <a:rPr sz="1750" b="0">
                <a:solidFill>
                  <a:srgbClr val="FF0000"/>
                </a:solidFill>
                <a:latin typeface="Arial"/>
              </a:rPr>
              <a:t>The Worker stores reports with source links in D1 and returns comparisons to the dashboard.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6" name="PRJ_277 deployed Cloudflare architecture" descr="Architecture diagram showing the browser UI, Worker API, D1, news feeds, optional JEV and Gemini providers, and public discussion sourc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1746504"/>
            <a:ext cx="841248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SzPct val="100000"/>
              <a:buNone/>
            </a:pPr>
            <a:r>
              <a:rPr sz="1750" b="1">
                <a:solidFill>
                  <a:srgbClr val="FF0000"/>
                </a:solidFill>
                <a:latin typeface="Arial"/>
              </a:rPr>
              <a:t>Completed scope — </a:t>
            </a:r>
            <a:r>
              <a:rPr sz="1750" b="0">
                <a:solidFill>
                  <a:srgbClr val="FF0000"/>
                </a:solidFill>
                <a:latin typeface="Arial"/>
              </a:rPr>
              <a:t>Six of ten capability groups work in the demo; 60% is feature scope, not accuracy or code completion.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50" b="1">
                <a:solidFill>
                  <a:srgbClr val="FF0000"/>
                </a:solidFill>
                <a:latin typeface="Arial"/>
              </a:rPr>
              <a:t>Online workflow — </a:t>
            </a:r>
            <a:r>
              <a:rPr sz="1750" b="0">
                <a:solidFill>
                  <a:srgbClr val="FF0000"/>
                </a:solidFill>
                <a:latin typeface="Arial"/>
              </a:rPr>
              <a:t>Google and Bing News RSS feed a Cloudflare Worker, which stores collected records in D1.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50" b="1">
                <a:solidFill>
                  <a:srgbClr val="FF0000"/>
                </a:solidFill>
                <a:latin typeface="Arial"/>
              </a:rPr>
              <a:t>AI roles — </a:t>
            </a:r>
            <a:r>
              <a:rPr sz="1750" b="0">
                <a:solidFill>
                  <a:srgbClr val="FF0000"/>
                </a:solidFill>
                <a:latin typeface="Arial"/>
              </a:rPr>
              <a:t>JEV supplies structured decisions; Gemini writes summaries whose supporting sentences are checked against the article.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50" b="1">
                <a:solidFill>
                  <a:srgbClr val="FF0000"/>
                </a:solidFill>
                <a:latin typeface="Arial"/>
              </a:rPr>
              <a:t>Article 370 reaction check — </a:t>
            </a:r>
            <a:r>
              <a:rPr sz="1750" b="0">
                <a:solidFill>
                  <a:srgbClr val="FF0000"/>
                </a:solidFill>
                <a:latin typeface="Arial"/>
              </a:rPr>
              <a:t>No matching posts were returned. Bluesky failed with HTTP 403 and Hacker News had no match; this is not evidence of public consensus. YouTube is excluded.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750" b="1">
                <a:solidFill>
                  <a:srgbClr val="FF0000"/>
                </a:solidFill>
                <a:latin typeface="Arial"/>
              </a:rPr>
              <a:t>Next — </a:t>
            </a:r>
            <a:r>
              <a:rPr sz="1750" b="0">
                <a:solidFill>
                  <a:srgbClr val="FF0000"/>
                </a:solidFill>
                <a:latin typeface="Arial"/>
              </a:rPr>
              <a:t>Broaden reaction sources and review multilingual output with human-labeled examples.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Individual Contribution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SzPct val="100000"/>
              <a:buNone/>
            </a:pPr>
            <a:r>
              <a:rPr sz="1900" b="1">
                <a:solidFill>
                  <a:srgbClr val="FF0000"/>
                </a:solidFill>
                <a:latin typeface="Arial"/>
              </a:rPr>
              <a:t>Implemented — </a:t>
            </a:r>
            <a:r>
              <a:rPr sz="1900" b="0">
                <a:solidFill>
                  <a:srgbClr val="FF0000"/>
                </a:solidFill>
                <a:latin typeface="Arial"/>
              </a:rPr>
              <a:t>News search, ingestion, language and relevance scoring, article analysis, story comparison and the hosted interface.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Contribution record — </a:t>
            </a:r>
            <a:r>
              <a:rPr sz="1900" b="0">
                <a:solidFill>
                  <a:srgbClr val="FF0000"/>
                </a:solidFill>
                <a:latin typeface="Arial"/>
              </a:rPr>
              <a:t>Team names, USNs, supervisor details and individual task allocations were not supplied, so no ownership is assumed.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FF0000"/>
                </a:solidFill>
                <a:latin typeface="Arial"/>
              </a:rPr>
              <a:t>Reproducibility — </a:t>
            </a:r>
            <a:r>
              <a:rPr sz="1900" b="0">
                <a:solidFill>
                  <a:srgbClr val="FF0000"/>
                </a:solidFill>
                <a:latin typeface="Arial"/>
              </a:rPr>
              <a:t>The repository contains setup guidance, methodology, limitations, tests and presentation materials.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Links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sz="1700" b="1">
                <a:solidFill>
                  <a:srgbClr val="191919"/>
                </a:solidFill>
                <a:latin typeface="Arial"/>
              </a:rPr>
              <a:t>Live demo — </a:t>
            </a:r>
            <a:r>
              <a:rPr sz="1700" u="sng">
                <a:solidFill>
                  <a:srgbClr val="191919"/>
                </a:solidFill>
                <a:latin typeface="Arial"/>
                <a:hlinkClick r:id="rId3"/>
              </a:rPr>
              <a:t>https://prj-277-media-research.manojhv13.workers.dev/</a:t>
            </a:r>
            <a:br/>
            <a:r>
              <a:rPr sz="1700" b="1">
                <a:solidFill>
                  <a:srgbClr val="191919"/>
                </a:solidFill>
                <a:latin typeface="Arial"/>
              </a:rPr>
              <a:t>Public source — </a:t>
            </a:r>
            <a:r>
              <a:rPr sz="1700" u="sng">
                <a:solidFill>
                  <a:srgbClr val="191919"/>
                </a:solidFill>
                <a:latin typeface="Arial"/>
                <a:hlinkClick r:id="rId4"/>
              </a:rPr>
              <a:t>https://github.com/codemanojhv/prj-277-media-research</a:t>
            </a:r>
          </a:p>
        </p:txBody>
      </p:sp>
      <p:pic>
        <p:nvPicPr>
          <p:cNvPr id="116" name="Live Cloudflare Workers dashboard overview captured 26 September 2026" descr="Live PRJ_277 Cloudflare dashboard showing database-backed article, relevance, story and language metrics; synthetic sample is visibly labeled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744" y="2066543"/>
            <a:ext cx="9418320" cy="3648456"/>
          </a:xfrm>
          <a:prstGeom prst="rect">
            <a:avLst/>
          </a:prstGeom>
        </p:spPr>
      </p:pic>
      <p:sp>
        <p:nvSpPr>
          <p:cNvPr id="117" name="Dashboard screenshot caption"/>
          <p:cNvSpPr txBox="1"/>
          <p:nvPr/>
        </p:nvSpPr>
        <p:spPr>
          <a:xfrm>
            <a:off x="1380744" y="5742432"/>
            <a:ext cx="94183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86575"/>
                </a:solidFill>
                <a:latin typeface="Arial"/>
              </a:rPr>
              <a:t>LIVE CLOUDFLARE WORKERS OVERVIEW · CAPTURED 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 rtl="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ct val="100000"/>
              <a:buNone/>
            </a:pPr>
            <a:r>
              <a:rPr sz="1900" b="0">
                <a:solidFill>
                  <a:srgbClr val="191919"/>
                </a:solidFill>
                <a:latin typeface="Arial"/>
              </a:rPr>
              <a:t>The hosted demo connects topic search, source-linked storage, analysis and comparable story views.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The search is a sample: RSS coverage and publisher access limit which reports can be collected.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191919"/>
                </a:solidFill>
                <a:latin typeface="Arial"/>
              </a:rPr>
              <a:t>AI labels and summaries are prompts for review. Article tone is not the same as audience reaction.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191919"/>
                </a:solidFill>
                <a:latin typeface="Arial"/>
              </a:rPr>
              <a:t>Next — </a:t>
            </a:r>
            <a:r>
              <a:rPr sz="1900" b="0">
                <a:solidFill>
                  <a:srgbClr val="191919"/>
                </a:solidFill>
                <a:latin typeface="Arial"/>
              </a:rPr>
              <a:t>Expand reaction sources, evaluate each language with human labels, and add retry and pipeline controls.</a:t>
            </a: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[1] H. A. Semetko and P. M. Valkenburg, "Framing European politics: A content analysis of press and television news," Journal of Communication, vol. 50, no. 2, pp. 93-109, 2000, doi: 10.1111/j.1460-2466.2000.tb02843.x.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[2] N. Reimers and I. Gurevych, "Sentence-BERT: Sentence Embeddings using Siamese BERT-Networks," in Proc. EMNLP-IJCNLP, 2019, pp. 3982-3992, doi: 10.18653/v1/D19-1410.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[3] D. Kakwani et al., "IndicNLPSuite: Monolingual Corpora, Evaluation Benchmarks and Pre-trained Multilingual Language Models for Indian Languages," Findings of EMNLP, 2020, pp. 4948-4961, doi: 10.18653/v1/2020.findings-emnlp.445.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389</Words>
  <Application>Microsoft Office PowerPoint</Application>
  <PresentationFormat>Widescreen</PresentationFormat>
  <Paragraphs>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Statement: </vt:lpstr>
      <vt:lpstr>Objectives</vt:lpstr>
      <vt:lpstr>Literature/research understanding </vt:lpstr>
      <vt:lpstr>Methodology and Architecture</vt:lpstr>
      <vt:lpstr>Implementation Progress</vt:lpstr>
      <vt:lpstr>Individual Contribution</vt:lpstr>
      <vt:lpstr>Github Link</vt:lpstr>
      <vt:lpstr>Conclusion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47</cp:revision>
  <dcterms:modified xsi:type="dcterms:W3CDTF">2026-09-23T15:03:18Z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