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as a university research prototype, not a production media-monitoring or fact-checking service. It demonstrates a traceable path from an explicitly scoped news search to article-level evidence. The default corpus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synthetic seed contains 100 fictional articles, exactly 20 in each supported language, with 10 candidate story groups and corresponding analyses. A separate online search can add real-source records. Synthetic content must not be cited as real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research question narrowly. The system supports exploratory comparison of a selected sample. It does not establish causal media effects or rank publishers.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query form. Topic and alternate phrases define discovery; date limits use dates reported by feeds; language and outlet restrictions narrow the sample. The collector does not crawl all online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how each stage produces or enriches stored records. This architecture is intentionally modular: collection, decision provider, similarity/grouping, persistence and UI can evolve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local demo has FastAPI, SQLite, and a replaceable multilingual embedding provider. The Cloudflare-hosted route is an edge-compatible adapter backed by D1; it uses a lightweight local evidence baseline and can call TypeSafe JEV for decision fields when a secret is configured. The two runtime-specific clustering methods should not be described as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imported and searched articles keep the source URL, discovery URL, timestamps, hash and collection method. Publisher pages may block access; the system stores a labeled provider excerpt rather than claiming full-text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detection uses Unicode script ranges and an English Latin-script baseline. GoI relevance is generated from configurable multilingual phrase indicators; both systems return supporting details but have known miss and false match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JEV has been integrated as an optional provider in both the local API and the Cloudflare edge adapter. The app uses local evidence unless TypeSafe credentials are installed. No API key was supplied during deployment, so the hosted demo uses its local evidence baseline. Gemini and OpenRouter keys do not authenticate to the TypeSafe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matrix to show why sentiment should not be treated as political stance. A report about a delay may have negative tone yet remain supportive of the policy goal. The actual app scores these fields separately and uses unclear/uncertain when evidence is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article detail, present analysis fields with evidence and provenance. The local analysis baseline is extractive and rule-supported. JEV returns structured classes but no quote-level explanation; the UI should not imply that a provider decision itself is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difference explicit. The full local baseline uses a multilingual embedding model with a deterministic lexical fallback. The Workers research route presently groups results by submitted research job for comparison and stores those items as a candidate story group. It is not performing the same embedding clustering as the local pipeline; this is a known hosted-prototype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story detail comparison. Language and source sample sizes are visible; shared topics and differences include article IDs. Do not interpret a small sample as evidence that an outlet is biased or that one language's coverage is representative.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wireframe to narrate the browser journey. The actual app has dashboard, research, stories, articles and methodology routes. From a completed job, the user can open its candidate story set and inspect the source-level article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been adapted to Cloudflare Workers using OpenNext and a D1 database. D1 starts with the synthetic seed and also stores collected public-source records. No TypeSafe secret has been supplied, so the default edge local baseline is active. A custom domain is not necessary for a university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D1 row counts were queried from the deployed database after one successful public-source search. API tests and the web type check passed after the relevance-rule update; the Worker was redeployed and the hosted article evidence flow was checked in the browser. The deck intentionally distinguishes prototype checks from model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project's limits. Demonstrate provenance and balanced sampling, but do not overstate what a search provider, rule-based field, JEV probability, or small sample can establish. Recommend human annotation and documented sampling criteria for research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equally weighted groups come from the project scope checklist. Groups 1 through 6 comprise the functional 60 percent milestone. The published Cloudflare prototype adds a hosting target, but production hardening, comprehensive evaluation and broader administration remain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demonstrating the synthetic seed, then a stored public-source search sample from query through article evidence. Answer questions using the documented methodology and limitations. If discussing JEV live classification, explain that it requires a TypeSafe API key and that Gemini/OpenRouter keys are not substitutes. References are vendor documentation and project documentation; the seed is synthetic and live search is a bounded, non-exhaustive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384048" y="6574536"/>
            <a:ext cx="219456" cy="64008"/>
          </a:xfrm>
          <a:prstGeom prst="rect">
            <a:avLst/>
          </a:prstGeom>
          <a:solidFill>
            <a:srgbClr val="E7A54A"/>
          </a:solidFill>
          <a:ln w="12700">
            <a:solidFill>
              <a:srgbClr val="E7A54A">
                <a:alpha val="0"/>
              </a:srgbClr>
            </a:solidFill>
            <a:prstDash val="solid"/>
          </a:ln>
        </p:spPr>
      </p:sp>
      <p:sp>
        <p:nvSpPr>
          <p:cNvPr id="3" name="Text 1"/>
          <p:cNvSpPr/>
          <p:nvPr/>
        </p:nvSpPr>
        <p:spPr>
          <a:xfrm>
            <a:off x="713232" y="6510528"/>
            <a:ext cx="4023360" cy="173736"/>
          </a:xfrm>
          <a:prstGeom prst="rect">
            <a:avLst/>
          </a:prstGeom>
          <a:noFill/>
          <a:ln/>
        </p:spPr>
        <p:txBody>
          <a:bodyPr wrap="square" lIns="0" tIns="0" rIns="0" bIns="0" rtlCol="0" anchor="ctr"/>
          <a:lstStyle/>
          <a:p>
            <a:pPr indent="0" marL="0">
              <a:buNone/>
            </a:pPr>
            <a:r>
              <a:rPr lang="en-US" sz="850" spc="120" kern="0" dirty="0">
                <a:solidFill>
                  <a:srgbClr val="71817A"/>
                </a:solidFill>
                <a:latin typeface="Aptos" pitchFamily="34" charset="0"/>
                <a:ea typeface="Aptos" pitchFamily="34" charset="-122"/>
                <a:cs typeface="Aptos" pitchFamily="34" charset="-120"/>
              </a:rPr>
              <a:t>PRJ_277  /  MEDIA RESEARCH</a:t>
            </a:r>
            <a:endParaRPr lang="en-US" sz="85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D35"/>
        </a:solidFill>
      </p:bgPr>
    </p:bg>
    <p:spTree>
      <p:nvGrpSpPr>
        <p:cNvPr id="1" name=""/>
        <p:cNvGrpSpPr/>
        <p:nvPr/>
      </p:nvGrpSpPr>
      <p:grpSpPr>
        <a:xfrm>
          <a:off x="0" y="0"/>
          <a:ext cx="0" cy="0"/>
          <a:chOff x="0" y="0"/>
          <a:chExt cx="0" cy="0"/>
        </a:xfrm>
      </p:grpSpPr>
      <p:sp>
        <p:nvSpPr>
          <p:cNvPr id="2" name="Shape 0"/>
          <p:cNvSpPr/>
          <p:nvPr/>
        </p:nvSpPr>
        <p:spPr>
          <a:xfrm>
            <a:off x="7754112" y="0"/>
            <a:ext cx="4434840" cy="6858000"/>
          </a:xfrm>
          <a:prstGeom prst="rect">
            <a:avLst/>
          </a:prstGeom>
          <a:solidFill>
            <a:srgbClr val="21584A"/>
          </a:solidFill>
          <a:ln w="10160">
            <a:solidFill>
              <a:srgbClr val="21584A">
                <a:alpha val="0"/>
              </a:srgbClr>
            </a:solidFill>
            <a:prstDash val="solid"/>
          </a:ln>
        </p:spPr>
      </p:sp>
      <p:sp>
        <p:nvSpPr>
          <p:cNvPr id="3" name="Text 1"/>
          <p:cNvSpPr/>
          <p:nvPr/>
        </p:nvSpPr>
        <p:spPr>
          <a:xfrm>
            <a:off x="658368" y="566928"/>
            <a:ext cx="6126480" cy="256032"/>
          </a:xfrm>
          <a:prstGeom prst="rect">
            <a:avLst/>
          </a:prstGeom>
          <a:noFill/>
          <a:ln/>
        </p:spPr>
        <p:txBody>
          <a:bodyPr wrap="square" lIns="0" tIns="0" rIns="0" bIns="0" rtlCol="0" anchor="ctr">
            <a:normAutofit/>
          </a:bodyPr>
          <a:lstStyle/>
          <a:p>
            <a:pPr algn="l" indent="0" marL="0">
              <a:buNone/>
            </a:pPr>
            <a:r>
              <a:rPr lang="en-US" sz="1000" b="1" spc="170" kern="0" dirty="0">
                <a:solidFill>
                  <a:srgbClr val="D3E3D8"/>
                </a:solidFill>
                <a:latin typeface="Aptos" pitchFamily="34" charset="0"/>
                <a:ea typeface="Aptos" pitchFamily="34" charset="-122"/>
                <a:cs typeface="Aptos" pitchFamily="34" charset="-120"/>
              </a:rPr>
              <a:t>UNIVERSITY PROJECT  /  PRJ_277</a:t>
            </a:r>
            <a:endParaRPr lang="en-US" sz="1000" dirty="0"/>
          </a:p>
        </p:txBody>
      </p:sp>
      <p:sp>
        <p:nvSpPr>
          <p:cNvPr id="4" name="Text 2"/>
          <p:cNvSpPr/>
          <p:nvPr/>
        </p:nvSpPr>
        <p:spPr>
          <a:xfrm>
            <a:off x="630936" y="1225296"/>
            <a:ext cx="3200400" cy="932688"/>
          </a:xfrm>
          <a:prstGeom prst="rect">
            <a:avLst/>
          </a:prstGeom>
          <a:noFill/>
          <a:ln/>
        </p:spPr>
        <p:txBody>
          <a:bodyPr wrap="square" lIns="0" tIns="0" rIns="0" bIns="0" rtlCol="0" anchor="ctr">
            <a:normAutofit/>
          </a:bodyPr>
          <a:lstStyle/>
          <a:p>
            <a:pPr algn="l" indent="0" marL="0">
              <a:buNone/>
            </a:pPr>
            <a:r>
              <a:rPr lang="en-US" sz="5300" b="1" dirty="0">
                <a:solidFill>
                  <a:srgbClr val="E7A54A"/>
                </a:solidFill>
                <a:latin typeface="Georgia" pitchFamily="34" charset="0"/>
                <a:ea typeface="Georgia" pitchFamily="34" charset="-122"/>
                <a:cs typeface="Georgia" pitchFamily="34" charset="-120"/>
              </a:rPr>
              <a:t>360°</a:t>
            </a:r>
            <a:endParaRPr lang="en-US" sz="5300" dirty="0"/>
          </a:p>
        </p:txBody>
      </p:sp>
      <p:sp>
        <p:nvSpPr>
          <p:cNvPr id="5" name="Text 3"/>
          <p:cNvSpPr/>
          <p:nvPr/>
        </p:nvSpPr>
        <p:spPr>
          <a:xfrm>
            <a:off x="658368" y="2121408"/>
            <a:ext cx="6766560" cy="1417320"/>
          </a:xfrm>
          <a:prstGeom prst="rect">
            <a:avLst/>
          </a:prstGeom>
          <a:noFill/>
          <a:ln/>
        </p:spPr>
        <p:txBody>
          <a:bodyPr wrap="square" lIns="0" tIns="0" rIns="0" bIns="0" rtlCol="0" anchor="t">
            <a:normAutofit/>
          </a:bodyPr>
          <a:lstStyle/>
          <a:p>
            <a:pPr algn="l" indent="0" marL="0">
              <a:buNone/>
            </a:pPr>
            <a:r>
              <a:rPr lang="en-US" sz="3700" b="1" dirty="0">
                <a:solidFill>
                  <a:srgbClr val="FFFFFF"/>
                </a:solidFill>
                <a:latin typeface="Georgia" pitchFamily="34" charset="0"/>
                <a:ea typeface="Georgia" pitchFamily="34" charset="-122"/>
                <a:cs typeface="Georgia" pitchFamily="34" charset="-120"/>
              </a:rPr>
              <a:t>News coverage</a:t>
            </a:r>
            <a:endParaRPr lang="en-US" sz="3700" dirty="0"/>
          </a:p>
          <a:p>
            <a:pPr algn="l" indent="0" marL="0">
              <a:buNone/>
            </a:pPr>
            <a:r>
              <a:rPr lang="en-US" sz="3700" b="1" dirty="0">
                <a:solidFill>
                  <a:srgbClr val="FFFFFF"/>
                </a:solidFill>
                <a:latin typeface="Georgia" pitchFamily="34" charset="0"/>
                <a:ea typeface="Georgia" pitchFamily="34" charset="-122"/>
                <a:cs typeface="Georgia" pitchFamily="34" charset="-120"/>
              </a:rPr>
              <a:t>research system</a:t>
            </a:r>
            <a:endParaRPr lang="en-US" sz="3700" dirty="0"/>
          </a:p>
        </p:txBody>
      </p:sp>
      <p:sp>
        <p:nvSpPr>
          <p:cNvPr id="6" name="Text 4"/>
          <p:cNvSpPr/>
          <p:nvPr/>
        </p:nvSpPr>
        <p:spPr>
          <a:xfrm>
            <a:off x="694944" y="3794760"/>
            <a:ext cx="6080760" cy="749808"/>
          </a:xfrm>
          <a:prstGeom prst="rect">
            <a:avLst/>
          </a:prstGeom>
          <a:noFill/>
          <a:ln/>
        </p:spPr>
        <p:txBody>
          <a:bodyPr wrap="square" lIns="0" tIns="0" rIns="0" bIns="0" rtlCol="0" anchor="t">
            <a:normAutofit/>
          </a:bodyPr>
          <a:lstStyle/>
          <a:p>
            <a:pPr algn="l" indent="0" marL="0">
              <a:buNone/>
            </a:pPr>
            <a:r>
              <a:rPr lang="en-US" sz="1700" dirty="0">
                <a:solidFill>
                  <a:srgbClr val="DCE8E0"/>
                </a:solidFill>
                <a:latin typeface="Aptos" pitchFamily="34" charset="0"/>
                <a:ea typeface="Aptos" pitchFamily="34" charset="-122"/>
                <a:cs typeface="Aptos" pitchFamily="34" charset="-120"/>
              </a:rPr>
              <a:t>A multilingual workflow to collect, analyze, compare and trace public reporting on Government of India initiatives.</a:t>
            </a:r>
            <a:endParaRPr lang="en-US" sz="1700" dirty="0"/>
          </a:p>
        </p:txBody>
      </p:sp>
      <p:sp>
        <p:nvSpPr>
          <p:cNvPr id="7" name="Shape 5"/>
          <p:cNvSpPr/>
          <p:nvPr/>
        </p:nvSpPr>
        <p:spPr>
          <a:xfrm>
            <a:off x="694944" y="4956048"/>
            <a:ext cx="2423160" cy="329184"/>
          </a:xfrm>
          <a:prstGeom prst="roundRect">
            <a:avLst>
              <a:gd name="adj" fmla="val 36111"/>
            </a:avLst>
          </a:prstGeom>
          <a:solidFill>
            <a:srgbClr val="D8E8DC"/>
          </a:solidFill>
          <a:ln w="10160">
            <a:solidFill>
              <a:srgbClr val="D8E8DC">
                <a:alpha val="0"/>
              </a:srgbClr>
            </a:solidFill>
            <a:prstDash val="solid"/>
          </a:ln>
        </p:spPr>
      </p:sp>
      <p:sp>
        <p:nvSpPr>
          <p:cNvPr id="8" name="Text 6"/>
          <p:cNvSpPr/>
          <p:nvPr/>
        </p:nvSpPr>
        <p:spPr>
          <a:xfrm>
            <a:off x="786384" y="4965192"/>
            <a:ext cx="2240280" cy="310896"/>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FUNCTIONAL 60% MILESTONE</a:t>
            </a:r>
            <a:endParaRPr lang="en-US" sz="900" dirty="0"/>
          </a:p>
        </p:txBody>
      </p:sp>
      <p:sp>
        <p:nvSpPr>
          <p:cNvPr id="9" name="Text 7"/>
          <p:cNvSpPr/>
          <p:nvPr/>
        </p:nvSpPr>
        <p:spPr>
          <a:xfrm>
            <a:off x="694944" y="5522976"/>
            <a:ext cx="5943600" cy="320040"/>
          </a:xfrm>
          <a:prstGeom prst="rect">
            <a:avLst/>
          </a:prstGeom>
          <a:noFill/>
          <a:ln/>
        </p:spPr>
        <p:txBody>
          <a:bodyPr wrap="square" lIns="0" tIns="0" rIns="0" bIns="0" rtlCol="0" anchor="ctr">
            <a:normAutofit/>
          </a:bodyPr>
          <a:lstStyle/>
          <a:p>
            <a:pPr algn="l" indent="0" marL="0">
              <a:buNone/>
            </a:pPr>
            <a:r>
              <a:rPr lang="en-US" sz="1200" spc="25" kern="0" dirty="0">
                <a:solidFill>
                  <a:srgbClr val="C2D6C9"/>
                </a:solidFill>
                <a:latin typeface="Aptos" pitchFamily="34" charset="0"/>
                <a:ea typeface="Aptos" pitchFamily="34" charset="-122"/>
                <a:cs typeface="Aptos" pitchFamily="34" charset="-120"/>
              </a:rPr>
              <a:t>Evidence-linked  ·  Politically neutral  ·  Local-first</a:t>
            </a:r>
            <a:endParaRPr lang="en-US" sz="1200" dirty="0"/>
          </a:p>
        </p:txBody>
      </p:sp>
      <p:sp>
        <p:nvSpPr>
          <p:cNvPr id="10" name="Shape 8"/>
          <p:cNvSpPr/>
          <p:nvPr/>
        </p:nvSpPr>
        <p:spPr>
          <a:xfrm>
            <a:off x="8211312" y="1088136"/>
            <a:ext cx="1938528" cy="2240280"/>
          </a:xfrm>
          <a:prstGeom prst="line">
            <a:avLst/>
          </a:prstGeom>
          <a:noFill/>
          <a:ln w="27940">
            <a:solidFill>
              <a:srgbClr val="E7A54A"/>
            </a:solidFill>
            <a:prstDash val="solid"/>
            <a:headEnd type="none"/>
            <a:tailEnd type="none"/>
          </a:ln>
        </p:spPr>
      </p:sp>
      <p:sp>
        <p:nvSpPr>
          <p:cNvPr id="11" name="Shape 9"/>
          <p:cNvSpPr/>
          <p:nvPr/>
        </p:nvSpPr>
        <p:spPr>
          <a:xfrm>
            <a:off x="8074152" y="969264"/>
            <a:ext cx="256032" cy="256032"/>
          </a:xfrm>
          <a:prstGeom prst="ellipse">
            <a:avLst/>
          </a:prstGeom>
          <a:solidFill>
            <a:srgbClr val="E7A54A"/>
          </a:solidFill>
          <a:ln w="12700">
            <a:solidFill>
              <a:srgbClr val="E7A54A">
                <a:alpha val="0"/>
              </a:srgbClr>
            </a:solidFill>
            <a:prstDash val="solid"/>
          </a:ln>
        </p:spPr>
      </p:sp>
      <p:sp>
        <p:nvSpPr>
          <p:cNvPr id="12" name="Text 10"/>
          <p:cNvSpPr/>
          <p:nvPr/>
        </p:nvSpPr>
        <p:spPr>
          <a:xfrm>
            <a:off x="8083296" y="1005840"/>
            <a:ext cx="237744" cy="155448"/>
          </a:xfrm>
          <a:prstGeom prst="rect">
            <a:avLst/>
          </a:prstGeom>
          <a:noFill/>
          <a:ln/>
        </p:spPr>
        <p:txBody>
          <a:bodyPr wrap="square" lIns="0" tIns="0" rIns="0" bIns="0" rtlCol="0" anchor="ctr">
            <a:normAutofit/>
          </a:bodyPr>
          <a:lstStyle/>
          <a:p>
            <a:pPr algn="ctr" indent="0" marL="0">
              <a:buNone/>
            </a:pPr>
            <a:r>
              <a:rPr lang="en-US" sz="700" b="1" dirty="0">
                <a:solidFill>
                  <a:srgbClr val="173D35"/>
                </a:solidFill>
                <a:latin typeface="Aptos" pitchFamily="34" charset="0"/>
                <a:ea typeface="Aptos" pitchFamily="34" charset="-122"/>
                <a:cs typeface="Aptos" pitchFamily="34" charset="-120"/>
              </a:rPr>
              <a:t>EN</a:t>
            </a:r>
            <a:endParaRPr lang="en-US" sz="700" dirty="0"/>
          </a:p>
        </p:txBody>
      </p:sp>
      <p:sp>
        <p:nvSpPr>
          <p:cNvPr id="13" name="Shape 11"/>
          <p:cNvSpPr/>
          <p:nvPr/>
        </p:nvSpPr>
        <p:spPr>
          <a:xfrm>
            <a:off x="8211312" y="1984248"/>
            <a:ext cx="1938528" cy="1344168"/>
          </a:xfrm>
          <a:prstGeom prst="line">
            <a:avLst/>
          </a:prstGeom>
          <a:noFill/>
          <a:ln w="27940">
            <a:solidFill>
              <a:srgbClr val="78B9A2"/>
            </a:solidFill>
            <a:prstDash val="solid"/>
            <a:headEnd type="none"/>
            <a:tailEnd type="none"/>
          </a:ln>
        </p:spPr>
      </p:sp>
      <p:sp>
        <p:nvSpPr>
          <p:cNvPr id="14" name="Shape 12"/>
          <p:cNvSpPr/>
          <p:nvPr/>
        </p:nvSpPr>
        <p:spPr>
          <a:xfrm>
            <a:off x="8074152" y="1865376"/>
            <a:ext cx="256032" cy="256032"/>
          </a:xfrm>
          <a:prstGeom prst="ellipse">
            <a:avLst/>
          </a:prstGeom>
          <a:solidFill>
            <a:srgbClr val="78B9A2"/>
          </a:solidFill>
          <a:ln w="12700">
            <a:solidFill>
              <a:srgbClr val="78B9A2">
                <a:alpha val="0"/>
              </a:srgbClr>
            </a:solidFill>
            <a:prstDash val="solid"/>
          </a:ln>
        </p:spPr>
      </p:sp>
      <p:sp>
        <p:nvSpPr>
          <p:cNvPr id="15" name="Text 13"/>
          <p:cNvSpPr/>
          <p:nvPr/>
        </p:nvSpPr>
        <p:spPr>
          <a:xfrm>
            <a:off x="8083296" y="1901952"/>
            <a:ext cx="237744" cy="155448"/>
          </a:xfrm>
          <a:prstGeom prst="rect">
            <a:avLst/>
          </a:prstGeom>
          <a:noFill/>
          <a:ln/>
        </p:spPr>
        <p:txBody>
          <a:bodyPr wrap="square" lIns="0" tIns="0" rIns="0" bIns="0" rtlCol="0" anchor="ctr">
            <a:normAutofit/>
          </a:bodyPr>
          <a:lstStyle/>
          <a:p>
            <a:pPr algn="ctr" indent="0" marL="0">
              <a:buNone/>
            </a:pPr>
            <a:r>
              <a:rPr lang="en-US" sz="700" b="1" dirty="0">
                <a:solidFill>
                  <a:srgbClr val="173D35"/>
                </a:solidFill>
                <a:latin typeface="Aptos" pitchFamily="34" charset="0"/>
                <a:ea typeface="Aptos" pitchFamily="34" charset="-122"/>
                <a:cs typeface="Aptos" pitchFamily="34" charset="-120"/>
              </a:rPr>
              <a:t>HI</a:t>
            </a:r>
            <a:endParaRPr lang="en-US" sz="700" dirty="0"/>
          </a:p>
        </p:txBody>
      </p:sp>
      <p:sp>
        <p:nvSpPr>
          <p:cNvPr id="16" name="Shape 14"/>
          <p:cNvSpPr/>
          <p:nvPr/>
        </p:nvSpPr>
        <p:spPr>
          <a:xfrm>
            <a:off x="8211312" y="2880360"/>
            <a:ext cx="1938528" cy="448056"/>
          </a:xfrm>
          <a:prstGeom prst="line">
            <a:avLst/>
          </a:prstGeom>
          <a:noFill/>
          <a:ln w="27940">
            <a:solidFill>
              <a:srgbClr val="E8D4A5"/>
            </a:solidFill>
            <a:prstDash val="solid"/>
            <a:headEnd type="none"/>
            <a:tailEnd type="none"/>
          </a:ln>
        </p:spPr>
      </p:sp>
      <p:sp>
        <p:nvSpPr>
          <p:cNvPr id="17" name="Shape 15"/>
          <p:cNvSpPr/>
          <p:nvPr/>
        </p:nvSpPr>
        <p:spPr>
          <a:xfrm>
            <a:off x="8074152" y="2761488"/>
            <a:ext cx="256032" cy="256032"/>
          </a:xfrm>
          <a:prstGeom prst="ellipse">
            <a:avLst/>
          </a:prstGeom>
          <a:solidFill>
            <a:srgbClr val="E8D4A5"/>
          </a:solidFill>
          <a:ln w="12700">
            <a:solidFill>
              <a:srgbClr val="E8D4A5">
                <a:alpha val="0"/>
              </a:srgbClr>
            </a:solidFill>
            <a:prstDash val="solid"/>
          </a:ln>
        </p:spPr>
      </p:sp>
      <p:sp>
        <p:nvSpPr>
          <p:cNvPr id="18" name="Text 16"/>
          <p:cNvSpPr/>
          <p:nvPr/>
        </p:nvSpPr>
        <p:spPr>
          <a:xfrm>
            <a:off x="8083296" y="2798064"/>
            <a:ext cx="237744" cy="155448"/>
          </a:xfrm>
          <a:prstGeom prst="rect">
            <a:avLst/>
          </a:prstGeom>
          <a:noFill/>
          <a:ln/>
        </p:spPr>
        <p:txBody>
          <a:bodyPr wrap="square" lIns="0" tIns="0" rIns="0" bIns="0" rtlCol="0" anchor="ctr">
            <a:normAutofit/>
          </a:bodyPr>
          <a:lstStyle/>
          <a:p>
            <a:pPr algn="ctr" indent="0" marL="0">
              <a:buNone/>
            </a:pPr>
            <a:r>
              <a:rPr lang="en-US" sz="700" b="1" dirty="0">
                <a:solidFill>
                  <a:srgbClr val="173D35"/>
                </a:solidFill>
                <a:latin typeface="Aptos" pitchFamily="34" charset="0"/>
                <a:ea typeface="Aptos" pitchFamily="34" charset="-122"/>
                <a:cs typeface="Aptos" pitchFamily="34" charset="-120"/>
              </a:rPr>
              <a:t>KN</a:t>
            </a:r>
            <a:endParaRPr lang="en-US" sz="700" dirty="0"/>
          </a:p>
        </p:txBody>
      </p:sp>
      <p:sp>
        <p:nvSpPr>
          <p:cNvPr id="19" name="Shape 17"/>
          <p:cNvSpPr/>
          <p:nvPr/>
        </p:nvSpPr>
        <p:spPr>
          <a:xfrm flipV="1">
            <a:off x="8211312" y="3328416"/>
            <a:ext cx="1938528" cy="448056"/>
          </a:xfrm>
          <a:prstGeom prst="line">
            <a:avLst/>
          </a:prstGeom>
          <a:noFill/>
          <a:ln w="27940">
            <a:solidFill>
              <a:srgbClr val="9FBBD0"/>
            </a:solidFill>
            <a:prstDash val="solid"/>
            <a:headEnd type="none"/>
            <a:tailEnd type="none"/>
          </a:ln>
        </p:spPr>
      </p:sp>
      <p:sp>
        <p:nvSpPr>
          <p:cNvPr id="20" name="Shape 18"/>
          <p:cNvSpPr/>
          <p:nvPr/>
        </p:nvSpPr>
        <p:spPr>
          <a:xfrm>
            <a:off x="8074152" y="3657600"/>
            <a:ext cx="256032" cy="256032"/>
          </a:xfrm>
          <a:prstGeom prst="ellipse">
            <a:avLst/>
          </a:prstGeom>
          <a:solidFill>
            <a:srgbClr val="9FBBD0"/>
          </a:solidFill>
          <a:ln w="12700">
            <a:solidFill>
              <a:srgbClr val="9FBBD0">
                <a:alpha val="0"/>
              </a:srgbClr>
            </a:solidFill>
            <a:prstDash val="solid"/>
          </a:ln>
        </p:spPr>
      </p:sp>
      <p:sp>
        <p:nvSpPr>
          <p:cNvPr id="21" name="Text 19"/>
          <p:cNvSpPr/>
          <p:nvPr/>
        </p:nvSpPr>
        <p:spPr>
          <a:xfrm>
            <a:off x="8083296" y="3694176"/>
            <a:ext cx="237744" cy="155448"/>
          </a:xfrm>
          <a:prstGeom prst="rect">
            <a:avLst/>
          </a:prstGeom>
          <a:noFill/>
          <a:ln/>
        </p:spPr>
        <p:txBody>
          <a:bodyPr wrap="square" lIns="0" tIns="0" rIns="0" bIns="0" rtlCol="0" anchor="ctr">
            <a:normAutofit/>
          </a:bodyPr>
          <a:lstStyle/>
          <a:p>
            <a:pPr algn="ctr" indent="0" marL="0">
              <a:buNone/>
            </a:pPr>
            <a:r>
              <a:rPr lang="en-US" sz="700" b="1" dirty="0">
                <a:solidFill>
                  <a:srgbClr val="173D35"/>
                </a:solidFill>
                <a:latin typeface="Aptos" pitchFamily="34" charset="0"/>
                <a:ea typeface="Aptos" pitchFamily="34" charset="-122"/>
                <a:cs typeface="Aptos" pitchFamily="34" charset="-120"/>
              </a:rPr>
              <a:t>TA</a:t>
            </a:r>
            <a:endParaRPr lang="en-US" sz="700" dirty="0"/>
          </a:p>
        </p:txBody>
      </p:sp>
      <p:sp>
        <p:nvSpPr>
          <p:cNvPr id="22" name="Shape 20"/>
          <p:cNvSpPr/>
          <p:nvPr/>
        </p:nvSpPr>
        <p:spPr>
          <a:xfrm flipV="1">
            <a:off x="8211312" y="3328416"/>
            <a:ext cx="1938528" cy="1344168"/>
          </a:xfrm>
          <a:prstGeom prst="line">
            <a:avLst/>
          </a:prstGeom>
          <a:noFill/>
          <a:ln w="27940">
            <a:solidFill>
              <a:srgbClr val="D6A692"/>
            </a:solidFill>
            <a:prstDash val="solid"/>
            <a:headEnd type="none"/>
            <a:tailEnd type="none"/>
          </a:ln>
        </p:spPr>
      </p:sp>
      <p:sp>
        <p:nvSpPr>
          <p:cNvPr id="23" name="Shape 21"/>
          <p:cNvSpPr/>
          <p:nvPr/>
        </p:nvSpPr>
        <p:spPr>
          <a:xfrm>
            <a:off x="8074152" y="4553712"/>
            <a:ext cx="256032" cy="256032"/>
          </a:xfrm>
          <a:prstGeom prst="ellipse">
            <a:avLst/>
          </a:prstGeom>
          <a:solidFill>
            <a:srgbClr val="D6A692"/>
          </a:solidFill>
          <a:ln w="12700">
            <a:solidFill>
              <a:srgbClr val="D6A692">
                <a:alpha val="0"/>
              </a:srgbClr>
            </a:solidFill>
            <a:prstDash val="solid"/>
          </a:ln>
        </p:spPr>
      </p:sp>
      <p:sp>
        <p:nvSpPr>
          <p:cNvPr id="24" name="Text 22"/>
          <p:cNvSpPr/>
          <p:nvPr/>
        </p:nvSpPr>
        <p:spPr>
          <a:xfrm>
            <a:off x="8083296" y="4590288"/>
            <a:ext cx="237744" cy="155448"/>
          </a:xfrm>
          <a:prstGeom prst="rect">
            <a:avLst/>
          </a:prstGeom>
          <a:noFill/>
          <a:ln/>
        </p:spPr>
        <p:txBody>
          <a:bodyPr wrap="square" lIns="0" tIns="0" rIns="0" bIns="0" rtlCol="0" anchor="ctr">
            <a:normAutofit/>
          </a:bodyPr>
          <a:lstStyle/>
          <a:p>
            <a:pPr algn="ctr" indent="0" marL="0">
              <a:buNone/>
            </a:pPr>
            <a:r>
              <a:rPr lang="en-US" sz="700" b="1" dirty="0">
                <a:solidFill>
                  <a:srgbClr val="173D35"/>
                </a:solidFill>
                <a:latin typeface="Aptos" pitchFamily="34" charset="0"/>
                <a:ea typeface="Aptos" pitchFamily="34" charset="-122"/>
                <a:cs typeface="Aptos" pitchFamily="34" charset="-120"/>
              </a:rPr>
              <a:t>TE</a:t>
            </a:r>
            <a:endParaRPr lang="en-US" sz="700" dirty="0"/>
          </a:p>
        </p:txBody>
      </p:sp>
      <p:sp>
        <p:nvSpPr>
          <p:cNvPr id="25" name="Shape 23"/>
          <p:cNvSpPr/>
          <p:nvPr/>
        </p:nvSpPr>
        <p:spPr>
          <a:xfrm>
            <a:off x="10012680" y="2944368"/>
            <a:ext cx="713232" cy="713232"/>
          </a:xfrm>
          <a:prstGeom prst="ellipse">
            <a:avLst/>
          </a:prstGeom>
          <a:solidFill>
            <a:srgbClr val="E7A54A"/>
          </a:solidFill>
          <a:ln w="12700">
            <a:solidFill>
              <a:srgbClr val="E7A54A">
                <a:alpha val="0"/>
              </a:srgbClr>
            </a:solidFill>
            <a:prstDash val="solid"/>
          </a:ln>
        </p:spPr>
      </p:sp>
      <p:sp>
        <p:nvSpPr>
          <p:cNvPr id="26" name="Shape 24"/>
          <p:cNvSpPr/>
          <p:nvPr/>
        </p:nvSpPr>
        <p:spPr>
          <a:xfrm>
            <a:off x="10213848" y="3145536"/>
            <a:ext cx="310896" cy="310896"/>
          </a:xfrm>
          <a:prstGeom prst="ellipse">
            <a:avLst/>
          </a:prstGeom>
          <a:solidFill>
            <a:srgbClr val="FFFFFF"/>
          </a:solidFill>
          <a:ln w="12700">
            <a:solidFill>
              <a:srgbClr val="FFFFFF">
                <a:alpha val="0"/>
              </a:srgbClr>
            </a:solidFill>
            <a:prstDash val="solid"/>
          </a:ln>
        </p:spPr>
      </p:sp>
      <p:sp>
        <p:nvSpPr>
          <p:cNvPr id="27" name="Text 25"/>
          <p:cNvSpPr/>
          <p:nvPr/>
        </p:nvSpPr>
        <p:spPr>
          <a:xfrm>
            <a:off x="8321040" y="5367528"/>
            <a:ext cx="2880360" cy="64008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ONE</a:t>
            </a:r>
            <a:endParaRPr lang="en-US" sz="1300" dirty="0"/>
          </a:p>
          <a:p>
            <a:pPr algn="ctr" indent="0" marL="0">
              <a:buNone/>
            </a:pPr>
            <a:r>
              <a:rPr lang="en-US" sz="1300" b="1" dirty="0">
                <a:solidFill>
                  <a:srgbClr val="FFFFFF"/>
                </a:solidFill>
                <a:latin typeface="Aptos" pitchFamily="34" charset="0"/>
                <a:ea typeface="Aptos" pitchFamily="34" charset="-122"/>
                <a:cs typeface="Aptos" pitchFamily="34" charset="-120"/>
              </a:rPr>
              <a:t>STORY SET</a:t>
            </a:r>
            <a:endParaRPr lang="en-US" sz="1300" dirty="0"/>
          </a:p>
        </p:txBody>
      </p:sp>
      <p:sp>
        <p:nvSpPr>
          <p:cNvPr id="28" name="Text 26"/>
          <p:cNvSpPr/>
          <p:nvPr/>
        </p:nvSpPr>
        <p:spPr>
          <a:xfrm>
            <a:off x="8321040" y="6153912"/>
            <a:ext cx="2880360" cy="201168"/>
          </a:xfrm>
          <a:prstGeom prst="rect">
            <a:avLst/>
          </a:prstGeom>
          <a:noFill/>
          <a:ln/>
        </p:spPr>
        <p:txBody>
          <a:bodyPr wrap="square" lIns="0" tIns="0" rIns="0" bIns="0" rtlCol="0" anchor="ctr">
            <a:normAutofit/>
          </a:bodyPr>
          <a:lstStyle/>
          <a:p>
            <a:pPr algn="ctr" indent="0" marL="0">
              <a:buNone/>
            </a:pPr>
            <a:r>
              <a:rPr lang="en-US" sz="850" spc="120" kern="0" dirty="0">
                <a:solidFill>
                  <a:srgbClr val="C2D6C9"/>
                </a:solidFill>
                <a:latin typeface="Aptos" pitchFamily="34" charset="0"/>
                <a:ea typeface="Aptos" pitchFamily="34" charset="-122"/>
                <a:cs typeface="Aptos" pitchFamily="34" charset="-120"/>
              </a:rPr>
              <a:t>METHOD • PRODUCT • LIMITS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01 / PROJECT AT A GLANCE</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A working research slice, measured by capability</a:t>
            </a:r>
            <a:endParaRPr lang="en-US" sz="3000" dirty="0"/>
          </a:p>
        </p:txBody>
      </p:sp>
      <p:sp>
        <p:nvSpPr>
          <p:cNvPr id="4" name="Shape 2"/>
          <p:cNvSpPr/>
          <p:nvPr/>
        </p:nvSpPr>
        <p:spPr>
          <a:xfrm>
            <a:off x="548640" y="1572768"/>
            <a:ext cx="2578608" cy="1353312"/>
          </a:xfrm>
          <a:prstGeom prst="roundRect">
            <a:avLst>
              <a:gd name="adj" fmla="val 8784"/>
            </a:avLst>
          </a:prstGeom>
          <a:solidFill>
            <a:srgbClr val="FFFFFF"/>
          </a:solidFill>
          <a:ln w="10160">
            <a:solidFill>
              <a:srgbClr val="FFFFFF">
                <a:alpha val="0"/>
              </a:srgbClr>
            </a:solidFill>
            <a:prstDash val="solid"/>
          </a:ln>
        </p:spPr>
      </p:sp>
      <p:sp>
        <p:nvSpPr>
          <p:cNvPr id="5" name="Shape 3"/>
          <p:cNvSpPr/>
          <p:nvPr/>
        </p:nvSpPr>
        <p:spPr>
          <a:xfrm>
            <a:off x="548640" y="1719072"/>
            <a:ext cx="50292" cy="1060704"/>
          </a:xfrm>
          <a:prstGeom prst="roundRect">
            <a:avLst>
              <a:gd name="adj" fmla="val 36364"/>
            </a:avLst>
          </a:prstGeom>
          <a:solidFill>
            <a:srgbClr val="173D35"/>
          </a:solidFill>
          <a:ln w="10160">
            <a:solidFill>
              <a:srgbClr val="173D35">
                <a:alpha val="0"/>
              </a:srgbClr>
            </a:solidFill>
            <a:prstDash val="solid"/>
          </a:ln>
        </p:spPr>
      </p:sp>
      <p:sp>
        <p:nvSpPr>
          <p:cNvPr id="6" name="Text 4"/>
          <p:cNvSpPr/>
          <p:nvPr/>
        </p:nvSpPr>
        <p:spPr>
          <a:xfrm>
            <a:off x="758952" y="1719072"/>
            <a:ext cx="2148840" cy="566928"/>
          </a:xfrm>
          <a:prstGeom prst="rect">
            <a:avLst/>
          </a:prstGeom>
          <a:noFill/>
          <a:ln/>
        </p:spPr>
        <p:txBody>
          <a:bodyPr wrap="square" lIns="0" tIns="0" rIns="0" bIns="0" rtlCol="0" anchor="ctr">
            <a:normAutofit/>
          </a:bodyPr>
          <a:lstStyle/>
          <a:p>
            <a:pPr algn="l" indent="0" marL="0">
              <a:buNone/>
            </a:pPr>
            <a:r>
              <a:rPr lang="en-US" sz="3500" b="1" dirty="0">
                <a:solidFill>
                  <a:srgbClr val="173D35"/>
                </a:solidFill>
                <a:latin typeface="Georgia" pitchFamily="34" charset="0"/>
                <a:ea typeface="Georgia" pitchFamily="34" charset="-122"/>
                <a:cs typeface="Georgia" pitchFamily="34" charset="-120"/>
              </a:rPr>
              <a:t>100</a:t>
            </a:r>
            <a:endParaRPr lang="en-US" sz="3500" dirty="0"/>
          </a:p>
        </p:txBody>
      </p:sp>
      <p:sp>
        <p:nvSpPr>
          <p:cNvPr id="7" name="Text 5"/>
          <p:cNvSpPr/>
          <p:nvPr/>
        </p:nvSpPr>
        <p:spPr>
          <a:xfrm>
            <a:off x="777240" y="2359152"/>
            <a:ext cx="2103120" cy="292608"/>
          </a:xfrm>
          <a:prstGeom prst="rect">
            <a:avLst/>
          </a:prstGeom>
          <a:noFill/>
          <a:ln/>
        </p:spPr>
        <p:txBody>
          <a:bodyPr wrap="square" lIns="0" tIns="0" rIns="0" bIns="0" rtlCol="0" anchor="ctr">
            <a:normAutofit/>
          </a:bodyPr>
          <a:lstStyle/>
          <a:p>
            <a:pPr algn="l" indent="0" marL="0">
              <a:buNone/>
            </a:pPr>
            <a:r>
              <a:rPr lang="en-US" sz="1200" b="1" dirty="0">
                <a:solidFill>
                  <a:srgbClr val="64766E"/>
                </a:solidFill>
                <a:latin typeface="Aptos" pitchFamily="34" charset="0"/>
                <a:ea typeface="Aptos" pitchFamily="34" charset="-122"/>
                <a:cs typeface="Aptos" pitchFamily="34" charset="-120"/>
              </a:rPr>
              <a:t>synthetic articles</a:t>
            </a:r>
            <a:endParaRPr lang="en-US" sz="1200" dirty="0"/>
          </a:p>
        </p:txBody>
      </p:sp>
      <p:sp>
        <p:nvSpPr>
          <p:cNvPr id="8" name="Shape 6"/>
          <p:cNvSpPr/>
          <p:nvPr/>
        </p:nvSpPr>
        <p:spPr>
          <a:xfrm>
            <a:off x="3383280" y="1572768"/>
            <a:ext cx="2578608" cy="1353312"/>
          </a:xfrm>
          <a:prstGeom prst="roundRect">
            <a:avLst>
              <a:gd name="adj" fmla="val 8784"/>
            </a:avLst>
          </a:prstGeom>
          <a:solidFill>
            <a:srgbClr val="FFFFFF"/>
          </a:solidFill>
          <a:ln w="10160">
            <a:solidFill>
              <a:srgbClr val="FFFFFF">
                <a:alpha val="0"/>
              </a:srgbClr>
            </a:solidFill>
            <a:prstDash val="solid"/>
          </a:ln>
        </p:spPr>
      </p:sp>
      <p:sp>
        <p:nvSpPr>
          <p:cNvPr id="9" name="Shape 7"/>
          <p:cNvSpPr/>
          <p:nvPr/>
        </p:nvSpPr>
        <p:spPr>
          <a:xfrm>
            <a:off x="3383280" y="1719072"/>
            <a:ext cx="50292" cy="1060704"/>
          </a:xfrm>
          <a:prstGeom prst="roundRect">
            <a:avLst>
              <a:gd name="adj" fmla="val 36364"/>
            </a:avLst>
          </a:prstGeom>
          <a:solidFill>
            <a:srgbClr val="2E8069"/>
          </a:solidFill>
          <a:ln w="10160">
            <a:solidFill>
              <a:srgbClr val="2E8069">
                <a:alpha val="0"/>
              </a:srgbClr>
            </a:solidFill>
            <a:prstDash val="solid"/>
          </a:ln>
        </p:spPr>
      </p:sp>
      <p:sp>
        <p:nvSpPr>
          <p:cNvPr id="10" name="Text 8"/>
          <p:cNvSpPr/>
          <p:nvPr/>
        </p:nvSpPr>
        <p:spPr>
          <a:xfrm>
            <a:off x="3593592" y="1719072"/>
            <a:ext cx="2148840" cy="566928"/>
          </a:xfrm>
          <a:prstGeom prst="rect">
            <a:avLst/>
          </a:prstGeom>
          <a:noFill/>
          <a:ln/>
        </p:spPr>
        <p:txBody>
          <a:bodyPr wrap="square" lIns="0" tIns="0" rIns="0" bIns="0" rtlCol="0" anchor="ctr">
            <a:normAutofit/>
          </a:bodyPr>
          <a:lstStyle/>
          <a:p>
            <a:pPr algn="l" indent="0" marL="0">
              <a:buNone/>
            </a:pPr>
            <a:r>
              <a:rPr lang="en-US" sz="3500" b="1" dirty="0">
                <a:solidFill>
                  <a:srgbClr val="2E8069"/>
                </a:solidFill>
                <a:latin typeface="Georgia" pitchFamily="34" charset="0"/>
                <a:ea typeface="Georgia" pitchFamily="34" charset="-122"/>
                <a:cs typeface="Georgia" pitchFamily="34" charset="-120"/>
              </a:rPr>
              <a:t>5</a:t>
            </a:r>
            <a:endParaRPr lang="en-US" sz="3500" dirty="0"/>
          </a:p>
        </p:txBody>
      </p:sp>
      <p:sp>
        <p:nvSpPr>
          <p:cNvPr id="11" name="Text 9"/>
          <p:cNvSpPr/>
          <p:nvPr/>
        </p:nvSpPr>
        <p:spPr>
          <a:xfrm>
            <a:off x="3611880" y="2359152"/>
            <a:ext cx="2103120" cy="292608"/>
          </a:xfrm>
          <a:prstGeom prst="rect">
            <a:avLst/>
          </a:prstGeom>
          <a:noFill/>
          <a:ln/>
        </p:spPr>
        <p:txBody>
          <a:bodyPr wrap="square" lIns="0" tIns="0" rIns="0" bIns="0" rtlCol="0" anchor="ctr">
            <a:normAutofit/>
          </a:bodyPr>
          <a:lstStyle/>
          <a:p>
            <a:pPr algn="l" indent="0" marL="0">
              <a:buNone/>
            </a:pPr>
            <a:r>
              <a:rPr lang="en-US" sz="1200" b="1" dirty="0">
                <a:solidFill>
                  <a:srgbClr val="64766E"/>
                </a:solidFill>
                <a:latin typeface="Aptos" pitchFamily="34" charset="0"/>
                <a:ea typeface="Aptos" pitchFamily="34" charset="-122"/>
                <a:cs typeface="Aptos" pitchFamily="34" charset="-120"/>
              </a:rPr>
              <a:t>supported languages</a:t>
            </a:r>
            <a:endParaRPr lang="en-US" sz="1200" dirty="0"/>
          </a:p>
        </p:txBody>
      </p:sp>
      <p:sp>
        <p:nvSpPr>
          <p:cNvPr id="12" name="Shape 10"/>
          <p:cNvSpPr/>
          <p:nvPr/>
        </p:nvSpPr>
        <p:spPr>
          <a:xfrm>
            <a:off x="6217920" y="1572768"/>
            <a:ext cx="2578608" cy="1353312"/>
          </a:xfrm>
          <a:prstGeom prst="roundRect">
            <a:avLst>
              <a:gd name="adj" fmla="val 8784"/>
            </a:avLst>
          </a:prstGeom>
          <a:solidFill>
            <a:srgbClr val="FFFFFF"/>
          </a:solidFill>
          <a:ln w="10160">
            <a:solidFill>
              <a:srgbClr val="FFFFFF">
                <a:alpha val="0"/>
              </a:srgbClr>
            </a:solidFill>
            <a:prstDash val="solid"/>
          </a:ln>
        </p:spPr>
      </p:sp>
      <p:sp>
        <p:nvSpPr>
          <p:cNvPr id="13" name="Shape 11"/>
          <p:cNvSpPr/>
          <p:nvPr/>
        </p:nvSpPr>
        <p:spPr>
          <a:xfrm>
            <a:off x="6217920" y="1719072"/>
            <a:ext cx="50292" cy="1060704"/>
          </a:xfrm>
          <a:prstGeom prst="roundRect">
            <a:avLst>
              <a:gd name="adj" fmla="val 36364"/>
            </a:avLst>
          </a:prstGeom>
          <a:solidFill>
            <a:srgbClr val="C8734E"/>
          </a:solidFill>
          <a:ln w="10160">
            <a:solidFill>
              <a:srgbClr val="C8734E">
                <a:alpha val="0"/>
              </a:srgbClr>
            </a:solidFill>
            <a:prstDash val="solid"/>
          </a:ln>
        </p:spPr>
      </p:sp>
      <p:sp>
        <p:nvSpPr>
          <p:cNvPr id="14" name="Text 12"/>
          <p:cNvSpPr/>
          <p:nvPr/>
        </p:nvSpPr>
        <p:spPr>
          <a:xfrm>
            <a:off x="6428232" y="1719072"/>
            <a:ext cx="2148840" cy="566928"/>
          </a:xfrm>
          <a:prstGeom prst="rect">
            <a:avLst/>
          </a:prstGeom>
          <a:noFill/>
          <a:ln/>
        </p:spPr>
        <p:txBody>
          <a:bodyPr wrap="square" lIns="0" tIns="0" rIns="0" bIns="0" rtlCol="0" anchor="ctr">
            <a:normAutofit/>
          </a:bodyPr>
          <a:lstStyle/>
          <a:p>
            <a:pPr algn="l" indent="0" marL="0">
              <a:buNone/>
            </a:pPr>
            <a:r>
              <a:rPr lang="en-US" sz="3500" b="1" dirty="0">
                <a:solidFill>
                  <a:srgbClr val="C8734E"/>
                </a:solidFill>
                <a:latin typeface="Georgia" pitchFamily="34" charset="0"/>
                <a:ea typeface="Georgia" pitchFamily="34" charset="-122"/>
                <a:cs typeface="Georgia" pitchFamily="34" charset="-120"/>
              </a:rPr>
              <a:t>10</a:t>
            </a:r>
            <a:endParaRPr lang="en-US" sz="3500" dirty="0"/>
          </a:p>
        </p:txBody>
      </p:sp>
      <p:sp>
        <p:nvSpPr>
          <p:cNvPr id="15" name="Text 13"/>
          <p:cNvSpPr/>
          <p:nvPr/>
        </p:nvSpPr>
        <p:spPr>
          <a:xfrm>
            <a:off x="6446520" y="2359152"/>
            <a:ext cx="2103120" cy="292608"/>
          </a:xfrm>
          <a:prstGeom prst="rect">
            <a:avLst/>
          </a:prstGeom>
          <a:noFill/>
          <a:ln/>
        </p:spPr>
        <p:txBody>
          <a:bodyPr wrap="square" lIns="0" tIns="0" rIns="0" bIns="0" rtlCol="0" anchor="ctr">
            <a:normAutofit/>
          </a:bodyPr>
          <a:lstStyle/>
          <a:p>
            <a:pPr algn="l" indent="0" marL="0">
              <a:buNone/>
            </a:pPr>
            <a:r>
              <a:rPr lang="en-US" sz="1200" b="1" dirty="0">
                <a:solidFill>
                  <a:srgbClr val="64766E"/>
                </a:solidFill>
                <a:latin typeface="Aptos" pitchFamily="34" charset="0"/>
                <a:ea typeface="Aptos" pitchFamily="34" charset="-122"/>
                <a:cs typeface="Aptos" pitchFamily="34" charset="-120"/>
              </a:rPr>
              <a:t>demo story groups</a:t>
            </a:r>
            <a:endParaRPr lang="en-US" sz="1200" dirty="0"/>
          </a:p>
        </p:txBody>
      </p:sp>
      <p:sp>
        <p:nvSpPr>
          <p:cNvPr id="16" name="Shape 14"/>
          <p:cNvSpPr/>
          <p:nvPr/>
        </p:nvSpPr>
        <p:spPr>
          <a:xfrm>
            <a:off x="9052560" y="1572768"/>
            <a:ext cx="2578608" cy="1353312"/>
          </a:xfrm>
          <a:prstGeom prst="roundRect">
            <a:avLst>
              <a:gd name="adj" fmla="val 8784"/>
            </a:avLst>
          </a:prstGeom>
          <a:solidFill>
            <a:srgbClr val="FFFFFF"/>
          </a:solidFill>
          <a:ln w="10160">
            <a:solidFill>
              <a:srgbClr val="FFFFFF">
                <a:alpha val="0"/>
              </a:srgbClr>
            </a:solidFill>
            <a:prstDash val="solid"/>
          </a:ln>
        </p:spPr>
      </p:sp>
      <p:sp>
        <p:nvSpPr>
          <p:cNvPr id="17" name="Shape 15"/>
          <p:cNvSpPr/>
          <p:nvPr/>
        </p:nvSpPr>
        <p:spPr>
          <a:xfrm>
            <a:off x="9052560" y="1719072"/>
            <a:ext cx="50292" cy="1060704"/>
          </a:xfrm>
          <a:prstGeom prst="roundRect">
            <a:avLst>
              <a:gd name="adj" fmla="val 36364"/>
            </a:avLst>
          </a:prstGeom>
          <a:solidFill>
            <a:srgbClr val="8A7EAA"/>
          </a:solidFill>
          <a:ln w="10160">
            <a:solidFill>
              <a:srgbClr val="8A7EAA">
                <a:alpha val="0"/>
              </a:srgbClr>
            </a:solidFill>
            <a:prstDash val="solid"/>
          </a:ln>
        </p:spPr>
      </p:sp>
      <p:sp>
        <p:nvSpPr>
          <p:cNvPr id="18" name="Text 16"/>
          <p:cNvSpPr/>
          <p:nvPr/>
        </p:nvSpPr>
        <p:spPr>
          <a:xfrm>
            <a:off x="9262872" y="1719072"/>
            <a:ext cx="2148840" cy="566928"/>
          </a:xfrm>
          <a:prstGeom prst="rect">
            <a:avLst/>
          </a:prstGeom>
          <a:noFill/>
          <a:ln/>
        </p:spPr>
        <p:txBody>
          <a:bodyPr wrap="square" lIns="0" tIns="0" rIns="0" bIns="0" rtlCol="0" anchor="ctr">
            <a:normAutofit/>
          </a:bodyPr>
          <a:lstStyle/>
          <a:p>
            <a:pPr algn="l" indent="0" marL="0">
              <a:buNone/>
            </a:pPr>
            <a:r>
              <a:rPr lang="en-US" sz="3500" b="1" dirty="0">
                <a:solidFill>
                  <a:srgbClr val="8A7EAA"/>
                </a:solidFill>
                <a:latin typeface="Georgia" pitchFamily="34" charset="0"/>
                <a:ea typeface="Georgia" pitchFamily="34" charset="-122"/>
                <a:cs typeface="Georgia" pitchFamily="34" charset="-120"/>
              </a:rPr>
              <a:t>6 / 10</a:t>
            </a:r>
            <a:endParaRPr lang="en-US" sz="3500" dirty="0"/>
          </a:p>
        </p:txBody>
      </p:sp>
      <p:sp>
        <p:nvSpPr>
          <p:cNvPr id="19" name="Text 17"/>
          <p:cNvSpPr/>
          <p:nvPr/>
        </p:nvSpPr>
        <p:spPr>
          <a:xfrm>
            <a:off x="9281160" y="2359152"/>
            <a:ext cx="2103120" cy="292608"/>
          </a:xfrm>
          <a:prstGeom prst="rect">
            <a:avLst/>
          </a:prstGeom>
          <a:noFill/>
          <a:ln/>
        </p:spPr>
        <p:txBody>
          <a:bodyPr wrap="square" lIns="0" tIns="0" rIns="0" bIns="0" rtlCol="0" anchor="ctr">
            <a:normAutofit/>
          </a:bodyPr>
          <a:lstStyle/>
          <a:p>
            <a:pPr algn="l" indent="0" marL="0">
              <a:buNone/>
            </a:pPr>
            <a:r>
              <a:rPr lang="en-US" sz="1200" b="1" dirty="0">
                <a:solidFill>
                  <a:srgbClr val="64766E"/>
                </a:solidFill>
                <a:latin typeface="Aptos" pitchFamily="34" charset="0"/>
                <a:ea typeface="Aptos" pitchFamily="34" charset="-122"/>
                <a:cs typeface="Aptos" pitchFamily="34" charset="-120"/>
              </a:rPr>
              <a:t>capability groups in scope</a:t>
            </a:r>
            <a:endParaRPr lang="en-US" sz="1200" dirty="0"/>
          </a:p>
        </p:txBody>
      </p:sp>
      <p:sp>
        <p:nvSpPr>
          <p:cNvPr id="20" name="Text 18"/>
          <p:cNvSpPr/>
          <p:nvPr/>
        </p:nvSpPr>
        <p:spPr>
          <a:xfrm>
            <a:off x="566928" y="3355848"/>
            <a:ext cx="4389120" cy="228600"/>
          </a:xfrm>
          <a:prstGeom prst="rect">
            <a:avLst/>
          </a:prstGeom>
          <a:noFill/>
          <a:ln/>
        </p:spPr>
        <p:txBody>
          <a:bodyPr wrap="square" lIns="0" tIns="0" rIns="0" bIns="0" rtlCol="0" anchor="ctr">
            <a:normAutofit/>
          </a:bodyPr>
          <a:lstStyle/>
          <a:p>
            <a:pPr algn="l" indent="0" marL="0">
              <a:buNone/>
            </a:pPr>
            <a:r>
              <a:rPr lang="en-US" sz="1000" b="1" spc="110" kern="0" dirty="0">
                <a:solidFill>
                  <a:srgbClr val="2E8069"/>
                </a:solidFill>
                <a:latin typeface="Aptos" pitchFamily="34" charset="0"/>
                <a:ea typeface="Aptos" pitchFamily="34" charset="-122"/>
                <a:cs typeface="Aptos" pitchFamily="34" charset="-120"/>
              </a:rPr>
              <a:t>20 DEMO ARTICLES PER LANGUAGE</a:t>
            </a:r>
            <a:endParaRPr lang="en-US" sz="1000" dirty="0"/>
          </a:p>
        </p:txBody>
      </p:sp>
      <p:sp>
        <p:nvSpPr>
          <p:cNvPr id="21" name="Text 19"/>
          <p:cNvSpPr/>
          <p:nvPr/>
        </p:nvSpPr>
        <p:spPr>
          <a:xfrm>
            <a:off x="594360" y="3703320"/>
            <a:ext cx="1234440" cy="201168"/>
          </a:xfrm>
          <a:prstGeom prst="rect">
            <a:avLst/>
          </a:prstGeom>
          <a:noFill/>
          <a:ln/>
        </p:spPr>
        <p:txBody>
          <a:bodyPr wrap="square" lIns="0" tIns="0" rIns="0" bIns="0" rtlCol="0" anchor="ctr">
            <a:normAutofit/>
          </a:bodyPr>
          <a:lstStyle/>
          <a:p>
            <a:pPr algn="l" indent="0" marL="0">
              <a:buNone/>
            </a:pPr>
            <a:r>
              <a:rPr lang="en-US" sz="1200" b="1" dirty="0">
                <a:solidFill>
                  <a:srgbClr val="182D2A"/>
                </a:solidFill>
                <a:latin typeface="Aptos" pitchFamily="34" charset="0"/>
                <a:ea typeface="Aptos" pitchFamily="34" charset="-122"/>
                <a:cs typeface="Aptos" pitchFamily="34" charset="-120"/>
              </a:rPr>
              <a:t>English</a:t>
            </a:r>
            <a:endParaRPr lang="en-US" sz="1200" dirty="0"/>
          </a:p>
        </p:txBody>
      </p:sp>
      <p:sp>
        <p:nvSpPr>
          <p:cNvPr id="22" name="Shape 20"/>
          <p:cNvSpPr/>
          <p:nvPr/>
        </p:nvSpPr>
        <p:spPr>
          <a:xfrm>
            <a:off x="2057400" y="3721608"/>
            <a:ext cx="4160520" cy="155448"/>
          </a:xfrm>
          <a:prstGeom prst="roundRect">
            <a:avLst>
              <a:gd name="adj" fmla="val 47059"/>
            </a:avLst>
          </a:prstGeom>
          <a:solidFill>
            <a:srgbClr val="E8E9E1"/>
          </a:solidFill>
          <a:ln w="10160">
            <a:solidFill>
              <a:srgbClr val="E8E9E1">
                <a:alpha val="0"/>
              </a:srgbClr>
            </a:solidFill>
            <a:prstDash val="solid"/>
          </a:ln>
        </p:spPr>
      </p:sp>
      <p:sp>
        <p:nvSpPr>
          <p:cNvPr id="23" name="Shape 21"/>
          <p:cNvSpPr/>
          <p:nvPr/>
        </p:nvSpPr>
        <p:spPr>
          <a:xfrm>
            <a:off x="2057400" y="3721608"/>
            <a:ext cx="4160520" cy="155448"/>
          </a:xfrm>
          <a:prstGeom prst="roundRect">
            <a:avLst>
              <a:gd name="adj" fmla="val 47059"/>
            </a:avLst>
          </a:prstGeom>
          <a:solidFill>
            <a:srgbClr val="173D35"/>
          </a:solidFill>
          <a:ln w="10160">
            <a:solidFill>
              <a:srgbClr val="173D35">
                <a:alpha val="0"/>
              </a:srgbClr>
            </a:solidFill>
            <a:prstDash val="solid"/>
          </a:ln>
        </p:spPr>
      </p:sp>
      <p:sp>
        <p:nvSpPr>
          <p:cNvPr id="24" name="Text 22"/>
          <p:cNvSpPr/>
          <p:nvPr/>
        </p:nvSpPr>
        <p:spPr>
          <a:xfrm>
            <a:off x="6400800" y="3685032"/>
            <a:ext cx="502920" cy="219456"/>
          </a:xfrm>
          <a:prstGeom prst="rect">
            <a:avLst/>
          </a:prstGeom>
          <a:noFill/>
          <a:ln/>
        </p:spPr>
        <p:txBody>
          <a:bodyPr wrap="square" lIns="0" tIns="0" rIns="0" bIns="0" rtlCol="0" anchor="ctr">
            <a:normAutofit/>
          </a:bodyPr>
          <a:lstStyle/>
          <a:p>
            <a:pPr algn="l" indent="0" marL="0">
              <a:buNone/>
            </a:pPr>
            <a:r>
              <a:rPr lang="en-US" sz="1100" b="1" dirty="0">
                <a:solidFill>
                  <a:srgbClr val="64766E"/>
                </a:solidFill>
                <a:latin typeface="Aptos" pitchFamily="34" charset="0"/>
                <a:ea typeface="Aptos" pitchFamily="34" charset="-122"/>
                <a:cs typeface="Aptos" pitchFamily="34" charset="-120"/>
              </a:rPr>
              <a:t>20</a:t>
            </a:r>
            <a:endParaRPr lang="en-US" sz="1100" dirty="0"/>
          </a:p>
        </p:txBody>
      </p:sp>
      <p:sp>
        <p:nvSpPr>
          <p:cNvPr id="25" name="Text 23"/>
          <p:cNvSpPr/>
          <p:nvPr/>
        </p:nvSpPr>
        <p:spPr>
          <a:xfrm>
            <a:off x="594360" y="4133088"/>
            <a:ext cx="1234440" cy="201168"/>
          </a:xfrm>
          <a:prstGeom prst="rect">
            <a:avLst/>
          </a:prstGeom>
          <a:noFill/>
          <a:ln/>
        </p:spPr>
        <p:txBody>
          <a:bodyPr wrap="square" lIns="0" tIns="0" rIns="0" bIns="0" rtlCol="0" anchor="ctr">
            <a:normAutofit/>
          </a:bodyPr>
          <a:lstStyle/>
          <a:p>
            <a:pPr algn="l" indent="0" marL="0">
              <a:buNone/>
            </a:pPr>
            <a:r>
              <a:rPr lang="en-US" sz="1200" b="1" dirty="0">
                <a:solidFill>
                  <a:srgbClr val="182D2A"/>
                </a:solidFill>
                <a:latin typeface="Aptos" pitchFamily="34" charset="0"/>
                <a:ea typeface="Aptos" pitchFamily="34" charset="-122"/>
                <a:cs typeface="Aptos" pitchFamily="34" charset="-120"/>
              </a:rPr>
              <a:t>Hindi</a:t>
            </a:r>
            <a:endParaRPr lang="en-US" sz="1200" dirty="0"/>
          </a:p>
        </p:txBody>
      </p:sp>
      <p:sp>
        <p:nvSpPr>
          <p:cNvPr id="26" name="Shape 24"/>
          <p:cNvSpPr/>
          <p:nvPr/>
        </p:nvSpPr>
        <p:spPr>
          <a:xfrm>
            <a:off x="2057400" y="4151376"/>
            <a:ext cx="4160520" cy="155448"/>
          </a:xfrm>
          <a:prstGeom prst="roundRect">
            <a:avLst>
              <a:gd name="adj" fmla="val 47059"/>
            </a:avLst>
          </a:prstGeom>
          <a:solidFill>
            <a:srgbClr val="E8E9E1"/>
          </a:solidFill>
          <a:ln w="10160">
            <a:solidFill>
              <a:srgbClr val="E8E9E1">
                <a:alpha val="0"/>
              </a:srgbClr>
            </a:solidFill>
            <a:prstDash val="solid"/>
          </a:ln>
        </p:spPr>
      </p:sp>
      <p:sp>
        <p:nvSpPr>
          <p:cNvPr id="27" name="Shape 25"/>
          <p:cNvSpPr/>
          <p:nvPr/>
        </p:nvSpPr>
        <p:spPr>
          <a:xfrm>
            <a:off x="2057400" y="4151376"/>
            <a:ext cx="4160520" cy="155448"/>
          </a:xfrm>
          <a:prstGeom prst="roundRect">
            <a:avLst>
              <a:gd name="adj" fmla="val 47059"/>
            </a:avLst>
          </a:prstGeom>
          <a:solidFill>
            <a:srgbClr val="2E8069"/>
          </a:solidFill>
          <a:ln w="10160">
            <a:solidFill>
              <a:srgbClr val="2E8069">
                <a:alpha val="0"/>
              </a:srgbClr>
            </a:solidFill>
            <a:prstDash val="solid"/>
          </a:ln>
        </p:spPr>
      </p:sp>
      <p:sp>
        <p:nvSpPr>
          <p:cNvPr id="28" name="Text 26"/>
          <p:cNvSpPr/>
          <p:nvPr/>
        </p:nvSpPr>
        <p:spPr>
          <a:xfrm>
            <a:off x="6400800" y="4114800"/>
            <a:ext cx="502920" cy="219456"/>
          </a:xfrm>
          <a:prstGeom prst="rect">
            <a:avLst/>
          </a:prstGeom>
          <a:noFill/>
          <a:ln/>
        </p:spPr>
        <p:txBody>
          <a:bodyPr wrap="square" lIns="0" tIns="0" rIns="0" bIns="0" rtlCol="0" anchor="ctr">
            <a:normAutofit/>
          </a:bodyPr>
          <a:lstStyle/>
          <a:p>
            <a:pPr algn="l" indent="0" marL="0">
              <a:buNone/>
            </a:pPr>
            <a:r>
              <a:rPr lang="en-US" sz="1100" b="1" dirty="0">
                <a:solidFill>
                  <a:srgbClr val="64766E"/>
                </a:solidFill>
                <a:latin typeface="Aptos" pitchFamily="34" charset="0"/>
                <a:ea typeface="Aptos" pitchFamily="34" charset="-122"/>
                <a:cs typeface="Aptos" pitchFamily="34" charset="-120"/>
              </a:rPr>
              <a:t>20</a:t>
            </a:r>
            <a:endParaRPr lang="en-US" sz="1100" dirty="0"/>
          </a:p>
        </p:txBody>
      </p:sp>
      <p:sp>
        <p:nvSpPr>
          <p:cNvPr id="29" name="Text 27"/>
          <p:cNvSpPr/>
          <p:nvPr/>
        </p:nvSpPr>
        <p:spPr>
          <a:xfrm>
            <a:off x="594360" y="4562856"/>
            <a:ext cx="1234440" cy="201168"/>
          </a:xfrm>
          <a:prstGeom prst="rect">
            <a:avLst/>
          </a:prstGeom>
          <a:noFill/>
          <a:ln/>
        </p:spPr>
        <p:txBody>
          <a:bodyPr wrap="square" lIns="0" tIns="0" rIns="0" bIns="0" rtlCol="0" anchor="ctr">
            <a:normAutofit/>
          </a:bodyPr>
          <a:lstStyle/>
          <a:p>
            <a:pPr algn="l" indent="0" marL="0">
              <a:buNone/>
            </a:pPr>
            <a:r>
              <a:rPr lang="en-US" sz="1200" b="1" dirty="0">
                <a:solidFill>
                  <a:srgbClr val="182D2A"/>
                </a:solidFill>
                <a:latin typeface="Aptos" pitchFamily="34" charset="0"/>
                <a:ea typeface="Aptos" pitchFamily="34" charset="-122"/>
                <a:cs typeface="Aptos" pitchFamily="34" charset="-120"/>
              </a:rPr>
              <a:t>Kannada</a:t>
            </a:r>
            <a:endParaRPr lang="en-US" sz="1200" dirty="0"/>
          </a:p>
        </p:txBody>
      </p:sp>
      <p:sp>
        <p:nvSpPr>
          <p:cNvPr id="30" name="Shape 28"/>
          <p:cNvSpPr/>
          <p:nvPr/>
        </p:nvSpPr>
        <p:spPr>
          <a:xfrm>
            <a:off x="2057400" y="4581144"/>
            <a:ext cx="4160520" cy="155448"/>
          </a:xfrm>
          <a:prstGeom prst="roundRect">
            <a:avLst>
              <a:gd name="adj" fmla="val 47059"/>
            </a:avLst>
          </a:prstGeom>
          <a:solidFill>
            <a:srgbClr val="E8E9E1"/>
          </a:solidFill>
          <a:ln w="10160">
            <a:solidFill>
              <a:srgbClr val="E8E9E1">
                <a:alpha val="0"/>
              </a:srgbClr>
            </a:solidFill>
            <a:prstDash val="solid"/>
          </a:ln>
        </p:spPr>
      </p:sp>
      <p:sp>
        <p:nvSpPr>
          <p:cNvPr id="31" name="Shape 29"/>
          <p:cNvSpPr/>
          <p:nvPr/>
        </p:nvSpPr>
        <p:spPr>
          <a:xfrm>
            <a:off x="2057400" y="4581144"/>
            <a:ext cx="4160520" cy="155448"/>
          </a:xfrm>
          <a:prstGeom prst="roundRect">
            <a:avLst>
              <a:gd name="adj" fmla="val 47059"/>
            </a:avLst>
          </a:prstGeom>
          <a:solidFill>
            <a:srgbClr val="173D35"/>
          </a:solidFill>
          <a:ln w="10160">
            <a:solidFill>
              <a:srgbClr val="173D35">
                <a:alpha val="0"/>
              </a:srgbClr>
            </a:solidFill>
            <a:prstDash val="solid"/>
          </a:ln>
        </p:spPr>
      </p:sp>
      <p:sp>
        <p:nvSpPr>
          <p:cNvPr id="32" name="Text 30"/>
          <p:cNvSpPr/>
          <p:nvPr/>
        </p:nvSpPr>
        <p:spPr>
          <a:xfrm>
            <a:off x="6400800" y="4544568"/>
            <a:ext cx="502920" cy="219456"/>
          </a:xfrm>
          <a:prstGeom prst="rect">
            <a:avLst/>
          </a:prstGeom>
          <a:noFill/>
          <a:ln/>
        </p:spPr>
        <p:txBody>
          <a:bodyPr wrap="square" lIns="0" tIns="0" rIns="0" bIns="0" rtlCol="0" anchor="ctr">
            <a:normAutofit/>
          </a:bodyPr>
          <a:lstStyle/>
          <a:p>
            <a:pPr algn="l" indent="0" marL="0">
              <a:buNone/>
            </a:pPr>
            <a:r>
              <a:rPr lang="en-US" sz="1100" b="1" dirty="0">
                <a:solidFill>
                  <a:srgbClr val="64766E"/>
                </a:solidFill>
                <a:latin typeface="Aptos" pitchFamily="34" charset="0"/>
                <a:ea typeface="Aptos" pitchFamily="34" charset="-122"/>
                <a:cs typeface="Aptos" pitchFamily="34" charset="-120"/>
              </a:rPr>
              <a:t>20</a:t>
            </a:r>
            <a:endParaRPr lang="en-US" sz="1100" dirty="0"/>
          </a:p>
        </p:txBody>
      </p:sp>
      <p:sp>
        <p:nvSpPr>
          <p:cNvPr id="33" name="Text 31"/>
          <p:cNvSpPr/>
          <p:nvPr/>
        </p:nvSpPr>
        <p:spPr>
          <a:xfrm>
            <a:off x="594360" y="4992624"/>
            <a:ext cx="1234440" cy="201168"/>
          </a:xfrm>
          <a:prstGeom prst="rect">
            <a:avLst/>
          </a:prstGeom>
          <a:noFill/>
          <a:ln/>
        </p:spPr>
        <p:txBody>
          <a:bodyPr wrap="square" lIns="0" tIns="0" rIns="0" bIns="0" rtlCol="0" anchor="ctr">
            <a:normAutofit/>
          </a:bodyPr>
          <a:lstStyle/>
          <a:p>
            <a:pPr algn="l" indent="0" marL="0">
              <a:buNone/>
            </a:pPr>
            <a:r>
              <a:rPr lang="en-US" sz="1200" b="1" dirty="0">
                <a:solidFill>
                  <a:srgbClr val="182D2A"/>
                </a:solidFill>
                <a:latin typeface="Aptos" pitchFamily="34" charset="0"/>
                <a:ea typeface="Aptos" pitchFamily="34" charset="-122"/>
                <a:cs typeface="Aptos" pitchFamily="34" charset="-120"/>
              </a:rPr>
              <a:t>Tamil</a:t>
            </a:r>
            <a:endParaRPr lang="en-US" sz="1200" dirty="0"/>
          </a:p>
        </p:txBody>
      </p:sp>
      <p:sp>
        <p:nvSpPr>
          <p:cNvPr id="34" name="Shape 32"/>
          <p:cNvSpPr/>
          <p:nvPr/>
        </p:nvSpPr>
        <p:spPr>
          <a:xfrm>
            <a:off x="2057400" y="5010912"/>
            <a:ext cx="4160520" cy="155448"/>
          </a:xfrm>
          <a:prstGeom prst="roundRect">
            <a:avLst>
              <a:gd name="adj" fmla="val 47059"/>
            </a:avLst>
          </a:prstGeom>
          <a:solidFill>
            <a:srgbClr val="E8E9E1"/>
          </a:solidFill>
          <a:ln w="10160">
            <a:solidFill>
              <a:srgbClr val="E8E9E1">
                <a:alpha val="0"/>
              </a:srgbClr>
            </a:solidFill>
            <a:prstDash val="solid"/>
          </a:ln>
        </p:spPr>
      </p:sp>
      <p:sp>
        <p:nvSpPr>
          <p:cNvPr id="35" name="Shape 33"/>
          <p:cNvSpPr/>
          <p:nvPr/>
        </p:nvSpPr>
        <p:spPr>
          <a:xfrm>
            <a:off x="2057400" y="5010912"/>
            <a:ext cx="4160520" cy="155448"/>
          </a:xfrm>
          <a:prstGeom prst="roundRect">
            <a:avLst>
              <a:gd name="adj" fmla="val 47059"/>
            </a:avLst>
          </a:prstGeom>
          <a:solidFill>
            <a:srgbClr val="2E8069"/>
          </a:solidFill>
          <a:ln w="10160">
            <a:solidFill>
              <a:srgbClr val="2E8069">
                <a:alpha val="0"/>
              </a:srgbClr>
            </a:solidFill>
            <a:prstDash val="solid"/>
          </a:ln>
        </p:spPr>
      </p:sp>
      <p:sp>
        <p:nvSpPr>
          <p:cNvPr id="36" name="Text 34"/>
          <p:cNvSpPr/>
          <p:nvPr/>
        </p:nvSpPr>
        <p:spPr>
          <a:xfrm>
            <a:off x="6400800" y="4974336"/>
            <a:ext cx="502920" cy="219456"/>
          </a:xfrm>
          <a:prstGeom prst="rect">
            <a:avLst/>
          </a:prstGeom>
          <a:noFill/>
          <a:ln/>
        </p:spPr>
        <p:txBody>
          <a:bodyPr wrap="square" lIns="0" tIns="0" rIns="0" bIns="0" rtlCol="0" anchor="ctr">
            <a:normAutofit/>
          </a:bodyPr>
          <a:lstStyle/>
          <a:p>
            <a:pPr algn="l" indent="0" marL="0">
              <a:buNone/>
            </a:pPr>
            <a:r>
              <a:rPr lang="en-US" sz="1100" b="1" dirty="0">
                <a:solidFill>
                  <a:srgbClr val="64766E"/>
                </a:solidFill>
                <a:latin typeface="Aptos" pitchFamily="34" charset="0"/>
                <a:ea typeface="Aptos" pitchFamily="34" charset="-122"/>
                <a:cs typeface="Aptos" pitchFamily="34" charset="-120"/>
              </a:rPr>
              <a:t>20</a:t>
            </a:r>
            <a:endParaRPr lang="en-US" sz="1100" dirty="0"/>
          </a:p>
        </p:txBody>
      </p:sp>
      <p:sp>
        <p:nvSpPr>
          <p:cNvPr id="37" name="Text 35"/>
          <p:cNvSpPr/>
          <p:nvPr/>
        </p:nvSpPr>
        <p:spPr>
          <a:xfrm>
            <a:off x="594360" y="5422392"/>
            <a:ext cx="1234440" cy="201168"/>
          </a:xfrm>
          <a:prstGeom prst="rect">
            <a:avLst/>
          </a:prstGeom>
          <a:noFill/>
          <a:ln/>
        </p:spPr>
        <p:txBody>
          <a:bodyPr wrap="square" lIns="0" tIns="0" rIns="0" bIns="0" rtlCol="0" anchor="ctr">
            <a:normAutofit/>
          </a:bodyPr>
          <a:lstStyle/>
          <a:p>
            <a:pPr algn="l" indent="0" marL="0">
              <a:buNone/>
            </a:pPr>
            <a:r>
              <a:rPr lang="en-US" sz="1200" b="1" dirty="0">
                <a:solidFill>
                  <a:srgbClr val="182D2A"/>
                </a:solidFill>
                <a:latin typeface="Aptos" pitchFamily="34" charset="0"/>
                <a:ea typeface="Aptos" pitchFamily="34" charset="-122"/>
                <a:cs typeface="Aptos" pitchFamily="34" charset="-120"/>
              </a:rPr>
              <a:t>Telugu</a:t>
            </a:r>
            <a:endParaRPr lang="en-US" sz="1200" dirty="0"/>
          </a:p>
        </p:txBody>
      </p:sp>
      <p:sp>
        <p:nvSpPr>
          <p:cNvPr id="38" name="Shape 36"/>
          <p:cNvSpPr/>
          <p:nvPr/>
        </p:nvSpPr>
        <p:spPr>
          <a:xfrm>
            <a:off x="2057400" y="5440680"/>
            <a:ext cx="4160520" cy="155448"/>
          </a:xfrm>
          <a:prstGeom prst="roundRect">
            <a:avLst>
              <a:gd name="adj" fmla="val 47059"/>
            </a:avLst>
          </a:prstGeom>
          <a:solidFill>
            <a:srgbClr val="E8E9E1"/>
          </a:solidFill>
          <a:ln w="10160">
            <a:solidFill>
              <a:srgbClr val="E8E9E1">
                <a:alpha val="0"/>
              </a:srgbClr>
            </a:solidFill>
            <a:prstDash val="solid"/>
          </a:ln>
        </p:spPr>
      </p:sp>
      <p:sp>
        <p:nvSpPr>
          <p:cNvPr id="39" name="Shape 37"/>
          <p:cNvSpPr/>
          <p:nvPr/>
        </p:nvSpPr>
        <p:spPr>
          <a:xfrm>
            <a:off x="2057400" y="5440680"/>
            <a:ext cx="4160520" cy="155448"/>
          </a:xfrm>
          <a:prstGeom prst="roundRect">
            <a:avLst>
              <a:gd name="adj" fmla="val 47059"/>
            </a:avLst>
          </a:prstGeom>
          <a:solidFill>
            <a:srgbClr val="173D35"/>
          </a:solidFill>
          <a:ln w="10160">
            <a:solidFill>
              <a:srgbClr val="173D35">
                <a:alpha val="0"/>
              </a:srgbClr>
            </a:solidFill>
            <a:prstDash val="solid"/>
          </a:ln>
        </p:spPr>
      </p:sp>
      <p:sp>
        <p:nvSpPr>
          <p:cNvPr id="40" name="Text 38"/>
          <p:cNvSpPr/>
          <p:nvPr/>
        </p:nvSpPr>
        <p:spPr>
          <a:xfrm>
            <a:off x="6400800" y="5404104"/>
            <a:ext cx="502920" cy="219456"/>
          </a:xfrm>
          <a:prstGeom prst="rect">
            <a:avLst/>
          </a:prstGeom>
          <a:noFill/>
          <a:ln/>
        </p:spPr>
        <p:txBody>
          <a:bodyPr wrap="square" lIns="0" tIns="0" rIns="0" bIns="0" rtlCol="0" anchor="ctr">
            <a:normAutofit/>
          </a:bodyPr>
          <a:lstStyle/>
          <a:p>
            <a:pPr algn="l" indent="0" marL="0">
              <a:buNone/>
            </a:pPr>
            <a:r>
              <a:rPr lang="en-US" sz="1100" b="1" dirty="0">
                <a:solidFill>
                  <a:srgbClr val="64766E"/>
                </a:solidFill>
                <a:latin typeface="Aptos" pitchFamily="34" charset="0"/>
                <a:ea typeface="Aptos" pitchFamily="34" charset="-122"/>
                <a:cs typeface="Aptos" pitchFamily="34" charset="-120"/>
              </a:rPr>
              <a:t>20</a:t>
            </a:r>
            <a:endParaRPr lang="en-US" sz="1100" dirty="0"/>
          </a:p>
        </p:txBody>
      </p:sp>
      <p:sp>
        <p:nvSpPr>
          <p:cNvPr id="41" name="Shape 39"/>
          <p:cNvSpPr/>
          <p:nvPr/>
        </p:nvSpPr>
        <p:spPr>
          <a:xfrm>
            <a:off x="7498080" y="3255264"/>
            <a:ext cx="4059936" cy="2331720"/>
          </a:xfrm>
          <a:prstGeom prst="roundRect">
            <a:avLst>
              <a:gd name="adj" fmla="val 5098"/>
            </a:avLst>
          </a:prstGeom>
          <a:solidFill>
            <a:srgbClr val="F7EBD7"/>
          </a:solidFill>
          <a:ln w="10160">
            <a:solidFill>
              <a:srgbClr val="F7EBD7">
                <a:alpha val="0"/>
              </a:srgbClr>
            </a:solidFill>
            <a:prstDash val="solid"/>
          </a:ln>
        </p:spPr>
      </p:sp>
      <p:sp>
        <p:nvSpPr>
          <p:cNvPr id="42" name="Shape 40"/>
          <p:cNvSpPr/>
          <p:nvPr/>
        </p:nvSpPr>
        <p:spPr>
          <a:xfrm>
            <a:off x="7498080" y="3401568"/>
            <a:ext cx="50292" cy="2039112"/>
          </a:xfrm>
          <a:prstGeom prst="roundRect">
            <a:avLst>
              <a:gd name="adj" fmla="val 36364"/>
            </a:avLst>
          </a:prstGeom>
          <a:solidFill>
            <a:srgbClr val="E7A54A"/>
          </a:solidFill>
          <a:ln w="10160">
            <a:solidFill>
              <a:srgbClr val="E7A54A">
                <a:alpha val="0"/>
              </a:srgbClr>
            </a:solidFill>
            <a:prstDash val="solid"/>
          </a:ln>
        </p:spPr>
      </p:sp>
      <p:sp>
        <p:nvSpPr>
          <p:cNvPr id="43" name="Text 41"/>
          <p:cNvSpPr/>
          <p:nvPr/>
        </p:nvSpPr>
        <p:spPr>
          <a:xfrm>
            <a:off x="7790688" y="3538728"/>
            <a:ext cx="3337560" cy="310896"/>
          </a:xfrm>
          <a:prstGeom prst="rect">
            <a:avLst/>
          </a:prstGeom>
          <a:noFill/>
          <a:ln/>
        </p:spPr>
        <p:txBody>
          <a:bodyPr wrap="square" lIns="0" tIns="0" rIns="0" bIns="0" rtlCol="0" anchor="ctr">
            <a:normAutofit/>
          </a:bodyPr>
          <a:lstStyle/>
          <a:p>
            <a:pPr algn="l" indent="0" marL="0">
              <a:buNone/>
            </a:pPr>
            <a:r>
              <a:rPr lang="en-US" sz="2000" b="1" dirty="0">
                <a:solidFill>
                  <a:srgbClr val="182D2A"/>
                </a:solidFill>
                <a:latin typeface="Georgia" pitchFamily="34" charset="0"/>
                <a:ea typeface="Georgia" pitchFamily="34" charset="-122"/>
                <a:cs typeface="Georgia" pitchFamily="34" charset="-120"/>
              </a:rPr>
              <a:t>Read this correctly</a:t>
            </a:r>
            <a:endParaRPr lang="en-US" sz="2000" dirty="0"/>
          </a:p>
        </p:txBody>
      </p:sp>
      <p:sp>
        <p:nvSpPr>
          <p:cNvPr id="44" name="Text 42"/>
          <p:cNvSpPr/>
          <p:nvPr/>
        </p:nvSpPr>
        <p:spPr>
          <a:xfrm>
            <a:off x="7799832" y="4005072"/>
            <a:ext cx="3227832" cy="978408"/>
          </a:xfrm>
          <a:prstGeom prst="rect">
            <a:avLst/>
          </a:prstGeom>
          <a:noFill/>
          <a:ln/>
        </p:spPr>
        <p:txBody>
          <a:bodyPr wrap="square" lIns="0" tIns="0" rIns="0" bIns="0" rtlCol="0" anchor="t">
            <a:normAutofit/>
          </a:bodyPr>
          <a:lstStyle/>
          <a:p>
            <a:pPr algn="l" indent="0" marL="0">
              <a:buNone/>
            </a:pPr>
            <a:r>
              <a:rPr lang="en-US" sz="1400" dirty="0">
                <a:solidFill>
                  <a:srgbClr val="182D2A"/>
                </a:solidFill>
                <a:latin typeface="Aptos" pitchFamily="34" charset="0"/>
                <a:ea typeface="Aptos" pitchFamily="34" charset="-122"/>
                <a:cs typeface="Aptos" pitchFamily="34" charset="-120"/>
              </a:rPr>
              <a:t>The 60% figure tracks six working capability groups out of ten. It is a project-scope measure—not a grade, code-completion percentage, or claim of production readiness.</a:t>
            </a:r>
            <a:endParaRPr lang="en-US" sz="1400" dirty="0"/>
          </a:p>
        </p:txBody>
      </p:sp>
      <p:sp>
        <p:nvSpPr>
          <p:cNvPr id="45" name="Shape 43"/>
          <p:cNvSpPr/>
          <p:nvPr/>
        </p:nvSpPr>
        <p:spPr>
          <a:xfrm>
            <a:off x="7808976" y="5138928"/>
            <a:ext cx="1700784" cy="274320"/>
          </a:xfrm>
          <a:prstGeom prst="roundRect">
            <a:avLst>
              <a:gd name="adj" fmla="val 43333"/>
            </a:avLst>
          </a:prstGeom>
          <a:solidFill>
            <a:srgbClr val="FFFFFF"/>
          </a:solidFill>
          <a:ln w="10160">
            <a:solidFill>
              <a:srgbClr val="FFFFFF">
                <a:alpha val="0"/>
              </a:srgbClr>
            </a:solidFill>
            <a:prstDash val="solid"/>
          </a:ln>
        </p:spPr>
      </p:sp>
      <p:sp>
        <p:nvSpPr>
          <p:cNvPr id="46" name="Text 44"/>
          <p:cNvSpPr/>
          <p:nvPr/>
        </p:nvSpPr>
        <p:spPr>
          <a:xfrm>
            <a:off x="7900416" y="5148072"/>
            <a:ext cx="1517904"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C8734E"/>
                </a:solidFill>
                <a:latin typeface="Aptos" pitchFamily="34" charset="0"/>
                <a:ea typeface="Aptos" pitchFamily="34" charset="-122"/>
                <a:cs typeface="Aptos" pitchFamily="34" charset="-120"/>
              </a:rPr>
              <a:t>SYNTHETIC DEMO DATA</a:t>
            </a:r>
            <a:endParaRPr lang="en-US" sz="90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02 / RESEARCH PROBLEM</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One public initiative can become five different samples</a:t>
            </a:r>
            <a:endParaRPr lang="en-US" sz="3000" dirty="0"/>
          </a:p>
        </p:txBody>
      </p:sp>
      <p:sp>
        <p:nvSpPr>
          <p:cNvPr id="4" name="Text 2"/>
          <p:cNvSpPr/>
          <p:nvPr/>
        </p:nvSpPr>
        <p:spPr>
          <a:xfrm>
            <a:off x="594360" y="1645920"/>
            <a:ext cx="3474720" cy="256032"/>
          </a:xfrm>
          <a:prstGeom prst="rect">
            <a:avLst/>
          </a:prstGeom>
          <a:noFill/>
          <a:ln/>
        </p:spPr>
        <p:txBody>
          <a:bodyPr wrap="square" lIns="0" tIns="0" rIns="0" bIns="0" rtlCol="0" anchor="ctr">
            <a:normAutofit/>
          </a:bodyPr>
          <a:lstStyle/>
          <a:p>
            <a:pPr algn="l" indent="0" marL="0">
              <a:buNone/>
            </a:pPr>
            <a:r>
              <a:rPr lang="en-US" sz="1100" b="1" spc="80" kern="0" dirty="0">
                <a:solidFill>
                  <a:srgbClr val="2E8069"/>
                </a:solidFill>
                <a:latin typeface="Aptos" pitchFamily="34" charset="0"/>
                <a:ea typeface="Aptos" pitchFamily="34" charset="-122"/>
                <a:cs typeface="Aptos" pitchFamily="34" charset="-120"/>
              </a:rPr>
              <a:t>What a researcher must connect</a:t>
            </a:r>
            <a:endParaRPr lang="en-US" sz="1100" dirty="0"/>
          </a:p>
        </p:txBody>
      </p:sp>
      <p:sp>
        <p:nvSpPr>
          <p:cNvPr id="5" name="Shape 3"/>
          <p:cNvSpPr/>
          <p:nvPr/>
        </p:nvSpPr>
        <p:spPr>
          <a:xfrm>
            <a:off x="640080" y="2048256"/>
            <a:ext cx="384048" cy="384048"/>
          </a:xfrm>
          <a:prstGeom prst="ellipse">
            <a:avLst/>
          </a:prstGeom>
          <a:solidFill>
            <a:srgbClr val="E7A54A"/>
          </a:solidFill>
          <a:ln w="12700">
            <a:solidFill>
              <a:srgbClr val="E7A54A">
                <a:alpha val="0"/>
              </a:srgbClr>
            </a:solidFill>
            <a:prstDash val="solid"/>
          </a:ln>
        </p:spPr>
      </p:sp>
      <p:sp>
        <p:nvSpPr>
          <p:cNvPr id="6" name="Text 4"/>
          <p:cNvSpPr/>
          <p:nvPr/>
        </p:nvSpPr>
        <p:spPr>
          <a:xfrm>
            <a:off x="640080" y="2057400"/>
            <a:ext cx="384048" cy="36576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01</a:t>
            </a:r>
            <a:endParaRPr lang="en-US" sz="900" dirty="0"/>
          </a:p>
        </p:txBody>
      </p:sp>
      <p:sp>
        <p:nvSpPr>
          <p:cNvPr id="7" name="Text 5"/>
          <p:cNvSpPr/>
          <p:nvPr/>
        </p:nvSpPr>
        <p:spPr>
          <a:xfrm>
            <a:off x="1188720" y="2029968"/>
            <a:ext cx="2011680" cy="256032"/>
          </a:xfrm>
          <a:prstGeom prst="rect">
            <a:avLst/>
          </a:prstGeom>
          <a:noFill/>
          <a:ln/>
        </p:spPr>
        <p:txBody>
          <a:bodyPr wrap="square" lIns="0" tIns="0" rIns="0" bIns="0" rtlCol="0" anchor="ctr">
            <a:normAutofit/>
          </a:bodyPr>
          <a:lstStyle/>
          <a:p>
            <a:pPr algn="l" indent="0" marL="0">
              <a:buNone/>
            </a:pPr>
            <a:r>
              <a:rPr lang="en-US" sz="1500" b="1" dirty="0">
                <a:solidFill>
                  <a:srgbClr val="182D2A"/>
                </a:solidFill>
                <a:latin typeface="Aptos" pitchFamily="34" charset="0"/>
                <a:ea typeface="Aptos" pitchFamily="34" charset="-122"/>
                <a:cs typeface="Aptos" pitchFamily="34" charset="-120"/>
              </a:rPr>
              <a:t>Discovery</a:t>
            </a:r>
            <a:endParaRPr lang="en-US" sz="1500" dirty="0"/>
          </a:p>
        </p:txBody>
      </p:sp>
      <p:sp>
        <p:nvSpPr>
          <p:cNvPr id="8" name="Text 6"/>
          <p:cNvSpPr/>
          <p:nvPr/>
        </p:nvSpPr>
        <p:spPr>
          <a:xfrm>
            <a:off x="1188720" y="2331720"/>
            <a:ext cx="4389120" cy="301752"/>
          </a:xfrm>
          <a:prstGeom prst="rect">
            <a:avLst/>
          </a:prstGeom>
          <a:noFill/>
          <a:ln/>
        </p:spPr>
        <p:txBody>
          <a:bodyPr wrap="square" lIns="0" tIns="0" rIns="0" bIns="0" rtlCol="0" anchor="ctr">
            <a:normAutofit/>
          </a:bodyPr>
          <a:lstStyle/>
          <a:p>
            <a:pPr algn="l" indent="0" marL="0">
              <a:buNone/>
            </a:pPr>
            <a:r>
              <a:rPr lang="en-US" sz="1200" dirty="0">
                <a:solidFill>
                  <a:srgbClr val="64766E"/>
                </a:solidFill>
                <a:latin typeface="Aptos" pitchFamily="34" charset="0"/>
                <a:ea typeface="Aptos" pitchFamily="34" charset="-122"/>
                <a:cs typeface="Aptos" pitchFamily="34" charset="-120"/>
              </a:rPr>
              <a:t>Which reports are in scope?</a:t>
            </a:r>
            <a:endParaRPr lang="en-US" sz="1200" dirty="0"/>
          </a:p>
        </p:txBody>
      </p:sp>
      <p:sp>
        <p:nvSpPr>
          <p:cNvPr id="9" name="Shape 7"/>
          <p:cNvSpPr/>
          <p:nvPr/>
        </p:nvSpPr>
        <p:spPr>
          <a:xfrm>
            <a:off x="640080" y="2862072"/>
            <a:ext cx="384048" cy="384048"/>
          </a:xfrm>
          <a:prstGeom prst="ellipse">
            <a:avLst/>
          </a:prstGeom>
          <a:solidFill>
            <a:srgbClr val="173D35"/>
          </a:solidFill>
          <a:ln w="12700">
            <a:solidFill>
              <a:srgbClr val="173D35">
                <a:alpha val="0"/>
              </a:srgbClr>
            </a:solidFill>
            <a:prstDash val="solid"/>
          </a:ln>
        </p:spPr>
      </p:sp>
      <p:sp>
        <p:nvSpPr>
          <p:cNvPr id="10" name="Text 8"/>
          <p:cNvSpPr/>
          <p:nvPr/>
        </p:nvSpPr>
        <p:spPr>
          <a:xfrm>
            <a:off x="640080" y="2871216"/>
            <a:ext cx="384048" cy="36576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02</a:t>
            </a:r>
            <a:endParaRPr lang="en-US" sz="900" dirty="0"/>
          </a:p>
        </p:txBody>
      </p:sp>
      <p:sp>
        <p:nvSpPr>
          <p:cNvPr id="11" name="Text 9"/>
          <p:cNvSpPr/>
          <p:nvPr/>
        </p:nvSpPr>
        <p:spPr>
          <a:xfrm>
            <a:off x="1188720" y="2843784"/>
            <a:ext cx="2011680" cy="256032"/>
          </a:xfrm>
          <a:prstGeom prst="rect">
            <a:avLst/>
          </a:prstGeom>
          <a:noFill/>
          <a:ln/>
        </p:spPr>
        <p:txBody>
          <a:bodyPr wrap="square" lIns="0" tIns="0" rIns="0" bIns="0" rtlCol="0" anchor="ctr">
            <a:normAutofit/>
          </a:bodyPr>
          <a:lstStyle/>
          <a:p>
            <a:pPr algn="l" indent="0" marL="0">
              <a:buNone/>
            </a:pPr>
            <a:r>
              <a:rPr lang="en-US" sz="1500" b="1" dirty="0">
                <a:solidFill>
                  <a:srgbClr val="182D2A"/>
                </a:solidFill>
                <a:latin typeface="Aptos" pitchFamily="34" charset="0"/>
                <a:ea typeface="Aptos" pitchFamily="34" charset="-122"/>
                <a:cs typeface="Aptos" pitchFamily="34" charset="-120"/>
              </a:rPr>
              <a:t>Comparability</a:t>
            </a:r>
            <a:endParaRPr lang="en-US" sz="1500" dirty="0"/>
          </a:p>
        </p:txBody>
      </p:sp>
      <p:sp>
        <p:nvSpPr>
          <p:cNvPr id="12" name="Text 10"/>
          <p:cNvSpPr/>
          <p:nvPr/>
        </p:nvSpPr>
        <p:spPr>
          <a:xfrm>
            <a:off x="1188720" y="3145536"/>
            <a:ext cx="4389120" cy="301752"/>
          </a:xfrm>
          <a:prstGeom prst="rect">
            <a:avLst/>
          </a:prstGeom>
          <a:noFill/>
          <a:ln/>
        </p:spPr>
        <p:txBody>
          <a:bodyPr wrap="square" lIns="0" tIns="0" rIns="0" bIns="0" rtlCol="0" anchor="ctr">
            <a:normAutofit/>
          </a:bodyPr>
          <a:lstStyle/>
          <a:p>
            <a:pPr algn="l" indent="0" marL="0">
              <a:buNone/>
            </a:pPr>
            <a:r>
              <a:rPr lang="en-US" sz="1200" dirty="0">
                <a:solidFill>
                  <a:srgbClr val="64766E"/>
                </a:solidFill>
                <a:latin typeface="Aptos" pitchFamily="34" charset="0"/>
                <a:ea typeface="Aptos" pitchFamily="34" charset="-122"/>
                <a:cs typeface="Aptos" pitchFamily="34" charset="-120"/>
              </a:rPr>
              <a:t>Are language and outlet samples comparable?</a:t>
            </a:r>
            <a:endParaRPr lang="en-US" sz="1200" dirty="0"/>
          </a:p>
        </p:txBody>
      </p:sp>
      <p:sp>
        <p:nvSpPr>
          <p:cNvPr id="13" name="Shape 11"/>
          <p:cNvSpPr/>
          <p:nvPr/>
        </p:nvSpPr>
        <p:spPr>
          <a:xfrm>
            <a:off x="640080" y="3675888"/>
            <a:ext cx="384048" cy="384048"/>
          </a:xfrm>
          <a:prstGeom prst="ellipse">
            <a:avLst/>
          </a:prstGeom>
          <a:solidFill>
            <a:srgbClr val="173D35"/>
          </a:solidFill>
          <a:ln w="12700">
            <a:solidFill>
              <a:srgbClr val="173D35">
                <a:alpha val="0"/>
              </a:srgbClr>
            </a:solidFill>
            <a:prstDash val="solid"/>
          </a:ln>
        </p:spPr>
      </p:sp>
      <p:sp>
        <p:nvSpPr>
          <p:cNvPr id="14" name="Text 12"/>
          <p:cNvSpPr/>
          <p:nvPr/>
        </p:nvSpPr>
        <p:spPr>
          <a:xfrm>
            <a:off x="640080" y="3685032"/>
            <a:ext cx="384048" cy="36576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03</a:t>
            </a:r>
            <a:endParaRPr lang="en-US" sz="900" dirty="0"/>
          </a:p>
        </p:txBody>
      </p:sp>
      <p:sp>
        <p:nvSpPr>
          <p:cNvPr id="15" name="Text 13"/>
          <p:cNvSpPr/>
          <p:nvPr/>
        </p:nvSpPr>
        <p:spPr>
          <a:xfrm>
            <a:off x="1188720" y="3657600"/>
            <a:ext cx="2011680" cy="256032"/>
          </a:xfrm>
          <a:prstGeom prst="rect">
            <a:avLst/>
          </a:prstGeom>
          <a:noFill/>
          <a:ln/>
        </p:spPr>
        <p:txBody>
          <a:bodyPr wrap="square" lIns="0" tIns="0" rIns="0" bIns="0" rtlCol="0" anchor="ctr">
            <a:normAutofit/>
          </a:bodyPr>
          <a:lstStyle/>
          <a:p>
            <a:pPr algn="l" indent="0" marL="0">
              <a:buNone/>
            </a:pPr>
            <a:r>
              <a:rPr lang="en-US" sz="1500" b="1" dirty="0">
                <a:solidFill>
                  <a:srgbClr val="182D2A"/>
                </a:solidFill>
                <a:latin typeface="Aptos" pitchFamily="34" charset="0"/>
                <a:ea typeface="Aptos" pitchFamily="34" charset="-122"/>
                <a:cs typeface="Aptos" pitchFamily="34" charset="-120"/>
              </a:rPr>
              <a:t>Interpretation</a:t>
            </a:r>
            <a:endParaRPr lang="en-US" sz="1500" dirty="0"/>
          </a:p>
        </p:txBody>
      </p:sp>
      <p:sp>
        <p:nvSpPr>
          <p:cNvPr id="16" name="Text 14"/>
          <p:cNvSpPr/>
          <p:nvPr/>
        </p:nvSpPr>
        <p:spPr>
          <a:xfrm>
            <a:off x="1188720" y="3959352"/>
            <a:ext cx="4389120" cy="301752"/>
          </a:xfrm>
          <a:prstGeom prst="rect">
            <a:avLst/>
          </a:prstGeom>
          <a:noFill/>
          <a:ln/>
        </p:spPr>
        <p:txBody>
          <a:bodyPr wrap="square" lIns="0" tIns="0" rIns="0" bIns="0" rtlCol="0" anchor="ctr">
            <a:normAutofit/>
          </a:bodyPr>
          <a:lstStyle/>
          <a:p>
            <a:pPr algn="l" indent="0" marL="0">
              <a:buNone/>
            </a:pPr>
            <a:r>
              <a:rPr lang="en-US" sz="1200" dirty="0">
                <a:solidFill>
                  <a:srgbClr val="64766E"/>
                </a:solidFill>
                <a:latin typeface="Aptos" pitchFamily="34" charset="0"/>
                <a:ea typeface="Aptos" pitchFamily="34" charset="-122"/>
                <a:cs typeface="Aptos" pitchFamily="34" charset="-120"/>
              </a:rPr>
              <a:t>What is reported, and what is inferred?</a:t>
            </a:r>
            <a:endParaRPr lang="en-US" sz="1200" dirty="0"/>
          </a:p>
        </p:txBody>
      </p:sp>
      <p:sp>
        <p:nvSpPr>
          <p:cNvPr id="17" name="Shape 15"/>
          <p:cNvSpPr/>
          <p:nvPr/>
        </p:nvSpPr>
        <p:spPr>
          <a:xfrm>
            <a:off x="640080" y="4489704"/>
            <a:ext cx="384048" cy="384048"/>
          </a:xfrm>
          <a:prstGeom prst="ellipse">
            <a:avLst/>
          </a:prstGeom>
          <a:solidFill>
            <a:srgbClr val="173D35"/>
          </a:solidFill>
          <a:ln w="12700">
            <a:solidFill>
              <a:srgbClr val="173D35">
                <a:alpha val="0"/>
              </a:srgbClr>
            </a:solidFill>
            <a:prstDash val="solid"/>
          </a:ln>
        </p:spPr>
      </p:sp>
      <p:sp>
        <p:nvSpPr>
          <p:cNvPr id="18" name="Text 16"/>
          <p:cNvSpPr/>
          <p:nvPr/>
        </p:nvSpPr>
        <p:spPr>
          <a:xfrm>
            <a:off x="640080" y="4498848"/>
            <a:ext cx="384048" cy="36576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04</a:t>
            </a:r>
            <a:endParaRPr lang="en-US" sz="900" dirty="0"/>
          </a:p>
        </p:txBody>
      </p:sp>
      <p:sp>
        <p:nvSpPr>
          <p:cNvPr id="19" name="Text 17"/>
          <p:cNvSpPr/>
          <p:nvPr/>
        </p:nvSpPr>
        <p:spPr>
          <a:xfrm>
            <a:off x="1188720" y="4471416"/>
            <a:ext cx="2011680" cy="256032"/>
          </a:xfrm>
          <a:prstGeom prst="rect">
            <a:avLst/>
          </a:prstGeom>
          <a:noFill/>
          <a:ln/>
        </p:spPr>
        <p:txBody>
          <a:bodyPr wrap="square" lIns="0" tIns="0" rIns="0" bIns="0" rtlCol="0" anchor="ctr">
            <a:normAutofit/>
          </a:bodyPr>
          <a:lstStyle/>
          <a:p>
            <a:pPr algn="l" indent="0" marL="0">
              <a:buNone/>
            </a:pPr>
            <a:r>
              <a:rPr lang="en-US" sz="1500" b="1" dirty="0">
                <a:solidFill>
                  <a:srgbClr val="182D2A"/>
                </a:solidFill>
                <a:latin typeface="Aptos" pitchFamily="34" charset="0"/>
                <a:ea typeface="Aptos" pitchFamily="34" charset="-122"/>
                <a:cs typeface="Aptos" pitchFamily="34" charset="-120"/>
              </a:rPr>
              <a:t>Traceability</a:t>
            </a:r>
            <a:endParaRPr lang="en-US" sz="1500" dirty="0"/>
          </a:p>
        </p:txBody>
      </p:sp>
      <p:sp>
        <p:nvSpPr>
          <p:cNvPr id="20" name="Text 18"/>
          <p:cNvSpPr/>
          <p:nvPr/>
        </p:nvSpPr>
        <p:spPr>
          <a:xfrm>
            <a:off x="1188720" y="4773168"/>
            <a:ext cx="4389120" cy="301752"/>
          </a:xfrm>
          <a:prstGeom prst="rect">
            <a:avLst/>
          </a:prstGeom>
          <a:noFill/>
          <a:ln/>
        </p:spPr>
        <p:txBody>
          <a:bodyPr wrap="square" lIns="0" tIns="0" rIns="0" bIns="0" rtlCol="0" anchor="ctr">
            <a:normAutofit/>
          </a:bodyPr>
          <a:lstStyle/>
          <a:p>
            <a:pPr algn="l" indent="0" marL="0">
              <a:buNone/>
            </a:pPr>
            <a:r>
              <a:rPr lang="en-US" sz="1200" dirty="0">
                <a:solidFill>
                  <a:srgbClr val="64766E"/>
                </a:solidFill>
                <a:latin typeface="Aptos" pitchFamily="34" charset="0"/>
                <a:ea typeface="Aptos" pitchFamily="34" charset="-122"/>
                <a:cs typeface="Aptos" pitchFamily="34" charset="-120"/>
              </a:rPr>
              <a:t>Can each comparison be checked against its sources?</a:t>
            </a:r>
            <a:endParaRPr lang="en-US" sz="1200" dirty="0"/>
          </a:p>
        </p:txBody>
      </p:sp>
      <p:sp>
        <p:nvSpPr>
          <p:cNvPr id="21" name="Shape 19"/>
          <p:cNvSpPr/>
          <p:nvPr/>
        </p:nvSpPr>
        <p:spPr>
          <a:xfrm>
            <a:off x="6537960" y="1755648"/>
            <a:ext cx="4983480" cy="4114800"/>
          </a:xfrm>
          <a:prstGeom prst="roundRect">
            <a:avLst>
              <a:gd name="adj" fmla="val 2889"/>
            </a:avLst>
          </a:prstGeom>
          <a:solidFill>
            <a:srgbClr val="173D35"/>
          </a:solidFill>
          <a:ln w="10160">
            <a:solidFill>
              <a:srgbClr val="173D35">
                <a:alpha val="0"/>
              </a:srgbClr>
            </a:solidFill>
            <a:prstDash val="solid"/>
          </a:ln>
        </p:spPr>
      </p:sp>
      <p:sp>
        <p:nvSpPr>
          <p:cNvPr id="22" name="Shape 20"/>
          <p:cNvSpPr/>
          <p:nvPr/>
        </p:nvSpPr>
        <p:spPr>
          <a:xfrm>
            <a:off x="6537960" y="1901952"/>
            <a:ext cx="50292" cy="3822192"/>
          </a:xfrm>
          <a:prstGeom prst="roundRect">
            <a:avLst>
              <a:gd name="adj" fmla="val 36364"/>
            </a:avLst>
          </a:prstGeom>
          <a:solidFill>
            <a:srgbClr val="E7A54A"/>
          </a:solidFill>
          <a:ln w="10160">
            <a:solidFill>
              <a:srgbClr val="E7A54A">
                <a:alpha val="0"/>
              </a:srgbClr>
            </a:solidFill>
            <a:prstDash val="solid"/>
          </a:ln>
        </p:spPr>
      </p:sp>
      <p:sp>
        <p:nvSpPr>
          <p:cNvPr id="23" name="Text 21"/>
          <p:cNvSpPr/>
          <p:nvPr/>
        </p:nvSpPr>
        <p:spPr>
          <a:xfrm>
            <a:off x="6903720" y="2121408"/>
            <a:ext cx="2286000" cy="228600"/>
          </a:xfrm>
          <a:prstGeom prst="rect">
            <a:avLst/>
          </a:prstGeom>
          <a:noFill/>
          <a:ln/>
        </p:spPr>
        <p:txBody>
          <a:bodyPr wrap="square" lIns="0" tIns="0" rIns="0" bIns="0" rtlCol="0" anchor="ctr">
            <a:normAutofit/>
          </a:bodyPr>
          <a:lstStyle/>
          <a:p>
            <a:pPr algn="l" indent="0" marL="0">
              <a:buNone/>
            </a:pPr>
            <a:r>
              <a:rPr lang="en-US" sz="1000" b="1" spc="130" kern="0" dirty="0">
                <a:solidFill>
                  <a:srgbClr val="CDE2D3"/>
                </a:solidFill>
                <a:latin typeface="Aptos" pitchFamily="34" charset="0"/>
                <a:ea typeface="Aptos" pitchFamily="34" charset="-122"/>
                <a:cs typeface="Aptos" pitchFamily="34" charset="-120"/>
              </a:rPr>
              <a:t>STUDY QUESTION</a:t>
            </a:r>
            <a:endParaRPr lang="en-US" sz="1000" dirty="0"/>
          </a:p>
        </p:txBody>
      </p:sp>
      <p:sp>
        <p:nvSpPr>
          <p:cNvPr id="24" name="Text 22"/>
          <p:cNvSpPr/>
          <p:nvPr/>
        </p:nvSpPr>
        <p:spPr>
          <a:xfrm>
            <a:off x="6903720" y="2578608"/>
            <a:ext cx="4160520" cy="1078992"/>
          </a:xfrm>
          <a:prstGeom prst="rect">
            <a:avLst/>
          </a:prstGeom>
          <a:noFill/>
          <a:ln/>
        </p:spPr>
        <p:txBody>
          <a:bodyPr wrap="square" lIns="0" tIns="0" rIns="0" bIns="0" rtlCol="0" anchor="t">
            <a:normAutofit/>
          </a:bodyPr>
          <a:lstStyle/>
          <a:p>
            <a:pPr algn="l" indent="0" marL="0">
              <a:buNone/>
            </a:pPr>
            <a:r>
              <a:rPr lang="en-US" sz="2200" b="1" dirty="0">
                <a:solidFill>
                  <a:srgbClr val="FFFFFF"/>
                </a:solidFill>
                <a:latin typeface="Georgia" pitchFamily="34" charset="0"/>
                <a:ea typeface="Georgia" pitchFamily="34" charset="-122"/>
                <a:cs typeface="Georgia" pitchFamily="34" charset="-120"/>
              </a:rPr>
              <a:t>How does coverage differ</a:t>
            </a:r>
            <a:endParaRPr lang="en-US" sz="2200" dirty="0"/>
          </a:p>
          <a:p>
            <a:pPr algn="l" indent="0" marL="0">
              <a:buNone/>
            </a:pPr>
            <a:r>
              <a:rPr lang="en-US" sz="2200" b="1" dirty="0">
                <a:solidFill>
                  <a:srgbClr val="FFFFFF"/>
                </a:solidFill>
                <a:latin typeface="Georgia" pitchFamily="34" charset="0"/>
                <a:ea typeface="Georgia" pitchFamily="34" charset="-122"/>
                <a:cs typeface="Georgia" pitchFamily="34" charset="-120"/>
              </a:rPr>
              <a:t>across languages and</a:t>
            </a:r>
            <a:endParaRPr lang="en-US" sz="2200" dirty="0"/>
          </a:p>
          <a:p>
            <a:pPr algn="l" indent="0" marL="0">
              <a:buNone/>
            </a:pPr>
            <a:r>
              <a:rPr lang="en-US" sz="2200" b="1" dirty="0">
                <a:solidFill>
                  <a:srgbClr val="FFFFFF"/>
                </a:solidFill>
                <a:latin typeface="Georgia" pitchFamily="34" charset="0"/>
                <a:ea typeface="Georgia" pitchFamily="34" charset="-122"/>
                <a:cs typeface="Georgia" pitchFamily="34" charset="-120"/>
              </a:rPr>
              <a:t>news sources?</a:t>
            </a:r>
            <a:endParaRPr lang="en-US" sz="2200" dirty="0"/>
          </a:p>
        </p:txBody>
      </p:sp>
      <p:sp>
        <p:nvSpPr>
          <p:cNvPr id="25" name="Shape 23"/>
          <p:cNvSpPr/>
          <p:nvPr/>
        </p:nvSpPr>
        <p:spPr>
          <a:xfrm>
            <a:off x="6903720" y="4023360"/>
            <a:ext cx="4023360" cy="0"/>
          </a:xfrm>
          <a:prstGeom prst="line">
            <a:avLst/>
          </a:prstGeom>
          <a:noFill/>
          <a:ln w="10160">
            <a:solidFill>
              <a:srgbClr val="5B8576"/>
            </a:solidFill>
            <a:prstDash val="solid"/>
            <a:headEnd type="none"/>
            <a:tailEnd type="none"/>
          </a:ln>
        </p:spPr>
      </p:sp>
      <p:sp>
        <p:nvSpPr>
          <p:cNvPr id="26" name="Text 24"/>
          <p:cNvSpPr/>
          <p:nvPr/>
        </p:nvSpPr>
        <p:spPr>
          <a:xfrm>
            <a:off x="6903720" y="4315968"/>
            <a:ext cx="3931920" cy="850392"/>
          </a:xfrm>
          <a:prstGeom prst="rect">
            <a:avLst/>
          </a:prstGeom>
          <a:noFill/>
          <a:ln/>
        </p:spPr>
        <p:txBody>
          <a:bodyPr wrap="square" lIns="0" tIns="0" rIns="0" bIns="0" rtlCol="0" anchor="t">
            <a:normAutofit/>
          </a:bodyPr>
          <a:lstStyle/>
          <a:p>
            <a:pPr algn="l" indent="0" marL="0">
              <a:buNone/>
            </a:pPr>
            <a:r>
              <a:rPr lang="en-US" sz="1400" dirty="0">
                <a:solidFill>
                  <a:srgbClr val="DCE8E0"/>
                </a:solidFill>
                <a:latin typeface="Aptos" pitchFamily="34" charset="0"/>
                <a:ea typeface="Aptos" pitchFamily="34" charset="-122"/>
                <a:cs typeface="Aptos" pitchFamily="34" charset="-120"/>
              </a:rPr>
              <a:t>The app reports observed sample differences. It does not infer truth, intent, political bias, or outlet quality.</a:t>
            </a:r>
            <a:endParaRPr lang="en-US" sz="1400" dirty="0"/>
          </a:p>
        </p:txBody>
      </p:sp>
      <p:sp>
        <p:nvSpPr>
          <p:cNvPr id="27" name="Shape 25"/>
          <p:cNvSpPr/>
          <p:nvPr/>
        </p:nvSpPr>
        <p:spPr>
          <a:xfrm>
            <a:off x="6903720" y="5404104"/>
            <a:ext cx="2057400" cy="274320"/>
          </a:xfrm>
          <a:prstGeom prst="roundRect">
            <a:avLst>
              <a:gd name="adj" fmla="val 43333"/>
            </a:avLst>
          </a:prstGeom>
          <a:solidFill>
            <a:srgbClr val="D8E8DC"/>
          </a:solidFill>
          <a:ln w="10160">
            <a:solidFill>
              <a:srgbClr val="D8E8DC">
                <a:alpha val="0"/>
              </a:srgbClr>
            </a:solidFill>
            <a:prstDash val="solid"/>
          </a:ln>
        </p:spPr>
      </p:sp>
      <p:sp>
        <p:nvSpPr>
          <p:cNvPr id="28" name="Text 26"/>
          <p:cNvSpPr/>
          <p:nvPr/>
        </p:nvSpPr>
        <p:spPr>
          <a:xfrm>
            <a:off x="6995160" y="5413248"/>
            <a:ext cx="187452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DESCRIPTIVE COMPARISON</a:t>
            </a:r>
            <a:endParaRPr lang="en-US" sz="90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03 / RESEARCH QUERY</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Start with the question—not an unbounded crawl</a:t>
            </a:r>
            <a:endParaRPr lang="en-US" sz="3000" dirty="0"/>
          </a:p>
        </p:txBody>
      </p:sp>
      <p:sp>
        <p:nvSpPr>
          <p:cNvPr id="4" name="Text 2"/>
          <p:cNvSpPr/>
          <p:nvPr/>
        </p:nvSpPr>
        <p:spPr>
          <a:xfrm>
            <a:off x="548640" y="1298448"/>
            <a:ext cx="10789920" cy="329184"/>
          </a:xfrm>
          <a:prstGeom prst="rect">
            <a:avLst/>
          </a:prstGeom>
          <a:noFill/>
          <a:ln/>
        </p:spPr>
        <p:txBody>
          <a:bodyPr wrap="square" lIns="0" tIns="0" rIns="0" bIns="0" rtlCol="0" anchor="t">
            <a:normAutofit/>
          </a:bodyPr>
          <a:lstStyle/>
          <a:p>
            <a:pPr algn="l" indent="0" marL="0">
              <a:buNone/>
            </a:pPr>
            <a:r>
              <a:rPr lang="en-US" sz="1350" dirty="0">
                <a:solidFill>
                  <a:srgbClr val="64766E"/>
                </a:solidFill>
                <a:latin typeface="Aptos" pitchFamily="34" charset="0"/>
                <a:ea typeface="Aptos" pitchFamily="34" charset="-122"/>
                <a:cs typeface="Aptos" pitchFamily="34" charset="-120"/>
              </a:rPr>
              <a:t>A researcher defines the topic, aliases, time window, languages and optional outlet sample.</a:t>
            </a:r>
            <a:endParaRPr lang="en-US" sz="1350" dirty="0"/>
          </a:p>
        </p:txBody>
      </p:sp>
      <p:sp>
        <p:nvSpPr>
          <p:cNvPr id="5" name="Shape 3"/>
          <p:cNvSpPr/>
          <p:nvPr/>
        </p:nvSpPr>
        <p:spPr>
          <a:xfrm>
            <a:off x="566928" y="1755648"/>
            <a:ext cx="6492240" cy="4343400"/>
          </a:xfrm>
          <a:prstGeom prst="roundRect">
            <a:avLst>
              <a:gd name="adj" fmla="val 2737"/>
            </a:avLst>
          </a:prstGeom>
          <a:solidFill>
            <a:srgbClr val="FFFFFF"/>
          </a:solidFill>
          <a:ln w="10160">
            <a:solidFill>
              <a:srgbClr val="D9DFD7"/>
            </a:solidFill>
            <a:prstDash val="solid"/>
          </a:ln>
        </p:spPr>
      </p:sp>
      <p:sp>
        <p:nvSpPr>
          <p:cNvPr id="6" name="Text 4"/>
          <p:cNvSpPr/>
          <p:nvPr/>
        </p:nvSpPr>
        <p:spPr>
          <a:xfrm>
            <a:off x="877824" y="2029968"/>
            <a:ext cx="3840480" cy="210312"/>
          </a:xfrm>
          <a:prstGeom prst="rect">
            <a:avLst/>
          </a:prstGeom>
          <a:noFill/>
          <a:ln/>
        </p:spPr>
        <p:txBody>
          <a:bodyPr wrap="square" lIns="0" tIns="0" rIns="0" bIns="0" rtlCol="0" anchor="ctr">
            <a:normAutofit/>
          </a:bodyPr>
          <a:lstStyle/>
          <a:p>
            <a:pPr algn="l" indent="0" marL="0">
              <a:buNone/>
            </a:pPr>
            <a:r>
              <a:rPr lang="en-US" sz="950" b="1" spc="120" kern="0" dirty="0">
                <a:solidFill>
                  <a:srgbClr val="2E8069"/>
                </a:solidFill>
                <a:latin typeface="Aptos" pitchFamily="34" charset="0"/>
                <a:ea typeface="Aptos" pitchFamily="34" charset="-122"/>
                <a:cs typeface="Aptos" pitchFamily="34" charset="-120"/>
              </a:rPr>
              <a:t>NEW COVERAGE SEARCH</a:t>
            </a:r>
            <a:endParaRPr lang="en-US" sz="950" dirty="0"/>
          </a:p>
        </p:txBody>
      </p:sp>
      <p:sp>
        <p:nvSpPr>
          <p:cNvPr id="7" name="Text 5"/>
          <p:cNvSpPr/>
          <p:nvPr/>
        </p:nvSpPr>
        <p:spPr>
          <a:xfrm>
            <a:off x="896112" y="2441448"/>
            <a:ext cx="1920240" cy="210312"/>
          </a:xfrm>
          <a:prstGeom prst="rect">
            <a:avLst/>
          </a:prstGeom>
          <a:noFill/>
          <a:ln/>
        </p:spPr>
        <p:txBody>
          <a:bodyPr wrap="square" lIns="0" tIns="0" rIns="0" bIns="0" rtlCol="0" anchor="ctr">
            <a:normAutofit/>
          </a:bodyPr>
          <a:lstStyle/>
          <a:p>
            <a:pPr algn="l" indent="0" marL="0">
              <a:buNone/>
            </a:pPr>
            <a:r>
              <a:rPr lang="en-US" sz="1100" b="1" dirty="0">
                <a:solidFill>
                  <a:srgbClr val="182D2A"/>
                </a:solidFill>
                <a:latin typeface="Aptos" pitchFamily="34" charset="0"/>
                <a:ea typeface="Aptos" pitchFamily="34" charset="-122"/>
                <a:cs typeface="Aptos" pitchFamily="34" charset="-120"/>
              </a:rPr>
              <a:t>Topic or initiative</a:t>
            </a:r>
            <a:endParaRPr lang="en-US" sz="1100" dirty="0"/>
          </a:p>
        </p:txBody>
      </p:sp>
      <p:sp>
        <p:nvSpPr>
          <p:cNvPr id="8" name="Shape 6"/>
          <p:cNvSpPr/>
          <p:nvPr/>
        </p:nvSpPr>
        <p:spPr>
          <a:xfrm>
            <a:off x="896112" y="2724912"/>
            <a:ext cx="5715000" cy="448056"/>
          </a:xfrm>
          <a:prstGeom prst="roundRect">
            <a:avLst>
              <a:gd name="adj" fmla="val 16327"/>
            </a:avLst>
          </a:prstGeom>
          <a:solidFill>
            <a:srgbClr val="F7F5EF"/>
          </a:solidFill>
          <a:ln w="10160">
            <a:solidFill>
              <a:srgbClr val="D9DFD7"/>
            </a:solidFill>
            <a:prstDash val="solid"/>
          </a:ln>
        </p:spPr>
      </p:sp>
      <p:sp>
        <p:nvSpPr>
          <p:cNvPr id="9" name="Text 7"/>
          <p:cNvSpPr/>
          <p:nvPr/>
        </p:nvSpPr>
        <p:spPr>
          <a:xfrm>
            <a:off x="1060704" y="2816352"/>
            <a:ext cx="5349240" cy="219456"/>
          </a:xfrm>
          <a:prstGeom prst="rect">
            <a:avLst/>
          </a:prstGeom>
          <a:noFill/>
          <a:ln/>
        </p:spPr>
        <p:txBody>
          <a:bodyPr wrap="square" lIns="0" tIns="0" rIns="0" bIns="0" rtlCol="0" anchor="ctr">
            <a:normAutofit/>
          </a:bodyPr>
          <a:lstStyle/>
          <a:p>
            <a:pPr algn="l" indent="0" marL="0">
              <a:buNone/>
            </a:pPr>
            <a:r>
              <a:rPr lang="en-US" sz="1300" dirty="0">
                <a:solidFill>
                  <a:srgbClr val="182D2A"/>
                </a:solidFill>
                <a:latin typeface="Aptos" pitchFamily="34" charset="0"/>
                <a:ea typeface="Aptos" pitchFamily="34" charset="-122"/>
                <a:cs typeface="Aptos" pitchFamily="34" charset="-120"/>
              </a:rPr>
              <a:t>Swachh Bharat Mission</a:t>
            </a:r>
            <a:endParaRPr lang="en-US" sz="1300" dirty="0"/>
          </a:p>
        </p:txBody>
      </p:sp>
      <p:sp>
        <p:nvSpPr>
          <p:cNvPr id="10" name="Text 8"/>
          <p:cNvSpPr/>
          <p:nvPr/>
        </p:nvSpPr>
        <p:spPr>
          <a:xfrm>
            <a:off x="896112" y="3364992"/>
            <a:ext cx="1554480" cy="210312"/>
          </a:xfrm>
          <a:prstGeom prst="rect">
            <a:avLst/>
          </a:prstGeom>
          <a:noFill/>
          <a:ln/>
        </p:spPr>
        <p:txBody>
          <a:bodyPr wrap="square" lIns="0" tIns="0" rIns="0" bIns="0" rtlCol="0" anchor="ctr">
            <a:normAutofit/>
          </a:bodyPr>
          <a:lstStyle/>
          <a:p>
            <a:pPr algn="l" indent="0" marL="0">
              <a:buNone/>
            </a:pPr>
            <a:r>
              <a:rPr lang="en-US" sz="1100" b="1" dirty="0">
                <a:solidFill>
                  <a:srgbClr val="182D2A"/>
                </a:solidFill>
                <a:latin typeface="Aptos" pitchFamily="34" charset="0"/>
                <a:ea typeface="Aptos" pitchFamily="34" charset="-122"/>
                <a:cs typeface="Aptos" pitchFamily="34" charset="-120"/>
              </a:rPr>
              <a:t>Alternate names</a:t>
            </a:r>
            <a:endParaRPr lang="en-US" sz="1100" dirty="0"/>
          </a:p>
        </p:txBody>
      </p:sp>
      <p:sp>
        <p:nvSpPr>
          <p:cNvPr id="11" name="Shape 9"/>
          <p:cNvSpPr/>
          <p:nvPr/>
        </p:nvSpPr>
        <p:spPr>
          <a:xfrm>
            <a:off x="896112" y="3648456"/>
            <a:ext cx="5715000" cy="502920"/>
          </a:xfrm>
          <a:prstGeom prst="roundRect">
            <a:avLst>
              <a:gd name="adj" fmla="val 14545"/>
            </a:avLst>
          </a:prstGeom>
          <a:solidFill>
            <a:srgbClr val="F7F5EF"/>
          </a:solidFill>
          <a:ln w="10160">
            <a:solidFill>
              <a:srgbClr val="D9DFD7"/>
            </a:solidFill>
            <a:prstDash val="solid"/>
          </a:ln>
        </p:spPr>
      </p:sp>
      <p:sp>
        <p:nvSpPr>
          <p:cNvPr id="12" name="Text 10"/>
          <p:cNvSpPr/>
          <p:nvPr/>
        </p:nvSpPr>
        <p:spPr>
          <a:xfrm>
            <a:off x="1060704" y="3776472"/>
            <a:ext cx="5349240" cy="219456"/>
          </a:xfrm>
          <a:prstGeom prst="rect">
            <a:avLst/>
          </a:prstGeom>
          <a:noFill/>
          <a:ln/>
        </p:spPr>
        <p:txBody>
          <a:bodyPr wrap="square" lIns="0" tIns="0" rIns="0" bIns="0" rtlCol="0" anchor="ctr">
            <a:normAutofit/>
          </a:bodyPr>
          <a:lstStyle/>
          <a:p>
            <a:pPr algn="l" indent="0" marL="0">
              <a:buNone/>
            </a:pPr>
            <a:r>
              <a:rPr lang="en-US" sz="1250" dirty="0">
                <a:solidFill>
                  <a:srgbClr val="64766E"/>
                </a:solidFill>
                <a:latin typeface="Aptos" pitchFamily="34" charset="0"/>
                <a:ea typeface="Aptos" pitchFamily="34" charset="-122"/>
                <a:cs typeface="Aptos" pitchFamily="34" charset="-120"/>
              </a:rPr>
              <a:t>Clean India campaign  ·  SBM</a:t>
            </a:r>
            <a:endParaRPr lang="en-US" sz="1250" dirty="0"/>
          </a:p>
        </p:txBody>
      </p:sp>
      <p:sp>
        <p:nvSpPr>
          <p:cNvPr id="13" name="Text 11"/>
          <p:cNvSpPr/>
          <p:nvPr/>
        </p:nvSpPr>
        <p:spPr>
          <a:xfrm>
            <a:off x="896112" y="4389120"/>
            <a:ext cx="1645920" cy="182880"/>
          </a:xfrm>
          <a:prstGeom prst="rect">
            <a:avLst/>
          </a:prstGeom>
          <a:noFill/>
          <a:ln/>
        </p:spPr>
        <p:txBody>
          <a:bodyPr wrap="square" lIns="0" tIns="0" rIns="0" bIns="0" rtlCol="0" anchor="ctr">
            <a:normAutofit/>
          </a:bodyPr>
          <a:lstStyle/>
          <a:p>
            <a:pPr algn="l" indent="0" marL="0">
              <a:buNone/>
            </a:pPr>
            <a:r>
              <a:rPr lang="en-US" sz="900" b="1" spc="60" kern="0" dirty="0">
                <a:solidFill>
                  <a:srgbClr val="64766E"/>
                </a:solidFill>
                <a:latin typeface="Aptos" pitchFamily="34" charset="0"/>
                <a:ea typeface="Aptos" pitchFamily="34" charset="-122"/>
                <a:cs typeface="Aptos" pitchFamily="34" charset="-120"/>
              </a:rPr>
              <a:t>PUBLICATION DATES</a:t>
            </a:r>
            <a:endParaRPr lang="en-US" sz="900" dirty="0"/>
          </a:p>
        </p:txBody>
      </p:sp>
      <p:sp>
        <p:nvSpPr>
          <p:cNvPr id="14" name="Shape 12"/>
          <p:cNvSpPr/>
          <p:nvPr/>
        </p:nvSpPr>
        <p:spPr>
          <a:xfrm>
            <a:off x="896112" y="4700016"/>
            <a:ext cx="1664208" cy="329184"/>
          </a:xfrm>
          <a:prstGeom prst="roundRect">
            <a:avLst>
              <a:gd name="adj" fmla="val 36111"/>
            </a:avLst>
          </a:prstGeom>
          <a:solidFill>
            <a:srgbClr val="E7EEF1"/>
          </a:solidFill>
          <a:ln w="10160">
            <a:solidFill>
              <a:srgbClr val="E7EEF1">
                <a:alpha val="0"/>
              </a:srgbClr>
            </a:solidFill>
            <a:prstDash val="solid"/>
          </a:ln>
        </p:spPr>
      </p:sp>
      <p:sp>
        <p:nvSpPr>
          <p:cNvPr id="15" name="Text 13"/>
          <p:cNvSpPr/>
          <p:nvPr/>
        </p:nvSpPr>
        <p:spPr>
          <a:xfrm>
            <a:off x="987552" y="4709160"/>
            <a:ext cx="1481328" cy="310896"/>
          </a:xfrm>
          <a:prstGeom prst="rect">
            <a:avLst/>
          </a:prstGeom>
          <a:noFill/>
          <a:ln/>
        </p:spPr>
        <p:txBody>
          <a:bodyPr wrap="square" lIns="0" tIns="0" rIns="0" bIns="0" rtlCol="0" anchor="ctr">
            <a:normAutofit/>
          </a:bodyPr>
          <a:lstStyle/>
          <a:p>
            <a:pPr algn="ctr" indent="0" marL="0">
              <a:buNone/>
            </a:pPr>
            <a:r>
              <a:rPr lang="en-US" sz="900" b="1" spc="40" kern="0" dirty="0">
                <a:solidFill>
                  <a:srgbClr val="5B88A0"/>
                </a:solidFill>
                <a:latin typeface="Aptos" pitchFamily="34" charset="0"/>
                <a:ea typeface="Aptos" pitchFamily="34" charset="-122"/>
                <a:cs typeface="Aptos" pitchFamily="34" charset="-120"/>
              </a:rPr>
              <a:t>FROM  01 AUG 2026</a:t>
            </a:r>
            <a:endParaRPr lang="en-US" sz="900" dirty="0"/>
          </a:p>
        </p:txBody>
      </p:sp>
      <p:sp>
        <p:nvSpPr>
          <p:cNvPr id="16" name="Shape 14"/>
          <p:cNvSpPr/>
          <p:nvPr/>
        </p:nvSpPr>
        <p:spPr>
          <a:xfrm>
            <a:off x="2724912" y="4700016"/>
            <a:ext cx="1901952" cy="329184"/>
          </a:xfrm>
          <a:prstGeom prst="roundRect">
            <a:avLst>
              <a:gd name="adj" fmla="val 36111"/>
            </a:avLst>
          </a:prstGeom>
          <a:solidFill>
            <a:srgbClr val="E7EEF1"/>
          </a:solidFill>
          <a:ln w="10160">
            <a:solidFill>
              <a:srgbClr val="E7EEF1">
                <a:alpha val="0"/>
              </a:srgbClr>
            </a:solidFill>
            <a:prstDash val="solid"/>
          </a:ln>
        </p:spPr>
      </p:sp>
      <p:sp>
        <p:nvSpPr>
          <p:cNvPr id="17" name="Text 15"/>
          <p:cNvSpPr/>
          <p:nvPr/>
        </p:nvSpPr>
        <p:spPr>
          <a:xfrm>
            <a:off x="2816352" y="4709160"/>
            <a:ext cx="1719072" cy="310896"/>
          </a:xfrm>
          <a:prstGeom prst="rect">
            <a:avLst/>
          </a:prstGeom>
          <a:noFill/>
          <a:ln/>
        </p:spPr>
        <p:txBody>
          <a:bodyPr wrap="square" lIns="0" tIns="0" rIns="0" bIns="0" rtlCol="0" anchor="ctr">
            <a:normAutofit/>
          </a:bodyPr>
          <a:lstStyle/>
          <a:p>
            <a:pPr algn="ctr" indent="0" marL="0">
              <a:buNone/>
            </a:pPr>
            <a:r>
              <a:rPr lang="en-US" sz="900" b="1" spc="40" kern="0" dirty="0">
                <a:solidFill>
                  <a:srgbClr val="5B88A0"/>
                </a:solidFill>
                <a:latin typeface="Aptos" pitchFamily="34" charset="0"/>
                <a:ea typeface="Aptos" pitchFamily="34" charset="-122"/>
                <a:cs typeface="Aptos" pitchFamily="34" charset="-120"/>
              </a:rPr>
              <a:t>THROUGH  31 AUG 2026</a:t>
            </a:r>
            <a:endParaRPr lang="en-US" sz="900" dirty="0"/>
          </a:p>
        </p:txBody>
      </p:sp>
      <p:sp>
        <p:nvSpPr>
          <p:cNvPr id="18" name="Text 16"/>
          <p:cNvSpPr/>
          <p:nvPr/>
        </p:nvSpPr>
        <p:spPr>
          <a:xfrm>
            <a:off x="896112" y="5248656"/>
            <a:ext cx="1645920" cy="182880"/>
          </a:xfrm>
          <a:prstGeom prst="rect">
            <a:avLst/>
          </a:prstGeom>
          <a:noFill/>
          <a:ln/>
        </p:spPr>
        <p:txBody>
          <a:bodyPr wrap="square" lIns="0" tIns="0" rIns="0" bIns="0" rtlCol="0" anchor="ctr">
            <a:normAutofit/>
          </a:bodyPr>
          <a:lstStyle/>
          <a:p>
            <a:pPr algn="l" indent="0" marL="0">
              <a:buNone/>
            </a:pPr>
            <a:r>
              <a:rPr lang="en-US" sz="900" b="1" spc="60" kern="0" dirty="0">
                <a:solidFill>
                  <a:srgbClr val="64766E"/>
                </a:solidFill>
                <a:latin typeface="Aptos" pitchFamily="34" charset="0"/>
                <a:ea typeface="Aptos" pitchFamily="34" charset="-122"/>
                <a:cs typeface="Aptos" pitchFamily="34" charset="-120"/>
              </a:rPr>
              <a:t>LANGUAGE SAMPLE</a:t>
            </a:r>
            <a:endParaRPr lang="en-US" sz="900" dirty="0"/>
          </a:p>
        </p:txBody>
      </p:sp>
      <p:sp>
        <p:nvSpPr>
          <p:cNvPr id="19" name="Shape 17"/>
          <p:cNvSpPr/>
          <p:nvPr/>
        </p:nvSpPr>
        <p:spPr>
          <a:xfrm>
            <a:off x="896112" y="5541264"/>
            <a:ext cx="484632" cy="310896"/>
          </a:xfrm>
          <a:prstGeom prst="roundRect">
            <a:avLst>
              <a:gd name="adj" fmla="val 38235"/>
            </a:avLst>
          </a:prstGeom>
          <a:solidFill>
            <a:srgbClr val="173D35"/>
          </a:solidFill>
          <a:ln w="10160">
            <a:solidFill>
              <a:srgbClr val="173D35">
                <a:alpha val="0"/>
              </a:srgbClr>
            </a:solidFill>
            <a:prstDash val="solid"/>
          </a:ln>
        </p:spPr>
      </p:sp>
      <p:sp>
        <p:nvSpPr>
          <p:cNvPr id="20" name="Text 18"/>
          <p:cNvSpPr/>
          <p:nvPr/>
        </p:nvSpPr>
        <p:spPr>
          <a:xfrm>
            <a:off x="987552" y="5550408"/>
            <a:ext cx="301752"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Aptos" pitchFamily="34" charset="0"/>
                <a:ea typeface="Aptos" pitchFamily="34" charset="-122"/>
                <a:cs typeface="Aptos" pitchFamily="34" charset="-120"/>
              </a:rPr>
              <a:t>EN</a:t>
            </a:r>
            <a:endParaRPr lang="en-US" sz="900" dirty="0"/>
          </a:p>
        </p:txBody>
      </p:sp>
      <p:sp>
        <p:nvSpPr>
          <p:cNvPr id="21" name="Shape 19"/>
          <p:cNvSpPr/>
          <p:nvPr/>
        </p:nvSpPr>
        <p:spPr>
          <a:xfrm>
            <a:off x="1527048" y="5541264"/>
            <a:ext cx="484632" cy="310896"/>
          </a:xfrm>
          <a:prstGeom prst="roundRect">
            <a:avLst>
              <a:gd name="adj" fmla="val 38235"/>
            </a:avLst>
          </a:prstGeom>
          <a:solidFill>
            <a:srgbClr val="E5EFE8"/>
          </a:solidFill>
          <a:ln w="10160">
            <a:solidFill>
              <a:srgbClr val="E5EFE8">
                <a:alpha val="0"/>
              </a:srgbClr>
            </a:solidFill>
            <a:prstDash val="solid"/>
          </a:ln>
        </p:spPr>
      </p:sp>
      <p:sp>
        <p:nvSpPr>
          <p:cNvPr id="22" name="Text 20"/>
          <p:cNvSpPr/>
          <p:nvPr/>
        </p:nvSpPr>
        <p:spPr>
          <a:xfrm>
            <a:off x="1618488" y="5550408"/>
            <a:ext cx="301752"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HI</a:t>
            </a:r>
            <a:endParaRPr lang="en-US" sz="900" dirty="0"/>
          </a:p>
        </p:txBody>
      </p:sp>
      <p:sp>
        <p:nvSpPr>
          <p:cNvPr id="23" name="Shape 21"/>
          <p:cNvSpPr/>
          <p:nvPr/>
        </p:nvSpPr>
        <p:spPr>
          <a:xfrm>
            <a:off x="2157984" y="5541264"/>
            <a:ext cx="484632" cy="310896"/>
          </a:xfrm>
          <a:prstGeom prst="roundRect">
            <a:avLst>
              <a:gd name="adj" fmla="val 38235"/>
            </a:avLst>
          </a:prstGeom>
          <a:solidFill>
            <a:srgbClr val="E5EFE8"/>
          </a:solidFill>
          <a:ln w="10160">
            <a:solidFill>
              <a:srgbClr val="E5EFE8">
                <a:alpha val="0"/>
              </a:srgbClr>
            </a:solidFill>
            <a:prstDash val="solid"/>
          </a:ln>
        </p:spPr>
      </p:sp>
      <p:sp>
        <p:nvSpPr>
          <p:cNvPr id="24" name="Text 22"/>
          <p:cNvSpPr/>
          <p:nvPr/>
        </p:nvSpPr>
        <p:spPr>
          <a:xfrm>
            <a:off x="2249424" y="5550408"/>
            <a:ext cx="301752"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KN</a:t>
            </a:r>
            <a:endParaRPr lang="en-US" sz="900" dirty="0"/>
          </a:p>
        </p:txBody>
      </p:sp>
      <p:sp>
        <p:nvSpPr>
          <p:cNvPr id="25" name="Shape 23"/>
          <p:cNvSpPr/>
          <p:nvPr/>
        </p:nvSpPr>
        <p:spPr>
          <a:xfrm>
            <a:off x="2788920" y="5541264"/>
            <a:ext cx="484632" cy="310896"/>
          </a:xfrm>
          <a:prstGeom prst="roundRect">
            <a:avLst>
              <a:gd name="adj" fmla="val 38235"/>
            </a:avLst>
          </a:prstGeom>
          <a:solidFill>
            <a:srgbClr val="E5EFE8"/>
          </a:solidFill>
          <a:ln w="10160">
            <a:solidFill>
              <a:srgbClr val="E5EFE8">
                <a:alpha val="0"/>
              </a:srgbClr>
            </a:solidFill>
            <a:prstDash val="solid"/>
          </a:ln>
        </p:spPr>
      </p:sp>
      <p:sp>
        <p:nvSpPr>
          <p:cNvPr id="26" name="Text 24"/>
          <p:cNvSpPr/>
          <p:nvPr/>
        </p:nvSpPr>
        <p:spPr>
          <a:xfrm>
            <a:off x="2880360" y="5550408"/>
            <a:ext cx="301752"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TA</a:t>
            </a:r>
            <a:endParaRPr lang="en-US" sz="900" dirty="0"/>
          </a:p>
        </p:txBody>
      </p:sp>
      <p:sp>
        <p:nvSpPr>
          <p:cNvPr id="27" name="Shape 25"/>
          <p:cNvSpPr/>
          <p:nvPr/>
        </p:nvSpPr>
        <p:spPr>
          <a:xfrm>
            <a:off x="3419856" y="5541264"/>
            <a:ext cx="484632" cy="310896"/>
          </a:xfrm>
          <a:prstGeom prst="roundRect">
            <a:avLst>
              <a:gd name="adj" fmla="val 38235"/>
            </a:avLst>
          </a:prstGeom>
          <a:solidFill>
            <a:srgbClr val="E5EFE8"/>
          </a:solidFill>
          <a:ln w="10160">
            <a:solidFill>
              <a:srgbClr val="E5EFE8">
                <a:alpha val="0"/>
              </a:srgbClr>
            </a:solidFill>
            <a:prstDash val="solid"/>
          </a:ln>
        </p:spPr>
      </p:sp>
      <p:sp>
        <p:nvSpPr>
          <p:cNvPr id="28" name="Text 26"/>
          <p:cNvSpPr/>
          <p:nvPr/>
        </p:nvSpPr>
        <p:spPr>
          <a:xfrm>
            <a:off x="3511296" y="5550408"/>
            <a:ext cx="301752"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TE</a:t>
            </a:r>
            <a:endParaRPr lang="en-US" sz="900" dirty="0"/>
          </a:p>
        </p:txBody>
      </p:sp>
      <p:sp>
        <p:nvSpPr>
          <p:cNvPr id="29" name="Shape 27"/>
          <p:cNvSpPr/>
          <p:nvPr/>
        </p:nvSpPr>
        <p:spPr>
          <a:xfrm>
            <a:off x="7360920" y="1755648"/>
            <a:ext cx="4169664" cy="4343400"/>
          </a:xfrm>
          <a:prstGeom prst="roundRect">
            <a:avLst>
              <a:gd name="adj" fmla="val 2851"/>
            </a:avLst>
          </a:prstGeom>
          <a:solidFill>
            <a:srgbClr val="E5EFE8"/>
          </a:solidFill>
          <a:ln w="10160">
            <a:solidFill>
              <a:srgbClr val="E5EFE8">
                <a:alpha val="0"/>
              </a:srgbClr>
            </a:solidFill>
            <a:prstDash val="solid"/>
          </a:ln>
        </p:spPr>
      </p:sp>
      <p:sp>
        <p:nvSpPr>
          <p:cNvPr id="30" name="Shape 28"/>
          <p:cNvSpPr/>
          <p:nvPr/>
        </p:nvSpPr>
        <p:spPr>
          <a:xfrm>
            <a:off x="7360920" y="1901952"/>
            <a:ext cx="50292" cy="4050792"/>
          </a:xfrm>
          <a:prstGeom prst="roundRect">
            <a:avLst>
              <a:gd name="adj" fmla="val 36364"/>
            </a:avLst>
          </a:prstGeom>
          <a:solidFill>
            <a:srgbClr val="2E8069"/>
          </a:solidFill>
          <a:ln w="10160">
            <a:solidFill>
              <a:srgbClr val="2E8069">
                <a:alpha val="0"/>
              </a:srgbClr>
            </a:solidFill>
            <a:prstDash val="solid"/>
          </a:ln>
        </p:spPr>
      </p:sp>
      <p:sp>
        <p:nvSpPr>
          <p:cNvPr id="31" name="Text 29"/>
          <p:cNvSpPr/>
          <p:nvPr/>
        </p:nvSpPr>
        <p:spPr>
          <a:xfrm>
            <a:off x="7699248" y="2084832"/>
            <a:ext cx="3474720" cy="320040"/>
          </a:xfrm>
          <a:prstGeom prst="rect">
            <a:avLst/>
          </a:prstGeom>
          <a:noFill/>
          <a:ln/>
        </p:spPr>
        <p:txBody>
          <a:bodyPr wrap="square" lIns="0" tIns="0" rIns="0" bIns="0" rtlCol="0" anchor="ctr">
            <a:normAutofit/>
          </a:bodyPr>
          <a:lstStyle/>
          <a:p>
            <a:pPr algn="l" indent="0" marL="0">
              <a:buNone/>
            </a:pPr>
            <a:r>
              <a:rPr lang="en-US" sz="2000" b="1" dirty="0">
                <a:solidFill>
                  <a:srgbClr val="182D2A"/>
                </a:solidFill>
                <a:latin typeface="Georgia" pitchFamily="34" charset="0"/>
                <a:ea typeface="Georgia" pitchFamily="34" charset="-122"/>
                <a:cs typeface="Georgia" pitchFamily="34" charset="-120"/>
              </a:rPr>
              <a:t>A bounded online sample</a:t>
            </a:r>
            <a:endParaRPr lang="en-US" sz="2000" dirty="0"/>
          </a:p>
        </p:txBody>
      </p:sp>
      <p:sp>
        <p:nvSpPr>
          <p:cNvPr id="32" name="Shape 30"/>
          <p:cNvSpPr/>
          <p:nvPr/>
        </p:nvSpPr>
        <p:spPr>
          <a:xfrm>
            <a:off x="7708392" y="2715768"/>
            <a:ext cx="155448" cy="155448"/>
          </a:xfrm>
          <a:prstGeom prst="ellipse">
            <a:avLst/>
          </a:prstGeom>
          <a:solidFill>
            <a:srgbClr val="E7A54A"/>
          </a:solidFill>
          <a:ln w="12700">
            <a:solidFill>
              <a:srgbClr val="E7A54A">
                <a:alpha val="0"/>
              </a:srgbClr>
            </a:solidFill>
            <a:prstDash val="solid"/>
          </a:ln>
        </p:spPr>
      </p:sp>
      <p:sp>
        <p:nvSpPr>
          <p:cNvPr id="33" name="Text 31"/>
          <p:cNvSpPr/>
          <p:nvPr/>
        </p:nvSpPr>
        <p:spPr>
          <a:xfrm>
            <a:off x="8010144" y="2688336"/>
            <a:ext cx="3044952" cy="228600"/>
          </a:xfrm>
          <a:prstGeom prst="rect">
            <a:avLst/>
          </a:prstGeom>
          <a:noFill/>
          <a:ln/>
        </p:spPr>
        <p:txBody>
          <a:bodyPr wrap="square" lIns="0" tIns="0" rIns="0" bIns="0" rtlCol="0" anchor="ctr">
            <a:normAutofit/>
          </a:bodyPr>
          <a:lstStyle/>
          <a:p>
            <a:pPr algn="l" indent="0" marL="0">
              <a:buNone/>
            </a:pPr>
            <a:r>
              <a:rPr lang="en-US" sz="1200" b="1" dirty="0">
                <a:solidFill>
                  <a:srgbClr val="182D2A"/>
                </a:solidFill>
                <a:latin typeface="Aptos" pitchFamily="34" charset="0"/>
                <a:ea typeface="Aptos" pitchFamily="34" charset="-122"/>
                <a:cs typeface="Aptos" pitchFamily="34" charset="-120"/>
              </a:rPr>
              <a:t>Google News RSS + Bing News RSS</a:t>
            </a:r>
            <a:endParaRPr lang="en-US" sz="1200" dirty="0"/>
          </a:p>
        </p:txBody>
      </p:sp>
      <p:sp>
        <p:nvSpPr>
          <p:cNvPr id="34" name="Shape 32"/>
          <p:cNvSpPr/>
          <p:nvPr/>
        </p:nvSpPr>
        <p:spPr>
          <a:xfrm>
            <a:off x="7708392" y="3246120"/>
            <a:ext cx="155448" cy="155448"/>
          </a:xfrm>
          <a:prstGeom prst="ellipse">
            <a:avLst/>
          </a:prstGeom>
          <a:solidFill>
            <a:srgbClr val="2E8069"/>
          </a:solidFill>
          <a:ln w="12700">
            <a:solidFill>
              <a:srgbClr val="2E8069">
                <a:alpha val="0"/>
              </a:srgbClr>
            </a:solidFill>
            <a:prstDash val="solid"/>
          </a:ln>
        </p:spPr>
      </p:sp>
      <p:sp>
        <p:nvSpPr>
          <p:cNvPr id="35" name="Text 33"/>
          <p:cNvSpPr/>
          <p:nvPr/>
        </p:nvSpPr>
        <p:spPr>
          <a:xfrm>
            <a:off x="8010144" y="3218688"/>
            <a:ext cx="3044952" cy="228600"/>
          </a:xfrm>
          <a:prstGeom prst="rect">
            <a:avLst/>
          </a:prstGeom>
          <a:noFill/>
          <a:ln/>
        </p:spPr>
        <p:txBody>
          <a:bodyPr wrap="square" lIns="0" tIns="0" rIns="0" bIns="0" rtlCol="0" anchor="ctr">
            <a:normAutofit/>
          </a:bodyPr>
          <a:lstStyle/>
          <a:p>
            <a:pPr algn="l" indent="0" marL="0">
              <a:buNone/>
            </a:pPr>
            <a:r>
              <a:rPr lang="en-US" sz="1200" dirty="0">
                <a:solidFill>
                  <a:srgbClr val="182D2A"/>
                </a:solidFill>
                <a:latin typeface="Aptos" pitchFamily="34" charset="0"/>
                <a:ea typeface="Aptos" pitchFamily="34" charset="-122"/>
                <a:cs typeface="Aptos" pitchFamily="34" charset="-120"/>
              </a:rPr>
              <a:t>Selected dates and languages</a:t>
            </a:r>
            <a:endParaRPr lang="en-US" sz="1200" dirty="0"/>
          </a:p>
        </p:txBody>
      </p:sp>
      <p:sp>
        <p:nvSpPr>
          <p:cNvPr id="36" name="Shape 34"/>
          <p:cNvSpPr/>
          <p:nvPr/>
        </p:nvSpPr>
        <p:spPr>
          <a:xfrm>
            <a:off x="7708392" y="3776472"/>
            <a:ext cx="155448" cy="155448"/>
          </a:xfrm>
          <a:prstGeom prst="ellipse">
            <a:avLst/>
          </a:prstGeom>
          <a:solidFill>
            <a:srgbClr val="2E8069"/>
          </a:solidFill>
          <a:ln w="12700">
            <a:solidFill>
              <a:srgbClr val="2E8069">
                <a:alpha val="0"/>
              </a:srgbClr>
            </a:solidFill>
            <a:prstDash val="solid"/>
          </a:ln>
        </p:spPr>
      </p:sp>
      <p:sp>
        <p:nvSpPr>
          <p:cNvPr id="37" name="Text 35"/>
          <p:cNvSpPr/>
          <p:nvPr/>
        </p:nvSpPr>
        <p:spPr>
          <a:xfrm>
            <a:off x="8010144" y="3749040"/>
            <a:ext cx="3044952" cy="228600"/>
          </a:xfrm>
          <a:prstGeom prst="rect">
            <a:avLst/>
          </a:prstGeom>
          <a:noFill/>
          <a:ln/>
        </p:spPr>
        <p:txBody>
          <a:bodyPr wrap="square" lIns="0" tIns="0" rIns="0" bIns="0" rtlCol="0" anchor="ctr">
            <a:normAutofit/>
          </a:bodyPr>
          <a:lstStyle/>
          <a:p>
            <a:pPr algn="l" indent="0" marL="0">
              <a:buNone/>
            </a:pPr>
            <a:r>
              <a:rPr lang="en-US" sz="1200" dirty="0">
                <a:solidFill>
                  <a:srgbClr val="182D2A"/>
                </a:solidFill>
                <a:latin typeface="Aptos" pitchFamily="34" charset="0"/>
                <a:ea typeface="Aptos" pitchFamily="34" charset="-122"/>
                <a:cs typeface="Aptos" pitchFamily="34" charset="-120"/>
              </a:rPr>
              <a:t>Optional source-domain filter</a:t>
            </a:r>
            <a:endParaRPr lang="en-US" sz="1200" dirty="0"/>
          </a:p>
        </p:txBody>
      </p:sp>
      <p:sp>
        <p:nvSpPr>
          <p:cNvPr id="38" name="Shape 36"/>
          <p:cNvSpPr/>
          <p:nvPr/>
        </p:nvSpPr>
        <p:spPr>
          <a:xfrm>
            <a:off x="7708392" y="4306824"/>
            <a:ext cx="155448" cy="155448"/>
          </a:xfrm>
          <a:prstGeom prst="ellipse">
            <a:avLst/>
          </a:prstGeom>
          <a:solidFill>
            <a:srgbClr val="2E8069"/>
          </a:solidFill>
          <a:ln w="12700">
            <a:solidFill>
              <a:srgbClr val="2E8069">
                <a:alpha val="0"/>
              </a:srgbClr>
            </a:solidFill>
            <a:prstDash val="solid"/>
          </a:ln>
        </p:spPr>
      </p:sp>
      <p:sp>
        <p:nvSpPr>
          <p:cNvPr id="39" name="Text 37"/>
          <p:cNvSpPr/>
          <p:nvPr/>
        </p:nvSpPr>
        <p:spPr>
          <a:xfrm>
            <a:off x="8010144" y="4279392"/>
            <a:ext cx="3044952" cy="228600"/>
          </a:xfrm>
          <a:prstGeom prst="rect">
            <a:avLst/>
          </a:prstGeom>
          <a:noFill/>
          <a:ln/>
        </p:spPr>
        <p:txBody>
          <a:bodyPr wrap="square" lIns="0" tIns="0" rIns="0" bIns="0" rtlCol="0" anchor="ctr">
            <a:normAutofit/>
          </a:bodyPr>
          <a:lstStyle/>
          <a:p>
            <a:pPr algn="l" indent="0" marL="0">
              <a:buNone/>
            </a:pPr>
            <a:r>
              <a:rPr lang="en-US" sz="1200" dirty="0">
                <a:solidFill>
                  <a:srgbClr val="182D2A"/>
                </a:solidFill>
                <a:latin typeface="Aptos" pitchFamily="34" charset="0"/>
                <a:ea typeface="Aptos" pitchFamily="34" charset="-122"/>
                <a:cs typeface="Aptos" pitchFamily="34" charset="-120"/>
              </a:rPr>
              <a:t>Small per-language result cap</a:t>
            </a:r>
            <a:endParaRPr lang="en-US" sz="1200" dirty="0"/>
          </a:p>
        </p:txBody>
      </p:sp>
      <p:sp>
        <p:nvSpPr>
          <p:cNvPr id="40" name="Shape 38"/>
          <p:cNvSpPr/>
          <p:nvPr/>
        </p:nvSpPr>
        <p:spPr>
          <a:xfrm>
            <a:off x="7699248" y="5001768"/>
            <a:ext cx="3401568" cy="694944"/>
          </a:xfrm>
          <a:prstGeom prst="roundRect">
            <a:avLst>
              <a:gd name="adj" fmla="val 14474"/>
            </a:avLst>
          </a:prstGeom>
          <a:solidFill>
            <a:srgbClr val="FFFFFF"/>
          </a:solidFill>
          <a:ln w="10160">
            <a:solidFill>
              <a:srgbClr val="FFFFFF">
                <a:alpha val="0"/>
              </a:srgbClr>
            </a:solidFill>
            <a:prstDash val="solid"/>
          </a:ln>
        </p:spPr>
      </p:sp>
      <p:sp>
        <p:nvSpPr>
          <p:cNvPr id="41" name="Text 39"/>
          <p:cNvSpPr/>
          <p:nvPr/>
        </p:nvSpPr>
        <p:spPr>
          <a:xfrm>
            <a:off x="7882128" y="5129784"/>
            <a:ext cx="1371600" cy="201168"/>
          </a:xfrm>
          <a:prstGeom prst="rect">
            <a:avLst/>
          </a:prstGeom>
          <a:noFill/>
          <a:ln/>
        </p:spPr>
        <p:txBody>
          <a:bodyPr wrap="square" lIns="0" tIns="0" rIns="0" bIns="0" rtlCol="0" anchor="ctr">
            <a:normAutofit/>
          </a:bodyPr>
          <a:lstStyle/>
          <a:p>
            <a:pPr algn="l" indent="0" marL="0">
              <a:buNone/>
            </a:pPr>
            <a:r>
              <a:rPr lang="en-US" sz="1100" b="1" dirty="0">
                <a:solidFill>
                  <a:srgbClr val="C8734E"/>
                </a:solidFill>
                <a:latin typeface="Aptos" pitchFamily="34" charset="0"/>
                <a:ea typeface="Aptos" pitchFamily="34" charset="-122"/>
                <a:cs typeface="Aptos" pitchFamily="34" charset="-120"/>
              </a:rPr>
              <a:t>Not exhaustive</a:t>
            </a:r>
            <a:endParaRPr lang="en-US" sz="1100" dirty="0"/>
          </a:p>
        </p:txBody>
      </p:sp>
      <p:sp>
        <p:nvSpPr>
          <p:cNvPr id="42" name="Text 40"/>
          <p:cNvSpPr/>
          <p:nvPr/>
        </p:nvSpPr>
        <p:spPr>
          <a:xfrm>
            <a:off x="7882128" y="5394960"/>
            <a:ext cx="2926080" cy="182880"/>
          </a:xfrm>
          <a:prstGeom prst="rect">
            <a:avLst/>
          </a:prstGeom>
          <a:noFill/>
          <a:ln/>
        </p:spPr>
        <p:txBody>
          <a:bodyPr wrap="square" lIns="0" tIns="0" rIns="0" bIns="0" rtlCol="0" anchor="ctr">
            <a:normAutofit/>
          </a:bodyPr>
          <a:lstStyle/>
          <a:p>
            <a:pPr algn="l" indent="0" marL="0">
              <a:buNone/>
            </a:pPr>
            <a:r>
              <a:rPr lang="en-US" sz="1000" dirty="0">
                <a:solidFill>
                  <a:srgbClr val="64766E"/>
                </a:solidFill>
                <a:latin typeface="Aptos" pitchFamily="34" charset="0"/>
                <a:ea typeface="Aptos" pitchFamily="34" charset="-122"/>
                <a:cs typeface="Aptos" pitchFamily="34" charset="-120"/>
              </a:rPr>
              <a:t>Search providers and publisher access limit recall.</a:t>
            </a:r>
            <a:endParaRPr lang="en-US" sz="100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04 / END-TO-END WORKFLOW</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From search prompt to inspectable comparison</a:t>
            </a:r>
            <a:endParaRPr lang="en-US" sz="3000" dirty="0"/>
          </a:p>
        </p:txBody>
      </p:sp>
      <p:sp>
        <p:nvSpPr>
          <p:cNvPr id="4" name="Text 2"/>
          <p:cNvSpPr/>
          <p:nvPr/>
        </p:nvSpPr>
        <p:spPr>
          <a:xfrm>
            <a:off x="548640" y="1298448"/>
            <a:ext cx="10789920" cy="329184"/>
          </a:xfrm>
          <a:prstGeom prst="rect">
            <a:avLst/>
          </a:prstGeom>
          <a:noFill/>
          <a:ln/>
        </p:spPr>
        <p:txBody>
          <a:bodyPr wrap="square" lIns="0" tIns="0" rIns="0" bIns="0" rtlCol="0" anchor="t">
            <a:normAutofit/>
          </a:bodyPr>
          <a:lstStyle/>
          <a:p>
            <a:pPr algn="l" indent="0" marL="0">
              <a:buNone/>
            </a:pPr>
            <a:r>
              <a:rPr lang="en-US" sz="1350" dirty="0">
                <a:solidFill>
                  <a:srgbClr val="64766E"/>
                </a:solidFill>
                <a:latin typeface="Aptos" pitchFamily="34" charset="0"/>
                <a:ea typeface="Aptos" pitchFamily="34" charset="-122"/>
                <a:cs typeface="Aptos" pitchFamily="34" charset="-120"/>
              </a:rPr>
              <a:t>Every processing stage writes records that downstream screens can trace.</a:t>
            </a:r>
            <a:endParaRPr lang="en-US" sz="1350" dirty="0"/>
          </a:p>
        </p:txBody>
      </p:sp>
      <p:sp>
        <p:nvSpPr>
          <p:cNvPr id="5" name="Shape 3"/>
          <p:cNvSpPr/>
          <p:nvPr/>
        </p:nvSpPr>
        <p:spPr>
          <a:xfrm>
            <a:off x="1362456" y="2807208"/>
            <a:ext cx="1078992" cy="0"/>
          </a:xfrm>
          <a:prstGeom prst="line">
            <a:avLst/>
          </a:prstGeom>
          <a:noFill/>
          <a:ln w="27940">
            <a:solidFill>
              <a:srgbClr val="D9DFD7"/>
            </a:solidFill>
            <a:prstDash val="solid"/>
            <a:headEnd type="none"/>
            <a:tailEnd type="none"/>
          </a:ln>
        </p:spPr>
      </p:sp>
      <p:sp>
        <p:nvSpPr>
          <p:cNvPr id="6" name="Shape 4"/>
          <p:cNvSpPr/>
          <p:nvPr/>
        </p:nvSpPr>
        <p:spPr>
          <a:xfrm>
            <a:off x="795528" y="2313432"/>
            <a:ext cx="822960" cy="822960"/>
          </a:xfrm>
          <a:prstGeom prst="ellipse">
            <a:avLst/>
          </a:prstGeom>
          <a:solidFill>
            <a:srgbClr val="E7A54A"/>
          </a:solidFill>
          <a:ln w="12700">
            <a:solidFill>
              <a:srgbClr val="E7A54A">
                <a:alpha val="0"/>
              </a:srgbClr>
            </a:solidFill>
            <a:prstDash val="solid"/>
          </a:ln>
        </p:spPr>
      </p:sp>
      <p:sp>
        <p:nvSpPr>
          <p:cNvPr id="7" name="Text 5"/>
          <p:cNvSpPr/>
          <p:nvPr/>
        </p:nvSpPr>
        <p:spPr>
          <a:xfrm>
            <a:off x="795528" y="2532888"/>
            <a:ext cx="822960" cy="2743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Georgia" pitchFamily="34" charset="0"/>
                <a:ea typeface="Georgia" pitchFamily="34" charset="-122"/>
                <a:cs typeface="Georgia" pitchFamily="34" charset="-120"/>
              </a:rPr>
              <a:t>01</a:t>
            </a:r>
            <a:endParaRPr lang="en-US" sz="1700" dirty="0"/>
          </a:p>
        </p:txBody>
      </p:sp>
      <p:sp>
        <p:nvSpPr>
          <p:cNvPr id="8" name="Text 6"/>
          <p:cNvSpPr/>
          <p:nvPr/>
        </p:nvSpPr>
        <p:spPr>
          <a:xfrm>
            <a:off x="530352" y="3364992"/>
            <a:ext cx="1389888" cy="210312"/>
          </a:xfrm>
          <a:prstGeom prst="rect">
            <a:avLst/>
          </a:prstGeom>
          <a:noFill/>
          <a:ln/>
        </p:spPr>
        <p:txBody>
          <a:bodyPr wrap="square" lIns="0" tIns="0" rIns="0" bIns="0" rtlCol="0" anchor="ctr">
            <a:normAutofit/>
          </a:bodyPr>
          <a:lstStyle/>
          <a:p>
            <a:pPr algn="ctr" indent="0" marL="0">
              <a:buNone/>
            </a:pPr>
            <a:r>
              <a:rPr lang="en-US" sz="1000" b="1" spc="60" kern="0" dirty="0">
                <a:solidFill>
                  <a:srgbClr val="E7A54A"/>
                </a:solidFill>
                <a:latin typeface="Aptos" pitchFamily="34" charset="0"/>
                <a:ea typeface="Aptos" pitchFamily="34" charset="-122"/>
                <a:cs typeface="Aptos" pitchFamily="34" charset="-120"/>
              </a:rPr>
              <a:t>DISCOVER</a:t>
            </a:r>
            <a:endParaRPr lang="en-US" sz="1000" dirty="0"/>
          </a:p>
        </p:txBody>
      </p:sp>
      <p:sp>
        <p:nvSpPr>
          <p:cNvPr id="9" name="Text 7"/>
          <p:cNvSpPr/>
          <p:nvPr/>
        </p:nvSpPr>
        <p:spPr>
          <a:xfrm>
            <a:off x="347472" y="3721608"/>
            <a:ext cx="1737360" cy="694944"/>
          </a:xfrm>
          <a:prstGeom prst="rect">
            <a:avLst/>
          </a:prstGeom>
          <a:noFill/>
          <a:ln/>
        </p:spPr>
        <p:txBody>
          <a:bodyPr wrap="square" lIns="0" tIns="0" rIns="0" bIns="0" rtlCol="0" anchor="t">
            <a:normAutofit/>
          </a:bodyPr>
          <a:lstStyle/>
          <a:p>
            <a:pPr algn="ctr" indent="0" marL="0">
              <a:buNone/>
            </a:pPr>
            <a:r>
              <a:rPr lang="en-US" sz="1200" dirty="0">
                <a:solidFill>
                  <a:srgbClr val="182D2A"/>
                </a:solidFill>
                <a:latin typeface="Aptos" pitchFamily="34" charset="0"/>
                <a:ea typeface="Aptos" pitchFamily="34" charset="-122"/>
                <a:cs typeface="Aptos" pitchFamily="34" charset="-120"/>
              </a:rPr>
              <a:t>News feeds, RSS, URL, JSON / CSV</a:t>
            </a:r>
            <a:endParaRPr lang="en-US" sz="1200" dirty="0"/>
          </a:p>
        </p:txBody>
      </p:sp>
      <p:sp>
        <p:nvSpPr>
          <p:cNvPr id="10" name="Shape 8"/>
          <p:cNvSpPr/>
          <p:nvPr/>
        </p:nvSpPr>
        <p:spPr>
          <a:xfrm>
            <a:off x="3255264" y="2807208"/>
            <a:ext cx="1078992" cy="0"/>
          </a:xfrm>
          <a:prstGeom prst="line">
            <a:avLst/>
          </a:prstGeom>
          <a:noFill/>
          <a:ln w="27940">
            <a:solidFill>
              <a:srgbClr val="D9DFD7"/>
            </a:solidFill>
            <a:prstDash val="solid"/>
            <a:headEnd type="none"/>
            <a:tailEnd type="none"/>
          </a:ln>
        </p:spPr>
      </p:sp>
      <p:sp>
        <p:nvSpPr>
          <p:cNvPr id="11" name="Shape 9"/>
          <p:cNvSpPr/>
          <p:nvPr/>
        </p:nvSpPr>
        <p:spPr>
          <a:xfrm>
            <a:off x="2688336" y="2313432"/>
            <a:ext cx="822960" cy="822960"/>
          </a:xfrm>
          <a:prstGeom prst="ellipse">
            <a:avLst/>
          </a:prstGeom>
          <a:solidFill>
            <a:srgbClr val="2E8069"/>
          </a:solidFill>
          <a:ln w="12700">
            <a:solidFill>
              <a:srgbClr val="2E8069">
                <a:alpha val="0"/>
              </a:srgbClr>
            </a:solidFill>
            <a:prstDash val="solid"/>
          </a:ln>
        </p:spPr>
      </p:sp>
      <p:sp>
        <p:nvSpPr>
          <p:cNvPr id="12" name="Text 10"/>
          <p:cNvSpPr/>
          <p:nvPr/>
        </p:nvSpPr>
        <p:spPr>
          <a:xfrm>
            <a:off x="2688336" y="2532888"/>
            <a:ext cx="822960" cy="2743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Georgia" pitchFamily="34" charset="0"/>
                <a:ea typeface="Georgia" pitchFamily="34" charset="-122"/>
                <a:cs typeface="Georgia" pitchFamily="34" charset="-120"/>
              </a:rPr>
              <a:t>02</a:t>
            </a:r>
            <a:endParaRPr lang="en-US" sz="1700" dirty="0"/>
          </a:p>
        </p:txBody>
      </p:sp>
      <p:sp>
        <p:nvSpPr>
          <p:cNvPr id="13" name="Text 11"/>
          <p:cNvSpPr/>
          <p:nvPr/>
        </p:nvSpPr>
        <p:spPr>
          <a:xfrm>
            <a:off x="2423160" y="3364992"/>
            <a:ext cx="1389888" cy="210312"/>
          </a:xfrm>
          <a:prstGeom prst="rect">
            <a:avLst/>
          </a:prstGeom>
          <a:noFill/>
          <a:ln/>
        </p:spPr>
        <p:txBody>
          <a:bodyPr wrap="square" lIns="0" tIns="0" rIns="0" bIns="0" rtlCol="0" anchor="ctr">
            <a:normAutofit/>
          </a:bodyPr>
          <a:lstStyle/>
          <a:p>
            <a:pPr algn="ctr" indent="0" marL="0">
              <a:buNone/>
            </a:pPr>
            <a:r>
              <a:rPr lang="en-US" sz="1000" b="1" spc="60" kern="0" dirty="0">
                <a:solidFill>
                  <a:srgbClr val="2E8069"/>
                </a:solidFill>
                <a:latin typeface="Aptos" pitchFamily="34" charset="0"/>
                <a:ea typeface="Aptos" pitchFamily="34" charset="-122"/>
                <a:cs typeface="Aptos" pitchFamily="34" charset="-120"/>
              </a:rPr>
              <a:t>NORMALIZE</a:t>
            </a:r>
            <a:endParaRPr lang="en-US" sz="1000" dirty="0"/>
          </a:p>
        </p:txBody>
      </p:sp>
      <p:sp>
        <p:nvSpPr>
          <p:cNvPr id="14" name="Text 12"/>
          <p:cNvSpPr/>
          <p:nvPr/>
        </p:nvSpPr>
        <p:spPr>
          <a:xfrm>
            <a:off x="2240280" y="3721608"/>
            <a:ext cx="1737360" cy="694944"/>
          </a:xfrm>
          <a:prstGeom prst="rect">
            <a:avLst/>
          </a:prstGeom>
          <a:noFill/>
          <a:ln/>
        </p:spPr>
        <p:txBody>
          <a:bodyPr wrap="square" lIns="0" tIns="0" rIns="0" bIns="0" rtlCol="0" anchor="t">
            <a:normAutofit/>
          </a:bodyPr>
          <a:lstStyle/>
          <a:p>
            <a:pPr algn="ctr" indent="0" marL="0">
              <a:buNone/>
            </a:pPr>
            <a:r>
              <a:rPr lang="en-US" sz="1200" dirty="0">
                <a:solidFill>
                  <a:srgbClr val="182D2A"/>
                </a:solidFill>
                <a:latin typeface="Aptos" pitchFamily="34" charset="0"/>
                <a:ea typeface="Aptos" pitchFamily="34" charset="-122"/>
                <a:cs typeface="Aptos" pitchFamily="34" charset="-120"/>
              </a:rPr>
              <a:t>Text, language, dates, source, hash</a:t>
            </a:r>
            <a:endParaRPr lang="en-US" sz="1200" dirty="0"/>
          </a:p>
        </p:txBody>
      </p:sp>
      <p:sp>
        <p:nvSpPr>
          <p:cNvPr id="15" name="Shape 13"/>
          <p:cNvSpPr/>
          <p:nvPr/>
        </p:nvSpPr>
        <p:spPr>
          <a:xfrm>
            <a:off x="5148072" y="2807208"/>
            <a:ext cx="1078992" cy="0"/>
          </a:xfrm>
          <a:prstGeom prst="line">
            <a:avLst/>
          </a:prstGeom>
          <a:noFill/>
          <a:ln w="27940">
            <a:solidFill>
              <a:srgbClr val="D9DFD7"/>
            </a:solidFill>
            <a:prstDash val="solid"/>
            <a:headEnd type="none"/>
            <a:tailEnd type="none"/>
          </a:ln>
        </p:spPr>
      </p:sp>
      <p:sp>
        <p:nvSpPr>
          <p:cNvPr id="16" name="Shape 14"/>
          <p:cNvSpPr/>
          <p:nvPr/>
        </p:nvSpPr>
        <p:spPr>
          <a:xfrm>
            <a:off x="4581144" y="2313432"/>
            <a:ext cx="822960" cy="822960"/>
          </a:xfrm>
          <a:prstGeom prst="ellipse">
            <a:avLst/>
          </a:prstGeom>
          <a:solidFill>
            <a:srgbClr val="5B88A0"/>
          </a:solidFill>
          <a:ln w="12700">
            <a:solidFill>
              <a:srgbClr val="5B88A0">
                <a:alpha val="0"/>
              </a:srgbClr>
            </a:solidFill>
            <a:prstDash val="solid"/>
          </a:ln>
        </p:spPr>
      </p:sp>
      <p:sp>
        <p:nvSpPr>
          <p:cNvPr id="17" name="Text 15"/>
          <p:cNvSpPr/>
          <p:nvPr/>
        </p:nvSpPr>
        <p:spPr>
          <a:xfrm>
            <a:off x="4581144" y="2532888"/>
            <a:ext cx="822960" cy="2743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Georgia" pitchFamily="34" charset="0"/>
                <a:ea typeface="Georgia" pitchFamily="34" charset="-122"/>
                <a:cs typeface="Georgia" pitchFamily="34" charset="-120"/>
              </a:rPr>
              <a:t>03</a:t>
            </a:r>
            <a:endParaRPr lang="en-US" sz="1700" dirty="0"/>
          </a:p>
        </p:txBody>
      </p:sp>
      <p:sp>
        <p:nvSpPr>
          <p:cNvPr id="18" name="Text 16"/>
          <p:cNvSpPr/>
          <p:nvPr/>
        </p:nvSpPr>
        <p:spPr>
          <a:xfrm>
            <a:off x="4315968" y="3364992"/>
            <a:ext cx="1389888" cy="210312"/>
          </a:xfrm>
          <a:prstGeom prst="rect">
            <a:avLst/>
          </a:prstGeom>
          <a:noFill/>
          <a:ln/>
        </p:spPr>
        <p:txBody>
          <a:bodyPr wrap="square" lIns="0" tIns="0" rIns="0" bIns="0" rtlCol="0" anchor="ctr">
            <a:normAutofit/>
          </a:bodyPr>
          <a:lstStyle/>
          <a:p>
            <a:pPr algn="ctr" indent="0" marL="0">
              <a:buNone/>
            </a:pPr>
            <a:r>
              <a:rPr lang="en-US" sz="1000" b="1" spc="60" kern="0" dirty="0">
                <a:solidFill>
                  <a:srgbClr val="5B88A0"/>
                </a:solidFill>
                <a:latin typeface="Aptos" pitchFamily="34" charset="0"/>
                <a:ea typeface="Aptos" pitchFamily="34" charset="-122"/>
                <a:cs typeface="Aptos" pitchFamily="34" charset="-120"/>
              </a:rPr>
              <a:t>ANALYZE</a:t>
            </a:r>
            <a:endParaRPr lang="en-US" sz="1000" dirty="0"/>
          </a:p>
        </p:txBody>
      </p:sp>
      <p:sp>
        <p:nvSpPr>
          <p:cNvPr id="19" name="Text 17"/>
          <p:cNvSpPr/>
          <p:nvPr/>
        </p:nvSpPr>
        <p:spPr>
          <a:xfrm>
            <a:off x="4133088" y="3721608"/>
            <a:ext cx="1737360" cy="694944"/>
          </a:xfrm>
          <a:prstGeom prst="rect">
            <a:avLst/>
          </a:prstGeom>
          <a:noFill/>
          <a:ln/>
        </p:spPr>
        <p:txBody>
          <a:bodyPr wrap="square" lIns="0" tIns="0" rIns="0" bIns="0" rtlCol="0" anchor="t">
            <a:normAutofit/>
          </a:bodyPr>
          <a:lstStyle/>
          <a:p>
            <a:pPr algn="ctr" indent="0" marL="0">
              <a:buNone/>
            </a:pPr>
            <a:r>
              <a:rPr lang="en-US" sz="1200" dirty="0">
                <a:solidFill>
                  <a:srgbClr val="182D2A"/>
                </a:solidFill>
                <a:latin typeface="Aptos" pitchFamily="34" charset="0"/>
                <a:ea typeface="Aptos" pitchFamily="34" charset="-122"/>
                <a:cs typeface="Aptos" pitchFamily="34" charset="-120"/>
              </a:rPr>
              <a:t>Relevance, tone, stance, topics, evidence</a:t>
            </a:r>
            <a:endParaRPr lang="en-US" sz="1200" dirty="0"/>
          </a:p>
        </p:txBody>
      </p:sp>
      <p:sp>
        <p:nvSpPr>
          <p:cNvPr id="20" name="Shape 18"/>
          <p:cNvSpPr/>
          <p:nvPr/>
        </p:nvSpPr>
        <p:spPr>
          <a:xfrm>
            <a:off x="7040880" y="2807208"/>
            <a:ext cx="1078992" cy="0"/>
          </a:xfrm>
          <a:prstGeom prst="line">
            <a:avLst/>
          </a:prstGeom>
          <a:noFill/>
          <a:ln w="27940">
            <a:solidFill>
              <a:srgbClr val="D9DFD7"/>
            </a:solidFill>
            <a:prstDash val="solid"/>
            <a:headEnd type="none"/>
            <a:tailEnd type="none"/>
          </a:ln>
        </p:spPr>
      </p:sp>
      <p:sp>
        <p:nvSpPr>
          <p:cNvPr id="21" name="Shape 19"/>
          <p:cNvSpPr/>
          <p:nvPr/>
        </p:nvSpPr>
        <p:spPr>
          <a:xfrm>
            <a:off x="6473952" y="2313432"/>
            <a:ext cx="822960" cy="822960"/>
          </a:xfrm>
          <a:prstGeom prst="ellipse">
            <a:avLst/>
          </a:prstGeom>
          <a:solidFill>
            <a:srgbClr val="8A7EAA"/>
          </a:solidFill>
          <a:ln w="12700">
            <a:solidFill>
              <a:srgbClr val="8A7EAA">
                <a:alpha val="0"/>
              </a:srgbClr>
            </a:solidFill>
            <a:prstDash val="solid"/>
          </a:ln>
        </p:spPr>
      </p:sp>
      <p:sp>
        <p:nvSpPr>
          <p:cNvPr id="22" name="Text 20"/>
          <p:cNvSpPr/>
          <p:nvPr/>
        </p:nvSpPr>
        <p:spPr>
          <a:xfrm>
            <a:off x="6473952" y="2532888"/>
            <a:ext cx="822960" cy="2743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Georgia" pitchFamily="34" charset="0"/>
                <a:ea typeface="Georgia" pitchFamily="34" charset="-122"/>
                <a:cs typeface="Georgia" pitchFamily="34" charset="-120"/>
              </a:rPr>
              <a:t>04</a:t>
            </a:r>
            <a:endParaRPr lang="en-US" sz="1700" dirty="0"/>
          </a:p>
        </p:txBody>
      </p:sp>
      <p:sp>
        <p:nvSpPr>
          <p:cNvPr id="23" name="Text 21"/>
          <p:cNvSpPr/>
          <p:nvPr/>
        </p:nvSpPr>
        <p:spPr>
          <a:xfrm>
            <a:off x="6208776" y="3364992"/>
            <a:ext cx="1389888" cy="210312"/>
          </a:xfrm>
          <a:prstGeom prst="rect">
            <a:avLst/>
          </a:prstGeom>
          <a:noFill/>
          <a:ln/>
        </p:spPr>
        <p:txBody>
          <a:bodyPr wrap="square" lIns="0" tIns="0" rIns="0" bIns="0" rtlCol="0" anchor="ctr">
            <a:normAutofit/>
          </a:bodyPr>
          <a:lstStyle/>
          <a:p>
            <a:pPr algn="ctr" indent="0" marL="0">
              <a:buNone/>
            </a:pPr>
            <a:r>
              <a:rPr lang="en-US" sz="1000" b="1" spc="60" kern="0" dirty="0">
                <a:solidFill>
                  <a:srgbClr val="8A7EAA"/>
                </a:solidFill>
                <a:latin typeface="Aptos" pitchFamily="34" charset="0"/>
                <a:ea typeface="Aptos" pitchFamily="34" charset="-122"/>
                <a:cs typeface="Aptos" pitchFamily="34" charset="-120"/>
              </a:rPr>
              <a:t>GROUP</a:t>
            </a:r>
            <a:endParaRPr lang="en-US" sz="1000" dirty="0"/>
          </a:p>
        </p:txBody>
      </p:sp>
      <p:sp>
        <p:nvSpPr>
          <p:cNvPr id="24" name="Text 22"/>
          <p:cNvSpPr/>
          <p:nvPr/>
        </p:nvSpPr>
        <p:spPr>
          <a:xfrm>
            <a:off x="6025896" y="3721608"/>
            <a:ext cx="1737360" cy="694944"/>
          </a:xfrm>
          <a:prstGeom prst="rect">
            <a:avLst/>
          </a:prstGeom>
          <a:noFill/>
          <a:ln/>
        </p:spPr>
        <p:txBody>
          <a:bodyPr wrap="square" lIns="0" tIns="0" rIns="0" bIns="0" rtlCol="0" anchor="t">
            <a:normAutofit/>
          </a:bodyPr>
          <a:lstStyle/>
          <a:p>
            <a:pPr algn="ctr" indent="0" marL="0">
              <a:buNone/>
            </a:pPr>
            <a:r>
              <a:rPr lang="en-US" sz="1200" dirty="0">
                <a:solidFill>
                  <a:srgbClr val="182D2A"/>
                </a:solidFill>
                <a:latin typeface="Aptos" pitchFamily="34" charset="0"/>
                <a:ea typeface="Aptos" pitchFamily="34" charset="-122"/>
                <a:cs typeface="Aptos" pitchFamily="34" charset="-120"/>
              </a:rPr>
              <a:t>Candidate story set + article links</a:t>
            </a:r>
            <a:endParaRPr lang="en-US" sz="1200" dirty="0"/>
          </a:p>
        </p:txBody>
      </p:sp>
      <p:sp>
        <p:nvSpPr>
          <p:cNvPr id="25" name="Shape 23"/>
          <p:cNvSpPr/>
          <p:nvPr/>
        </p:nvSpPr>
        <p:spPr>
          <a:xfrm>
            <a:off x="8933688" y="2807208"/>
            <a:ext cx="1078992" cy="0"/>
          </a:xfrm>
          <a:prstGeom prst="line">
            <a:avLst/>
          </a:prstGeom>
          <a:noFill/>
          <a:ln w="27940">
            <a:solidFill>
              <a:srgbClr val="D9DFD7"/>
            </a:solidFill>
            <a:prstDash val="solid"/>
            <a:headEnd type="none"/>
            <a:tailEnd type="none"/>
          </a:ln>
        </p:spPr>
      </p:sp>
      <p:sp>
        <p:nvSpPr>
          <p:cNvPr id="26" name="Shape 24"/>
          <p:cNvSpPr/>
          <p:nvPr/>
        </p:nvSpPr>
        <p:spPr>
          <a:xfrm>
            <a:off x="8366760" y="2313432"/>
            <a:ext cx="822960" cy="822960"/>
          </a:xfrm>
          <a:prstGeom prst="ellipse">
            <a:avLst/>
          </a:prstGeom>
          <a:solidFill>
            <a:srgbClr val="C8734E"/>
          </a:solidFill>
          <a:ln w="12700">
            <a:solidFill>
              <a:srgbClr val="C8734E">
                <a:alpha val="0"/>
              </a:srgbClr>
            </a:solidFill>
            <a:prstDash val="solid"/>
          </a:ln>
        </p:spPr>
      </p:sp>
      <p:sp>
        <p:nvSpPr>
          <p:cNvPr id="27" name="Text 25"/>
          <p:cNvSpPr/>
          <p:nvPr/>
        </p:nvSpPr>
        <p:spPr>
          <a:xfrm>
            <a:off x="8366760" y="2532888"/>
            <a:ext cx="822960" cy="2743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Georgia" pitchFamily="34" charset="0"/>
                <a:ea typeface="Georgia" pitchFamily="34" charset="-122"/>
                <a:cs typeface="Georgia" pitchFamily="34" charset="-120"/>
              </a:rPr>
              <a:t>05</a:t>
            </a:r>
            <a:endParaRPr lang="en-US" sz="1700" dirty="0"/>
          </a:p>
        </p:txBody>
      </p:sp>
      <p:sp>
        <p:nvSpPr>
          <p:cNvPr id="28" name="Text 26"/>
          <p:cNvSpPr/>
          <p:nvPr/>
        </p:nvSpPr>
        <p:spPr>
          <a:xfrm>
            <a:off x="8101584" y="3364992"/>
            <a:ext cx="1389888" cy="210312"/>
          </a:xfrm>
          <a:prstGeom prst="rect">
            <a:avLst/>
          </a:prstGeom>
          <a:noFill/>
          <a:ln/>
        </p:spPr>
        <p:txBody>
          <a:bodyPr wrap="square" lIns="0" tIns="0" rIns="0" bIns="0" rtlCol="0" anchor="ctr">
            <a:normAutofit/>
          </a:bodyPr>
          <a:lstStyle/>
          <a:p>
            <a:pPr algn="ctr" indent="0" marL="0">
              <a:buNone/>
            </a:pPr>
            <a:r>
              <a:rPr lang="en-US" sz="1000" b="1" spc="60" kern="0" dirty="0">
                <a:solidFill>
                  <a:srgbClr val="C8734E"/>
                </a:solidFill>
                <a:latin typeface="Aptos" pitchFamily="34" charset="0"/>
                <a:ea typeface="Aptos" pitchFamily="34" charset="-122"/>
                <a:cs typeface="Aptos" pitchFamily="34" charset="-120"/>
              </a:rPr>
              <a:t>COMPARE</a:t>
            </a:r>
            <a:endParaRPr lang="en-US" sz="1000" dirty="0"/>
          </a:p>
        </p:txBody>
      </p:sp>
      <p:sp>
        <p:nvSpPr>
          <p:cNvPr id="29" name="Text 27"/>
          <p:cNvSpPr/>
          <p:nvPr/>
        </p:nvSpPr>
        <p:spPr>
          <a:xfrm>
            <a:off x="7918704" y="3721608"/>
            <a:ext cx="1737360" cy="694944"/>
          </a:xfrm>
          <a:prstGeom prst="rect">
            <a:avLst/>
          </a:prstGeom>
          <a:noFill/>
          <a:ln/>
        </p:spPr>
        <p:txBody>
          <a:bodyPr wrap="square" lIns="0" tIns="0" rIns="0" bIns="0" rtlCol="0" anchor="t">
            <a:normAutofit/>
          </a:bodyPr>
          <a:lstStyle/>
          <a:p>
            <a:pPr algn="ctr" indent="0" marL="0">
              <a:buNone/>
            </a:pPr>
            <a:r>
              <a:rPr lang="en-US" sz="1200" dirty="0">
                <a:solidFill>
                  <a:srgbClr val="182D2A"/>
                </a:solidFill>
                <a:latin typeface="Aptos" pitchFamily="34" charset="0"/>
                <a:ea typeface="Aptos" pitchFamily="34" charset="-122"/>
                <a:cs typeface="Aptos" pitchFamily="34" charset="-120"/>
              </a:rPr>
              <a:t>Shared topics, sample differences</a:t>
            </a:r>
            <a:endParaRPr lang="en-US" sz="1200" dirty="0"/>
          </a:p>
        </p:txBody>
      </p:sp>
      <p:sp>
        <p:nvSpPr>
          <p:cNvPr id="30" name="Shape 28"/>
          <p:cNvSpPr/>
          <p:nvPr/>
        </p:nvSpPr>
        <p:spPr>
          <a:xfrm>
            <a:off x="10259568" y="2313432"/>
            <a:ext cx="822960" cy="822960"/>
          </a:xfrm>
          <a:prstGeom prst="ellipse">
            <a:avLst/>
          </a:prstGeom>
          <a:solidFill>
            <a:srgbClr val="173D35"/>
          </a:solidFill>
          <a:ln w="12700">
            <a:solidFill>
              <a:srgbClr val="173D35">
                <a:alpha val="0"/>
              </a:srgbClr>
            </a:solidFill>
            <a:prstDash val="solid"/>
          </a:ln>
        </p:spPr>
      </p:sp>
      <p:sp>
        <p:nvSpPr>
          <p:cNvPr id="31" name="Text 29"/>
          <p:cNvSpPr/>
          <p:nvPr/>
        </p:nvSpPr>
        <p:spPr>
          <a:xfrm>
            <a:off x="10259568" y="2532888"/>
            <a:ext cx="822960" cy="2743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Georgia" pitchFamily="34" charset="0"/>
                <a:ea typeface="Georgia" pitchFamily="34" charset="-122"/>
                <a:cs typeface="Georgia" pitchFamily="34" charset="-120"/>
              </a:rPr>
              <a:t>06</a:t>
            </a:r>
            <a:endParaRPr lang="en-US" sz="1700" dirty="0"/>
          </a:p>
        </p:txBody>
      </p:sp>
      <p:sp>
        <p:nvSpPr>
          <p:cNvPr id="32" name="Text 30"/>
          <p:cNvSpPr/>
          <p:nvPr/>
        </p:nvSpPr>
        <p:spPr>
          <a:xfrm>
            <a:off x="9994392" y="3364992"/>
            <a:ext cx="1389888" cy="210312"/>
          </a:xfrm>
          <a:prstGeom prst="rect">
            <a:avLst/>
          </a:prstGeom>
          <a:noFill/>
          <a:ln/>
        </p:spPr>
        <p:txBody>
          <a:bodyPr wrap="square" lIns="0" tIns="0" rIns="0" bIns="0" rtlCol="0" anchor="ctr">
            <a:normAutofit/>
          </a:bodyPr>
          <a:lstStyle/>
          <a:p>
            <a:pPr algn="ctr" indent="0" marL="0">
              <a:buNone/>
            </a:pPr>
            <a:r>
              <a:rPr lang="en-US" sz="1000" b="1" spc="60" kern="0" dirty="0">
                <a:solidFill>
                  <a:srgbClr val="173D35"/>
                </a:solidFill>
                <a:latin typeface="Aptos" pitchFamily="34" charset="0"/>
                <a:ea typeface="Aptos" pitchFamily="34" charset="-122"/>
                <a:cs typeface="Aptos" pitchFamily="34" charset="-120"/>
              </a:rPr>
              <a:t>TRACE</a:t>
            </a:r>
            <a:endParaRPr lang="en-US" sz="1000" dirty="0"/>
          </a:p>
        </p:txBody>
      </p:sp>
      <p:sp>
        <p:nvSpPr>
          <p:cNvPr id="33" name="Text 31"/>
          <p:cNvSpPr/>
          <p:nvPr/>
        </p:nvSpPr>
        <p:spPr>
          <a:xfrm>
            <a:off x="9811512" y="3721608"/>
            <a:ext cx="1737360" cy="694944"/>
          </a:xfrm>
          <a:prstGeom prst="rect">
            <a:avLst/>
          </a:prstGeom>
          <a:noFill/>
          <a:ln/>
        </p:spPr>
        <p:txBody>
          <a:bodyPr wrap="square" lIns="0" tIns="0" rIns="0" bIns="0" rtlCol="0" anchor="t">
            <a:normAutofit/>
          </a:bodyPr>
          <a:lstStyle/>
          <a:p>
            <a:pPr algn="ctr" indent="0" marL="0">
              <a:buNone/>
            </a:pPr>
            <a:r>
              <a:rPr lang="en-US" sz="1200" dirty="0">
                <a:solidFill>
                  <a:srgbClr val="182D2A"/>
                </a:solidFill>
                <a:latin typeface="Aptos" pitchFamily="34" charset="0"/>
                <a:ea typeface="Aptos" pitchFamily="34" charset="-122"/>
                <a:cs typeface="Aptos" pitchFamily="34" charset="-120"/>
              </a:rPr>
              <a:t>Article → evidence → source URL</a:t>
            </a:r>
            <a:endParaRPr lang="en-US" sz="1200" dirty="0"/>
          </a:p>
        </p:txBody>
      </p:sp>
      <p:sp>
        <p:nvSpPr>
          <p:cNvPr id="34" name="Shape 32"/>
          <p:cNvSpPr/>
          <p:nvPr/>
        </p:nvSpPr>
        <p:spPr>
          <a:xfrm>
            <a:off x="1005840" y="5020056"/>
            <a:ext cx="10177272" cy="749808"/>
          </a:xfrm>
          <a:prstGeom prst="roundRect">
            <a:avLst>
              <a:gd name="adj" fmla="val 15854"/>
            </a:avLst>
          </a:prstGeom>
          <a:solidFill>
            <a:srgbClr val="F7EBD7"/>
          </a:solidFill>
          <a:ln w="10160">
            <a:solidFill>
              <a:srgbClr val="F7EBD7">
                <a:alpha val="0"/>
              </a:srgbClr>
            </a:solidFill>
            <a:prstDash val="solid"/>
          </a:ln>
        </p:spPr>
      </p:sp>
      <p:sp>
        <p:nvSpPr>
          <p:cNvPr id="35" name="Shape 33"/>
          <p:cNvSpPr/>
          <p:nvPr/>
        </p:nvSpPr>
        <p:spPr>
          <a:xfrm>
            <a:off x="1005840" y="5166360"/>
            <a:ext cx="50292" cy="457200"/>
          </a:xfrm>
          <a:prstGeom prst="roundRect">
            <a:avLst>
              <a:gd name="adj" fmla="val 36364"/>
            </a:avLst>
          </a:prstGeom>
          <a:solidFill>
            <a:srgbClr val="E7A54A"/>
          </a:solidFill>
          <a:ln w="10160">
            <a:solidFill>
              <a:srgbClr val="E7A54A">
                <a:alpha val="0"/>
              </a:srgbClr>
            </a:solidFill>
            <a:prstDash val="solid"/>
          </a:ln>
        </p:spPr>
      </p:sp>
      <p:sp>
        <p:nvSpPr>
          <p:cNvPr id="36" name="Text 34"/>
          <p:cNvSpPr/>
          <p:nvPr/>
        </p:nvSpPr>
        <p:spPr>
          <a:xfrm>
            <a:off x="1298448" y="5202936"/>
            <a:ext cx="2487168" cy="246888"/>
          </a:xfrm>
          <a:prstGeom prst="rect">
            <a:avLst/>
          </a:prstGeom>
          <a:noFill/>
          <a:ln/>
        </p:spPr>
        <p:txBody>
          <a:bodyPr wrap="square" lIns="0" tIns="0" rIns="0" bIns="0" rtlCol="0" anchor="ctr">
            <a:normAutofit/>
          </a:bodyPr>
          <a:lstStyle/>
          <a:p>
            <a:pPr algn="l" indent="0" marL="0">
              <a:buNone/>
            </a:pPr>
            <a:r>
              <a:rPr lang="en-US" sz="1300" b="1" dirty="0">
                <a:solidFill>
                  <a:srgbClr val="173D35"/>
                </a:solidFill>
                <a:latin typeface="Aptos" pitchFamily="34" charset="0"/>
                <a:ea typeface="Aptos" pitchFamily="34" charset="-122"/>
                <a:cs typeface="Aptos" pitchFamily="34" charset="-120"/>
              </a:rPr>
              <a:t>Human review stays in the loop</a:t>
            </a:r>
            <a:endParaRPr lang="en-US" sz="1300" dirty="0"/>
          </a:p>
        </p:txBody>
      </p:sp>
      <p:sp>
        <p:nvSpPr>
          <p:cNvPr id="37" name="Text 35"/>
          <p:cNvSpPr/>
          <p:nvPr/>
        </p:nvSpPr>
        <p:spPr>
          <a:xfrm>
            <a:off x="3703320" y="5184648"/>
            <a:ext cx="6995160" cy="283464"/>
          </a:xfrm>
          <a:prstGeom prst="rect">
            <a:avLst/>
          </a:prstGeom>
          <a:noFill/>
          <a:ln/>
        </p:spPr>
        <p:txBody>
          <a:bodyPr wrap="square" lIns="0" tIns="0" rIns="0" bIns="0" rtlCol="0" anchor="ctr">
            <a:normAutofit/>
          </a:bodyPr>
          <a:lstStyle/>
          <a:p>
            <a:pPr algn="l" indent="0" marL="0">
              <a:buNone/>
            </a:pPr>
            <a:r>
              <a:rPr lang="en-US" sz="1300" dirty="0">
                <a:solidFill>
                  <a:srgbClr val="182D2A"/>
                </a:solidFill>
                <a:latin typeface="Aptos" pitchFamily="34" charset="0"/>
                <a:ea typeface="Aptos" pitchFamily="34" charset="-122"/>
                <a:cs typeface="Aptos" pitchFamily="34" charset="-120"/>
              </a:rPr>
              <a:t>Low support stays uncertain; comparison statements link to the article IDs behind them.</a:t>
            </a:r>
            <a:endParaRPr lang="en-US" sz="130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05 / ARCHITECTURE</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Two runtimes, one evidence-first product model</a:t>
            </a:r>
            <a:endParaRPr lang="en-US" sz="3000" dirty="0"/>
          </a:p>
        </p:txBody>
      </p:sp>
      <p:sp>
        <p:nvSpPr>
          <p:cNvPr id="4" name="Shape 2"/>
          <p:cNvSpPr/>
          <p:nvPr/>
        </p:nvSpPr>
        <p:spPr>
          <a:xfrm>
            <a:off x="594360" y="1645920"/>
            <a:ext cx="5321808" cy="4361688"/>
          </a:xfrm>
          <a:prstGeom prst="roundRect">
            <a:avLst>
              <a:gd name="adj" fmla="val 2725"/>
            </a:avLst>
          </a:prstGeom>
          <a:solidFill>
            <a:srgbClr val="FFFFFF"/>
          </a:solidFill>
          <a:ln w="10160">
            <a:solidFill>
              <a:srgbClr val="D9DFD7"/>
            </a:solidFill>
            <a:prstDash val="solid"/>
          </a:ln>
        </p:spPr>
      </p:sp>
      <p:sp>
        <p:nvSpPr>
          <p:cNvPr id="5" name="Shape 3"/>
          <p:cNvSpPr/>
          <p:nvPr/>
        </p:nvSpPr>
        <p:spPr>
          <a:xfrm>
            <a:off x="886968" y="1929384"/>
            <a:ext cx="1207008" cy="274320"/>
          </a:xfrm>
          <a:prstGeom prst="roundRect">
            <a:avLst>
              <a:gd name="adj" fmla="val 43333"/>
            </a:avLst>
          </a:prstGeom>
          <a:solidFill>
            <a:srgbClr val="E5EFE8"/>
          </a:solidFill>
          <a:ln w="10160">
            <a:solidFill>
              <a:srgbClr val="E5EFE8">
                <a:alpha val="0"/>
              </a:srgbClr>
            </a:solidFill>
            <a:prstDash val="solid"/>
          </a:ln>
        </p:spPr>
      </p:sp>
      <p:sp>
        <p:nvSpPr>
          <p:cNvPr id="6" name="Text 4"/>
          <p:cNvSpPr/>
          <p:nvPr/>
        </p:nvSpPr>
        <p:spPr>
          <a:xfrm>
            <a:off x="978408" y="1938528"/>
            <a:ext cx="1024128"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LOCAL DEMO</a:t>
            </a:r>
            <a:endParaRPr lang="en-US" sz="900" dirty="0"/>
          </a:p>
        </p:txBody>
      </p:sp>
      <p:sp>
        <p:nvSpPr>
          <p:cNvPr id="7" name="Text 5"/>
          <p:cNvSpPr/>
          <p:nvPr/>
        </p:nvSpPr>
        <p:spPr>
          <a:xfrm>
            <a:off x="896112" y="2450592"/>
            <a:ext cx="2194560" cy="274320"/>
          </a:xfrm>
          <a:prstGeom prst="rect">
            <a:avLst/>
          </a:prstGeom>
          <a:noFill/>
          <a:ln/>
        </p:spPr>
        <p:txBody>
          <a:bodyPr wrap="square" lIns="0" tIns="0" rIns="0" bIns="0" rtlCol="0" anchor="ctr">
            <a:normAutofit/>
          </a:bodyPr>
          <a:lstStyle/>
          <a:p>
            <a:pPr algn="l" indent="0" marL="0">
              <a:buNone/>
            </a:pPr>
            <a:r>
              <a:rPr lang="en-US" sz="1600" b="1" dirty="0">
                <a:solidFill>
                  <a:srgbClr val="182D2A"/>
                </a:solidFill>
                <a:latin typeface="Aptos" pitchFamily="34" charset="0"/>
                <a:ea typeface="Aptos" pitchFamily="34" charset="-122"/>
                <a:cs typeface="Aptos" pitchFamily="34" charset="-120"/>
              </a:rPr>
              <a:t>Next.js dashboard</a:t>
            </a:r>
            <a:endParaRPr lang="en-US" sz="1600" dirty="0"/>
          </a:p>
        </p:txBody>
      </p:sp>
      <p:sp>
        <p:nvSpPr>
          <p:cNvPr id="8" name="Text 6"/>
          <p:cNvSpPr/>
          <p:nvPr/>
        </p:nvSpPr>
        <p:spPr>
          <a:xfrm>
            <a:off x="896112" y="3072384"/>
            <a:ext cx="2194560" cy="274320"/>
          </a:xfrm>
          <a:prstGeom prst="rect">
            <a:avLst/>
          </a:prstGeom>
          <a:noFill/>
          <a:ln/>
        </p:spPr>
        <p:txBody>
          <a:bodyPr wrap="square" lIns="0" tIns="0" rIns="0" bIns="0" rtlCol="0" anchor="ctr">
            <a:normAutofit/>
          </a:bodyPr>
          <a:lstStyle/>
          <a:p>
            <a:pPr algn="l" indent="0" marL="0">
              <a:buNone/>
            </a:pPr>
            <a:r>
              <a:rPr lang="en-US" sz="1600" b="1" dirty="0">
                <a:solidFill>
                  <a:srgbClr val="182D2A"/>
                </a:solidFill>
                <a:latin typeface="Aptos" pitchFamily="34" charset="0"/>
                <a:ea typeface="Aptos" pitchFamily="34" charset="-122"/>
                <a:cs typeface="Aptos" pitchFamily="34" charset="-120"/>
              </a:rPr>
              <a:t>FastAPI</a:t>
            </a:r>
            <a:endParaRPr lang="en-US" sz="1600" dirty="0"/>
          </a:p>
        </p:txBody>
      </p:sp>
      <p:sp>
        <p:nvSpPr>
          <p:cNvPr id="9" name="Text 7"/>
          <p:cNvSpPr/>
          <p:nvPr/>
        </p:nvSpPr>
        <p:spPr>
          <a:xfrm>
            <a:off x="896112" y="3694176"/>
            <a:ext cx="2194560" cy="274320"/>
          </a:xfrm>
          <a:prstGeom prst="rect">
            <a:avLst/>
          </a:prstGeom>
          <a:noFill/>
          <a:ln/>
        </p:spPr>
        <p:txBody>
          <a:bodyPr wrap="square" lIns="0" tIns="0" rIns="0" bIns="0" rtlCol="0" anchor="ctr">
            <a:normAutofit/>
          </a:bodyPr>
          <a:lstStyle/>
          <a:p>
            <a:pPr algn="l" indent="0" marL="0">
              <a:buNone/>
            </a:pPr>
            <a:r>
              <a:rPr lang="en-US" sz="1600" b="1" dirty="0">
                <a:solidFill>
                  <a:srgbClr val="182D2A"/>
                </a:solidFill>
                <a:latin typeface="Aptos" pitchFamily="34" charset="0"/>
                <a:ea typeface="Aptos" pitchFamily="34" charset="-122"/>
                <a:cs typeface="Aptos" pitchFamily="34" charset="-120"/>
              </a:rPr>
              <a:t>SQLite</a:t>
            </a:r>
            <a:endParaRPr lang="en-US" sz="1600" dirty="0"/>
          </a:p>
        </p:txBody>
      </p:sp>
      <p:sp>
        <p:nvSpPr>
          <p:cNvPr id="10" name="Text 8"/>
          <p:cNvSpPr/>
          <p:nvPr/>
        </p:nvSpPr>
        <p:spPr>
          <a:xfrm>
            <a:off x="896112" y="4315968"/>
            <a:ext cx="4343400" cy="274320"/>
          </a:xfrm>
          <a:prstGeom prst="rect">
            <a:avLst/>
          </a:prstGeom>
          <a:noFill/>
          <a:ln/>
        </p:spPr>
        <p:txBody>
          <a:bodyPr wrap="square" lIns="0" tIns="0" rIns="0" bIns="0" rtlCol="0" anchor="ctr">
            <a:normAutofit/>
          </a:bodyPr>
          <a:lstStyle/>
          <a:p>
            <a:pPr algn="l" indent="0" marL="0">
              <a:buNone/>
            </a:pPr>
            <a:r>
              <a:rPr lang="en-US" sz="1400" b="1" dirty="0">
                <a:solidFill>
                  <a:srgbClr val="2E8069"/>
                </a:solidFill>
                <a:latin typeface="Aptos" pitchFamily="34" charset="0"/>
                <a:ea typeface="Aptos" pitchFamily="34" charset="-122"/>
                <a:cs typeface="Aptos" pitchFamily="34" charset="-120"/>
              </a:rPr>
              <a:t>Local rules + multilingual FastEmbed</a:t>
            </a:r>
            <a:endParaRPr lang="en-US" sz="1400" dirty="0"/>
          </a:p>
        </p:txBody>
      </p:sp>
      <p:sp>
        <p:nvSpPr>
          <p:cNvPr id="11" name="Shape 9"/>
          <p:cNvSpPr/>
          <p:nvPr/>
        </p:nvSpPr>
        <p:spPr>
          <a:xfrm>
            <a:off x="4517136" y="2386584"/>
            <a:ext cx="832104" cy="310896"/>
          </a:xfrm>
          <a:prstGeom prst="roundRect">
            <a:avLst>
              <a:gd name="adj" fmla="val 38235"/>
            </a:avLst>
          </a:prstGeom>
          <a:solidFill>
            <a:srgbClr val="E7EEF1"/>
          </a:solidFill>
          <a:ln w="10160">
            <a:solidFill>
              <a:srgbClr val="E7EEF1">
                <a:alpha val="0"/>
              </a:srgbClr>
            </a:solidFill>
            <a:prstDash val="solid"/>
          </a:ln>
        </p:spPr>
      </p:sp>
      <p:sp>
        <p:nvSpPr>
          <p:cNvPr id="12" name="Text 10"/>
          <p:cNvSpPr/>
          <p:nvPr/>
        </p:nvSpPr>
        <p:spPr>
          <a:xfrm>
            <a:off x="4608576" y="2395728"/>
            <a:ext cx="649224"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5B88A0"/>
                </a:solidFill>
                <a:latin typeface="Aptos" pitchFamily="34" charset="0"/>
                <a:ea typeface="Aptos" pitchFamily="34" charset="-122"/>
                <a:cs typeface="Aptos" pitchFamily="34" charset="-120"/>
              </a:rPr>
              <a:t>UI</a:t>
            </a:r>
            <a:endParaRPr lang="en-US" sz="900" dirty="0"/>
          </a:p>
        </p:txBody>
      </p:sp>
      <p:sp>
        <p:nvSpPr>
          <p:cNvPr id="13" name="Shape 11"/>
          <p:cNvSpPr/>
          <p:nvPr/>
        </p:nvSpPr>
        <p:spPr>
          <a:xfrm>
            <a:off x="4517136" y="3008376"/>
            <a:ext cx="832104" cy="310896"/>
          </a:xfrm>
          <a:prstGeom prst="roundRect">
            <a:avLst>
              <a:gd name="adj" fmla="val 38235"/>
            </a:avLst>
          </a:prstGeom>
          <a:solidFill>
            <a:srgbClr val="E7EEF1"/>
          </a:solidFill>
          <a:ln w="10160">
            <a:solidFill>
              <a:srgbClr val="E7EEF1">
                <a:alpha val="0"/>
              </a:srgbClr>
            </a:solidFill>
            <a:prstDash val="solid"/>
          </a:ln>
        </p:spPr>
      </p:sp>
      <p:sp>
        <p:nvSpPr>
          <p:cNvPr id="14" name="Text 12"/>
          <p:cNvSpPr/>
          <p:nvPr/>
        </p:nvSpPr>
        <p:spPr>
          <a:xfrm>
            <a:off x="4608576" y="3017520"/>
            <a:ext cx="649224"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5B88A0"/>
                </a:solidFill>
                <a:latin typeface="Aptos" pitchFamily="34" charset="0"/>
                <a:ea typeface="Aptos" pitchFamily="34" charset="-122"/>
                <a:cs typeface="Aptos" pitchFamily="34" charset="-120"/>
              </a:rPr>
              <a:t>API</a:t>
            </a:r>
            <a:endParaRPr lang="en-US" sz="900" dirty="0"/>
          </a:p>
        </p:txBody>
      </p:sp>
      <p:sp>
        <p:nvSpPr>
          <p:cNvPr id="15" name="Shape 13"/>
          <p:cNvSpPr/>
          <p:nvPr/>
        </p:nvSpPr>
        <p:spPr>
          <a:xfrm>
            <a:off x="4517136" y="3630168"/>
            <a:ext cx="832104" cy="310896"/>
          </a:xfrm>
          <a:prstGeom prst="roundRect">
            <a:avLst>
              <a:gd name="adj" fmla="val 38235"/>
            </a:avLst>
          </a:prstGeom>
          <a:solidFill>
            <a:srgbClr val="E7EEF1"/>
          </a:solidFill>
          <a:ln w="10160">
            <a:solidFill>
              <a:srgbClr val="E7EEF1">
                <a:alpha val="0"/>
              </a:srgbClr>
            </a:solidFill>
            <a:prstDash val="solid"/>
          </a:ln>
        </p:spPr>
      </p:sp>
      <p:sp>
        <p:nvSpPr>
          <p:cNvPr id="16" name="Text 14"/>
          <p:cNvSpPr/>
          <p:nvPr/>
        </p:nvSpPr>
        <p:spPr>
          <a:xfrm>
            <a:off x="4608576" y="3639312"/>
            <a:ext cx="649224"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5B88A0"/>
                </a:solidFill>
                <a:latin typeface="Aptos" pitchFamily="34" charset="0"/>
                <a:ea typeface="Aptos" pitchFamily="34" charset="-122"/>
                <a:cs typeface="Aptos" pitchFamily="34" charset="-120"/>
              </a:rPr>
              <a:t>DB</a:t>
            </a:r>
            <a:endParaRPr lang="en-US" sz="900" dirty="0"/>
          </a:p>
        </p:txBody>
      </p:sp>
      <p:sp>
        <p:nvSpPr>
          <p:cNvPr id="17" name="Shape 15"/>
          <p:cNvSpPr/>
          <p:nvPr/>
        </p:nvSpPr>
        <p:spPr>
          <a:xfrm>
            <a:off x="4517136" y="4251960"/>
            <a:ext cx="832104" cy="310896"/>
          </a:xfrm>
          <a:prstGeom prst="roundRect">
            <a:avLst>
              <a:gd name="adj" fmla="val 38235"/>
            </a:avLst>
          </a:prstGeom>
          <a:solidFill>
            <a:srgbClr val="F7EBD7"/>
          </a:solidFill>
          <a:ln w="10160">
            <a:solidFill>
              <a:srgbClr val="F7EBD7">
                <a:alpha val="0"/>
              </a:srgbClr>
            </a:solidFill>
            <a:prstDash val="solid"/>
          </a:ln>
        </p:spPr>
      </p:sp>
      <p:sp>
        <p:nvSpPr>
          <p:cNvPr id="18" name="Text 16"/>
          <p:cNvSpPr/>
          <p:nvPr/>
        </p:nvSpPr>
        <p:spPr>
          <a:xfrm>
            <a:off x="4608576" y="4261104"/>
            <a:ext cx="649224"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C8734E"/>
                </a:solidFill>
                <a:latin typeface="Aptos" pitchFamily="34" charset="0"/>
                <a:ea typeface="Aptos" pitchFamily="34" charset="-122"/>
                <a:cs typeface="Aptos" pitchFamily="34" charset="-120"/>
              </a:rPr>
              <a:t>MODEL</a:t>
            </a:r>
            <a:endParaRPr lang="en-US" sz="900" dirty="0"/>
          </a:p>
        </p:txBody>
      </p:sp>
      <p:sp>
        <p:nvSpPr>
          <p:cNvPr id="19" name="Shape 17"/>
          <p:cNvSpPr/>
          <p:nvPr/>
        </p:nvSpPr>
        <p:spPr>
          <a:xfrm>
            <a:off x="2926080" y="2660904"/>
            <a:ext cx="1481328" cy="0"/>
          </a:xfrm>
          <a:prstGeom prst="line">
            <a:avLst/>
          </a:prstGeom>
          <a:noFill/>
          <a:ln w="20320">
            <a:solidFill>
              <a:srgbClr val="D9DFD7"/>
            </a:solidFill>
            <a:prstDash val="solid"/>
            <a:headEnd type="none"/>
            <a:tailEnd type="none"/>
          </a:ln>
        </p:spPr>
      </p:sp>
      <p:sp>
        <p:nvSpPr>
          <p:cNvPr id="20" name="Shape 18"/>
          <p:cNvSpPr/>
          <p:nvPr/>
        </p:nvSpPr>
        <p:spPr>
          <a:xfrm>
            <a:off x="2926080" y="3282696"/>
            <a:ext cx="1481328" cy="0"/>
          </a:xfrm>
          <a:prstGeom prst="line">
            <a:avLst/>
          </a:prstGeom>
          <a:noFill/>
          <a:ln w="20320">
            <a:solidFill>
              <a:srgbClr val="D9DFD7"/>
            </a:solidFill>
            <a:prstDash val="solid"/>
            <a:headEnd type="none"/>
            <a:tailEnd type="none"/>
          </a:ln>
        </p:spPr>
      </p:sp>
      <p:sp>
        <p:nvSpPr>
          <p:cNvPr id="21" name="Shape 19"/>
          <p:cNvSpPr/>
          <p:nvPr/>
        </p:nvSpPr>
        <p:spPr>
          <a:xfrm>
            <a:off x="2926080" y="3904488"/>
            <a:ext cx="1481328" cy="0"/>
          </a:xfrm>
          <a:prstGeom prst="line">
            <a:avLst/>
          </a:prstGeom>
          <a:noFill/>
          <a:ln w="20320">
            <a:solidFill>
              <a:srgbClr val="D9DFD7"/>
            </a:solidFill>
            <a:prstDash val="solid"/>
            <a:headEnd type="none"/>
            <a:tailEnd type="none"/>
          </a:ln>
        </p:spPr>
      </p:sp>
      <p:sp>
        <p:nvSpPr>
          <p:cNvPr id="22" name="Shape 20"/>
          <p:cNvSpPr/>
          <p:nvPr/>
        </p:nvSpPr>
        <p:spPr>
          <a:xfrm>
            <a:off x="2926080" y="4526280"/>
            <a:ext cx="1481328" cy="0"/>
          </a:xfrm>
          <a:prstGeom prst="line">
            <a:avLst/>
          </a:prstGeom>
          <a:noFill/>
          <a:ln w="20320">
            <a:solidFill>
              <a:srgbClr val="D9DFD7"/>
            </a:solidFill>
            <a:prstDash val="solid"/>
            <a:headEnd type="none"/>
            <a:tailEnd type="none"/>
          </a:ln>
        </p:spPr>
      </p:sp>
      <p:sp>
        <p:nvSpPr>
          <p:cNvPr id="23" name="Shape 21"/>
          <p:cNvSpPr/>
          <p:nvPr/>
        </p:nvSpPr>
        <p:spPr>
          <a:xfrm>
            <a:off x="6263640" y="1645920"/>
            <a:ext cx="5321808" cy="4361688"/>
          </a:xfrm>
          <a:prstGeom prst="roundRect">
            <a:avLst>
              <a:gd name="adj" fmla="val 2725"/>
            </a:avLst>
          </a:prstGeom>
          <a:solidFill>
            <a:srgbClr val="173D35"/>
          </a:solidFill>
          <a:ln w="10160">
            <a:solidFill>
              <a:srgbClr val="173D35">
                <a:alpha val="0"/>
              </a:srgbClr>
            </a:solidFill>
            <a:prstDash val="solid"/>
          </a:ln>
        </p:spPr>
      </p:sp>
      <p:sp>
        <p:nvSpPr>
          <p:cNvPr id="24" name="Shape 22"/>
          <p:cNvSpPr/>
          <p:nvPr/>
        </p:nvSpPr>
        <p:spPr>
          <a:xfrm>
            <a:off x="6263640" y="1792224"/>
            <a:ext cx="50292" cy="4069080"/>
          </a:xfrm>
          <a:prstGeom prst="roundRect">
            <a:avLst>
              <a:gd name="adj" fmla="val 36364"/>
            </a:avLst>
          </a:prstGeom>
          <a:solidFill>
            <a:srgbClr val="E7A54A"/>
          </a:solidFill>
          <a:ln w="10160">
            <a:solidFill>
              <a:srgbClr val="E7A54A">
                <a:alpha val="0"/>
              </a:srgbClr>
            </a:solidFill>
            <a:prstDash val="solid"/>
          </a:ln>
        </p:spPr>
      </p:sp>
      <p:sp>
        <p:nvSpPr>
          <p:cNvPr id="25" name="Shape 23"/>
          <p:cNvSpPr/>
          <p:nvPr/>
        </p:nvSpPr>
        <p:spPr>
          <a:xfrm>
            <a:off x="6556248" y="1929384"/>
            <a:ext cx="1938528" cy="274320"/>
          </a:xfrm>
          <a:prstGeom prst="roundRect">
            <a:avLst>
              <a:gd name="adj" fmla="val 43333"/>
            </a:avLst>
          </a:prstGeom>
          <a:solidFill>
            <a:srgbClr val="D8E8DC"/>
          </a:solidFill>
          <a:ln w="10160">
            <a:solidFill>
              <a:srgbClr val="D8E8DC">
                <a:alpha val="0"/>
              </a:srgbClr>
            </a:solidFill>
            <a:prstDash val="solid"/>
          </a:ln>
        </p:spPr>
      </p:sp>
      <p:sp>
        <p:nvSpPr>
          <p:cNvPr id="26" name="Text 24"/>
          <p:cNvSpPr/>
          <p:nvPr/>
        </p:nvSpPr>
        <p:spPr>
          <a:xfrm>
            <a:off x="6647688" y="1938528"/>
            <a:ext cx="1755648"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CLOUDFLARE WORKERS</a:t>
            </a:r>
            <a:endParaRPr lang="en-US" sz="900" dirty="0"/>
          </a:p>
        </p:txBody>
      </p:sp>
      <p:sp>
        <p:nvSpPr>
          <p:cNvPr id="27" name="Text 25"/>
          <p:cNvSpPr/>
          <p:nvPr/>
        </p:nvSpPr>
        <p:spPr>
          <a:xfrm>
            <a:off x="6583680" y="2450592"/>
            <a:ext cx="2926080" cy="274320"/>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Next.js + OpenNext</a:t>
            </a:r>
            <a:endParaRPr lang="en-US" sz="1600" dirty="0"/>
          </a:p>
        </p:txBody>
      </p:sp>
      <p:sp>
        <p:nvSpPr>
          <p:cNvPr id="28" name="Text 26"/>
          <p:cNvSpPr/>
          <p:nvPr/>
        </p:nvSpPr>
        <p:spPr>
          <a:xfrm>
            <a:off x="6583680" y="3072384"/>
            <a:ext cx="2926080" cy="274320"/>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Worker API routes</a:t>
            </a:r>
            <a:endParaRPr lang="en-US" sz="1600" dirty="0"/>
          </a:p>
        </p:txBody>
      </p:sp>
      <p:sp>
        <p:nvSpPr>
          <p:cNvPr id="29" name="Text 27"/>
          <p:cNvSpPr/>
          <p:nvPr/>
        </p:nvSpPr>
        <p:spPr>
          <a:xfrm>
            <a:off x="6583680" y="3694176"/>
            <a:ext cx="2926080" cy="274320"/>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Cloudflare D1</a:t>
            </a:r>
            <a:endParaRPr lang="en-US" sz="1600" dirty="0"/>
          </a:p>
        </p:txBody>
      </p:sp>
      <p:sp>
        <p:nvSpPr>
          <p:cNvPr id="30" name="Text 28"/>
          <p:cNvSpPr/>
          <p:nvPr/>
        </p:nvSpPr>
        <p:spPr>
          <a:xfrm>
            <a:off x="6583680" y="4315968"/>
            <a:ext cx="4389120" cy="274320"/>
          </a:xfrm>
          <a:prstGeom prst="rect">
            <a:avLst/>
          </a:prstGeom>
          <a:noFill/>
          <a:ln/>
        </p:spPr>
        <p:txBody>
          <a:bodyPr wrap="square" lIns="0" tIns="0" rIns="0" bIns="0" rtlCol="0" anchor="ctr">
            <a:normAutofit/>
          </a:bodyPr>
          <a:lstStyle/>
          <a:p>
            <a:pPr algn="l" indent="0" marL="0">
              <a:buNone/>
            </a:pPr>
            <a:r>
              <a:rPr lang="en-US" sz="1350" b="1" dirty="0">
                <a:solidFill>
                  <a:srgbClr val="C8DDD0"/>
                </a:solidFill>
                <a:latin typeface="Aptos" pitchFamily="34" charset="0"/>
                <a:ea typeface="Aptos" pitchFamily="34" charset="-122"/>
                <a:cs typeface="Aptos" pitchFamily="34" charset="-120"/>
              </a:rPr>
              <a:t>Edge evidence rules + optional TypeSafe JEV</a:t>
            </a:r>
            <a:endParaRPr lang="en-US" sz="1350" dirty="0"/>
          </a:p>
        </p:txBody>
      </p:sp>
      <p:sp>
        <p:nvSpPr>
          <p:cNvPr id="31" name="Shape 29"/>
          <p:cNvSpPr/>
          <p:nvPr/>
        </p:nvSpPr>
        <p:spPr>
          <a:xfrm>
            <a:off x="10158984" y="2386584"/>
            <a:ext cx="1033272" cy="310896"/>
          </a:xfrm>
          <a:prstGeom prst="roundRect">
            <a:avLst>
              <a:gd name="adj" fmla="val 38235"/>
            </a:avLst>
          </a:prstGeom>
          <a:solidFill>
            <a:srgbClr val="D8E8DC"/>
          </a:solidFill>
          <a:ln w="10160">
            <a:solidFill>
              <a:srgbClr val="D8E8DC">
                <a:alpha val="0"/>
              </a:srgbClr>
            </a:solidFill>
            <a:prstDash val="solid"/>
          </a:ln>
        </p:spPr>
      </p:sp>
      <p:sp>
        <p:nvSpPr>
          <p:cNvPr id="32" name="Text 30"/>
          <p:cNvSpPr/>
          <p:nvPr/>
        </p:nvSpPr>
        <p:spPr>
          <a:xfrm>
            <a:off x="10250424" y="2395728"/>
            <a:ext cx="850392"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UI</a:t>
            </a:r>
            <a:endParaRPr lang="en-US" sz="900" dirty="0"/>
          </a:p>
        </p:txBody>
      </p:sp>
      <p:sp>
        <p:nvSpPr>
          <p:cNvPr id="33" name="Shape 31"/>
          <p:cNvSpPr/>
          <p:nvPr/>
        </p:nvSpPr>
        <p:spPr>
          <a:xfrm>
            <a:off x="10158984" y="3008376"/>
            <a:ext cx="1033272" cy="310896"/>
          </a:xfrm>
          <a:prstGeom prst="roundRect">
            <a:avLst>
              <a:gd name="adj" fmla="val 38235"/>
            </a:avLst>
          </a:prstGeom>
          <a:solidFill>
            <a:srgbClr val="D8E8DC"/>
          </a:solidFill>
          <a:ln w="10160">
            <a:solidFill>
              <a:srgbClr val="D8E8DC">
                <a:alpha val="0"/>
              </a:srgbClr>
            </a:solidFill>
            <a:prstDash val="solid"/>
          </a:ln>
        </p:spPr>
      </p:sp>
      <p:sp>
        <p:nvSpPr>
          <p:cNvPr id="34" name="Text 32"/>
          <p:cNvSpPr/>
          <p:nvPr/>
        </p:nvSpPr>
        <p:spPr>
          <a:xfrm>
            <a:off x="10250424" y="3017520"/>
            <a:ext cx="850392"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API</a:t>
            </a:r>
            <a:endParaRPr lang="en-US" sz="900" dirty="0"/>
          </a:p>
        </p:txBody>
      </p:sp>
      <p:sp>
        <p:nvSpPr>
          <p:cNvPr id="35" name="Shape 33"/>
          <p:cNvSpPr/>
          <p:nvPr/>
        </p:nvSpPr>
        <p:spPr>
          <a:xfrm>
            <a:off x="10158984" y="3630168"/>
            <a:ext cx="1033272" cy="310896"/>
          </a:xfrm>
          <a:prstGeom prst="roundRect">
            <a:avLst>
              <a:gd name="adj" fmla="val 38235"/>
            </a:avLst>
          </a:prstGeom>
          <a:solidFill>
            <a:srgbClr val="D8E8DC"/>
          </a:solidFill>
          <a:ln w="10160">
            <a:solidFill>
              <a:srgbClr val="D8E8DC">
                <a:alpha val="0"/>
              </a:srgbClr>
            </a:solidFill>
            <a:prstDash val="solid"/>
          </a:ln>
        </p:spPr>
      </p:sp>
      <p:sp>
        <p:nvSpPr>
          <p:cNvPr id="36" name="Text 34"/>
          <p:cNvSpPr/>
          <p:nvPr/>
        </p:nvSpPr>
        <p:spPr>
          <a:xfrm>
            <a:off x="10250424" y="3639312"/>
            <a:ext cx="850392"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DB</a:t>
            </a:r>
            <a:endParaRPr lang="en-US" sz="900" dirty="0"/>
          </a:p>
        </p:txBody>
      </p:sp>
      <p:sp>
        <p:nvSpPr>
          <p:cNvPr id="37" name="Shape 35"/>
          <p:cNvSpPr/>
          <p:nvPr/>
        </p:nvSpPr>
        <p:spPr>
          <a:xfrm>
            <a:off x="10158984" y="4251960"/>
            <a:ext cx="1033272" cy="310896"/>
          </a:xfrm>
          <a:prstGeom prst="roundRect">
            <a:avLst>
              <a:gd name="adj" fmla="val 38235"/>
            </a:avLst>
          </a:prstGeom>
          <a:solidFill>
            <a:srgbClr val="654E34"/>
          </a:solidFill>
          <a:ln w="10160">
            <a:solidFill>
              <a:srgbClr val="654E34">
                <a:alpha val="0"/>
              </a:srgbClr>
            </a:solidFill>
            <a:prstDash val="solid"/>
          </a:ln>
        </p:spPr>
      </p:sp>
      <p:sp>
        <p:nvSpPr>
          <p:cNvPr id="38" name="Text 36"/>
          <p:cNvSpPr/>
          <p:nvPr/>
        </p:nvSpPr>
        <p:spPr>
          <a:xfrm>
            <a:off x="10250424" y="4261104"/>
            <a:ext cx="850392"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FFE5BB"/>
                </a:solidFill>
                <a:latin typeface="Aptos" pitchFamily="34" charset="0"/>
                <a:ea typeface="Aptos" pitchFamily="34" charset="-122"/>
                <a:cs typeface="Aptos" pitchFamily="34" charset="-120"/>
              </a:rPr>
              <a:t>JEV*</a:t>
            </a:r>
            <a:endParaRPr lang="en-US" sz="900" dirty="0"/>
          </a:p>
        </p:txBody>
      </p:sp>
      <p:sp>
        <p:nvSpPr>
          <p:cNvPr id="39" name="Shape 37"/>
          <p:cNvSpPr/>
          <p:nvPr/>
        </p:nvSpPr>
        <p:spPr>
          <a:xfrm>
            <a:off x="8823960" y="2660904"/>
            <a:ext cx="1216152" cy="0"/>
          </a:xfrm>
          <a:prstGeom prst="line">
            <a:avLst/>
          </a:prstGeom>
          <a:noFill/>
          <a:ln w="20320">
            <a:solidFill>
              <a:srgbClr val="5D8878"/>
            </a:solidFill>
            <a:prstDash val="solid"/>
            <a:headEnd type="none"/>
            <a:tailEnd type="none"/>
          </a:ln>
        </p:spPr>
      </p:sp>
      <p:sp>
        <p:nvSpPr>
          <p:cNvPr id="40" name="Shape 38"/>
          <p:cNvSpPr/>
          <p:nvPr/>
        </p:nvSpPr>
        <p:spPr>
          <a:xfrm>
            <a:off x="8823960" y="3282696"/>
            <a:ext cx="1216152" cy="0"/>
          </a:xfrm>
          <a:prstGeom prst="line">
            <a:avLst/>
          </a:prstGeom>
          <a:noFill/>
          <a:ln w="20320">
            <a:solidFill>
              <a:srgbClr val="5D8878"/>
            </a:solidFill>
            <a:prstDash val="solid"/>
            <a:headEnd type="none"/>
            <a:tailEnd type="none"/>
          </a:ln>
        </p:spPr>
      </p:sp>
      <p:sp>
        <p:nvSpPr>
          <p:cNvPr id="41" name="Shape 39"/>
          <p:cNvSpPr/>
          <p:nvPr/>
        </p:nvSpPr>
        <p:spPr>
          <a:xfrm>
            <a:off x="8823960" y="3904488"/>
            <a:ext cx="1216152" cy="0"/>
          </a:xfrm>
          <a:prstGeom prst="line">
            <a:avLst/>
          </a:prstGeom>
          <a:noFill/>
          <a:ln w="20320">
            <a:solidFill>
              <a:srgbClr val="5D8878"/>
            </a:solidFill>
            <a:prstDash val="solid"/>
            <a:headEnd type="none"/>
            <a:tailEnd type="none"/>
          </a:ln>
        </p:spPr>
      </p:sp>
      <p:sp>
        <p:nvSpPr>
          <p:cNvPr id="42" name="Shape 40"/>
          <p:cNvSpPr/>
          <p:nvPr/>
        </p:nvSpPr>
        <p:spPr>
          <a:xfrm>
            <a:off x="8823960" y="4526280"/>
            <a:ext cx="1216152" cy="0"/>
          </a:xfrm>
          <a:prstGeom prst="line">
            <a:avLst/>
          </a:prstGeom>
          <a:noFill/>
          <a:ln w="20320">
            <a:solidFill>
              <a:srgbClr val="5D8878"/>
            </a:solidFill>
            <a:prstDash val="solid"/>
            <a:headEnd type="none"/>
            <a:tailEnd type="none"/>
          </a:ln>
        </p:spPr>
      </p:sp>
      <p:sp>
        <p:nvSpPr>
          <p:cNvPr id="43" name="Text 41"/>
          <p:cNvSpPr/>
          <p:nvPr/>
        </p:nvSpPr>
        <p:spPr>
          <a:xfrm>
            <a:off x="786384" y="6190488"/>
            <a:ext cx="10698480" cy="210312"/>
          </a:xfrm>
          <a:prstGeom prst="rect">
            <a:avLst/>
          </a:prstGeom>
          <a:noFill/>
          <a:ln/>
        </p:spPr>
        <p:txBody>
          <a:bodyPr wrap="square" lIns="0" tIns="0" rIns="0" bIns="0" rtlCol="0" anchor="ctr">
            <a:normAutofit/>
          </a:bodyPr>
          <a:lstStyle/>
          <a:p>
            <a:pPr algn="l" indent="0" marL="0">
              <a:buNone/>
            </a:pPr>
            <a:r>
              <a:rPr lang="en-US" sz="1050" i="1" dirty="0">
                <a:solidFill>
                  <a:srgbClr val="64766E"/>
                </a:solidFill>
                <a:latin typeface="Aptos" pitchFamily="34" charset="0"/>
                <a:ea typeface="Aptos" pitchFamily="34" charset="-122"/>
                <a:cs typeface="Aptos" pitchFamily="34" charset="-120"/>
              </a:rPr>
              <a:t>*JEV activates only when the server-side TypeSafe secret is configured. No key is needed for the local baseline or synthetic demo.</a:t>
            </a:r>
            <a:endParaRPr lang="en-US" sz="105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06 / COLLECTION AND PROVENANCE</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Collection is a sample with a chain of custody</a:t>
            </a:r>
            <a:endParaRPr lang="en-US" sz="3000" dirty="0"/>
          </a:p>
        </p:txBody>
      </p:sp>
      <p:sp>
        <p:nvSpPr>
          <p:cNvPr id="4" name="Text 2"/>
          <p:cNvSpPr/>
          <p:nvPr/>
        </p:nvSpPr>
        <p:spPr>
          <a:xfrm>
            <a:off x="548640" y="1298448"/>
            <a:ext cx="10789920" cy="329184"/>
          </a:xfrm>
          <a:prstGeom prst="rect">
            <a:avLst/>
          </a:prstGeom>
          <a:noFill/>
          <a:ln/>
        </p:spPr>
        <p:txBody>
          <a:bodyPr wrap="square" lIns="0" tIns="0" rIns="0" bIns="0" rtlCol="0" anchor="t">
            <a:normAutofit/>
          </a:bodyPr>
          <a:lstStyle/>
          <a:p>
            <a:pPr algn="l" indent="0" marL="0">
              <a:buNone/>
            </a:pPr>
            <a:r>
              <a:rPr lang="en-US" sz="1350" dirty="0">
                <a:solidFill>
                  <a:srgbClr val="64766E"/>
                </a:solidFill>
                <a:latin typeface="Aptos" pitchFamily="34" charset="0"/>
                <a:ea typeface="Aptos" pitchFamily="34" charset="-122"/>
                <a:cs typeface="Aptos" pitchFamily="34" charset="-120"/>
              </a:rPr>
              <a:t>Each article retains enough metadata to explain where it came from and how it entered the study.</a:t>
            </a:r>
            <a:endParaRPr lang="en-US" sz="1350" dirty="0"/>
          </a:p>
        </p:txBody>
      </p:sp>
      <p:sp>
        <p:nvSpPr>
          <p:cNvPr id="5" name="Shape 3"/>
          <p:cNvSpPr/>
          <p:nvPr/>
        </p:nvSpPr>
        <p:spPr>
          <a:xfrm>
            <a:off x="640080" y="1938528"/>
            <a:ext cx="1682496" cy="1234440"/>
          </a:xfrm>
          <a:prstGeom prst="roundRect">
            <a:avLst>
              <a:gd name="adj" fmla="val 9630"/>
            </a:avLst>
          </a:prstGeom>
          <a:solidFill>
            <a:srgbClr val="FFFFFF"/>
          </a:solidFill>
          <a:ln w="10160">
            <a:solidFill>
              <a:srgbClr val="D9DFD7"/>
            </a:solidFill>
            <a:prstDash val="solid"/>
          </a:ln>
        </p:spPr>
      </p:sp>
      <p:sp>
        <p:nvSpPr>
          <p:cNvPr id="6" name="Shape 4"/>
          <p:cNvSpPr/>
          <p:nvPr/>
        </p:nvSpPr>
        <p:spPr>
          <a:xfrm>
            <a:off x="640080" y="2084832"/>
            <a:ext cx="50292" cy="941832"/>
          </a:xfrm>
          <a:prstGeom prst="roundRect">
            <a:avLst>
              <a:gd name="adj" fmla="val 36364"/>
            </a:avLst>
          </a:prstGeom>
          <a:solidFill>
            <a:srgbClr val="E7A54A"/>
          </a:solidFill>
          <a:ln w="10160">
            <a:solidFill>
              <a:srgbClr val="E7A54A">
                <a:alpha val="0"/>
              </a:srgbClr>
            </a:solidFill>
            <a:prstDash val="solid"/>
          </a:ln>
        </p:spPr>
      </p:sp>
      <p:sp>
        <p:nvSpPr>
          <p:cNvPr id="7" name="Text 5"/>
          <p:cNvSpPr/>
          <p:nvPr/>
        </p:nvSpPr>
        <p:spPr>
          <a:xfrm>
            <a:off x="822960" y="2148840"/>
            <a:ext cx="1371600" cy="182880"/>
          </a:xfrm>
          <a:prstGeom prst="rect">
            <a:avLst/>
          </a:prstGeom>
          <a:noFill/>
          <a:ln/>
        </p:spPr>
        <p:txBody>
          <a:bodyPr wrap="square" lIns="0" tIns="0" rIns="0" bIns="0" rtlCol="0" anchor="ctr">
            <a:normAutofit/>
          </a:bodyPr>
          <a:lstStyle/>
          <a:p>
            <a:pPr algn="l" indent="0" marL="0">
              <a:buNone/>
            </a:pPr>
            <a:r>
              <a:rPr lang="en-US" sz="900" b="1" spc="60" kern="0" dirty="0">
                <a:solidFill>
                  <a:srgbClr val="E7A54A"/>
                </a:solidFill>
                <a:latin typeface="Aptos" pitchFamily="34" charset="0"/>
                <a:ea typeface="Aptos" pitchFamily="34" charset="-122"/>
                <a:cs typeface="Aptos" pitchFamily="34" charset="-120"/>
              </a:rPr>
              <a:t>NEWS SEARCH</a:t>
            </a:r>
            <a:endParaRPr lang="en-US" sz="900" dirty="0"/>
          </a:p>
        </p:txBody>
      </p:sp>
      <p:sp>
        <p:nvSpPr>
          <p:cNvPr id="8" name="Text 6"/>
          <p:cNvSpPr/>
          <p:nvPr/>
        </p:nvSpPr>
        <p:spPr>
          <a:xfrm>
            <a:off x="822960" y="2450592"/>
            <a:ext cx="1325880" cy="512064"/>
          </a:xfrm>
          <a:prstGeom prst="rect">
            <a:avLst/>
          </a:prstGeom>
          <a:noFill/>
          <a:ln/>
        </p:spPr>
        <p:txBody>
          <a:bodyPr wrap="square" lIns="0" tIns="0" rIns="0" bIns="0" rtlCol="0" anchor="t">
            <a:normAutofit/>
          </a:bodyPr>
          <a:lstStyle/>
          <a:p>
            <a:pPr algn="l" indent="0" marL="0">
              <a:buNone/>
            </a:pPr>
            <a:r>
              <a:rPr lang="en-US" sz="1200" b="1" dirty="0">
                <a:solidFill>
                  <a:srgbClr val="182D2A"/>
                </a:solidFill>
                <a:latin typeface="Aptos" pitchFamily="34" charset="0"/>
                <a:ea typeface="Aptos" pitchFamily="34" charset="-122"/>
                <a:cs typeface="Aptos" pitchFamily="34" charset="-120"/>
              </a:rPr>
              <a:t>Google News RSS</a:t>
            </a:r>
            <a:endParaRPr lang="en-US" sz="1200" dirty="0"/>
          </a:p>
          <a:p>
            <a:pPr algn="l" indent="0" marL="0">
              <a:buNone/>
            </a:pPr>
            <a:r>
              <a:rPr lang="en-US" sz="1200" b="1" dirty="0">
                <a:solidFill>
                  <a:srgbClr val="182D2A"/>
                </a:solidFill>
                <a:latin typeface="Aptos" pitchFamily="34" charset="0"/>
                <a:ea typeface="Aptos" pitchFamily="34" charset="-122"/>
                <a:cs typeface="Aptos" pitchFamily="34" charset="-120"/>
              </a:rPr>
              <a:t>Bing News RSS</a:t>
            </a:r>
            <a:endParaRPr lang="en-US" sz="1200" dirty="0"/>
          </a:p>
        </p:txBody>
      </p:sp>
      <p:sp>
        <p:nvSpPr>
          <p:cNvPr id="9" name="Shape 7"/>
          <p:cNvSpPr/>
          <p:nvPr/>
        </p:nvSpPr>
        <p:spPr>
          <a:xfrm>
            <a:off x="1481328" y="3255264"/>
            <a:ext cx="5056632" cy="502920"/>
          </a:xfrm>
          <a:prstGeom prst="line">
            <a:avLst/>
          </a:prstGeom>
          <a:noFill/>
          <a:ln w="17145">
            <a:solidFill>
              <a:srgbClr val="D9DFD7"/>
            </a:solidFill>
            <a:prstDash val="solid"/>
            <a:headEnd type="none"/>
            <a:tailEnd type="none"/>
          </a:ln>
        </p:spPr>
      </p:sp>
      <p:sp>
        <p:nvSpPr>
          <p:cNvPr id="10" name="Shape 8"/>
          <p:cNvSpPr/>
          <p:nvPr/>
        </p:nvSpPr>
        <p:spPr>
          <a:xfrm>
            <a:off x="2542032" y="1938528"/>
            <a:ext cx="1682496" cy="1234440"/>
          </a:xfrm>
          <a:prstGeom prst="roundRect">
            <a:avLst>
              <a:gd name="adj" fmla="val 9630"/>
            </a:avLst>
          </a:prstGeom>
          <a:solidFill>
            <a:srgbClr val="FFFFFF"/>
          </a:solidFill>
          <a:ln w="10160">
            <a:solidFill>
              <a:srgbClr val="D9DFD7"/>
            </a:solidFill>
            <a:prstDash val="solid"/>
          </a:ln>
        </p:spPr>
      </p:sp>
      <p:sp>
        <p:nvSpPr>
          <p:cNvPr id="11" name="Shape 9"/>
          <p:cNvSpPr/>
          <p:nvPr/>
        </p:nvSpPr>
        <p:spPr>
          <a:xfrm>
            <a:off x="2542032" y="2084832"/>
            <a:ext cx="50292" cy="941832"/>
          </a:xfrm>
          <a:prstGeom prst="roundRect">
            <a:avLst>
              <a:gd name="adj" fmla="val 36364"/>
            </a:avLst>
          </a:prstGeom>
          <a:solidFill>
            <a:srgbClr val="2E8069"/>
          </a:solidFill>
          <a:ln w="10160">
            <a:solidFill>
              <a:srgbClr val="2E8069">
                <a:alpha val="0"/>
              </a:srgbClr>
            </a:solidFill>
            <a:prstDash val="solid"/>
          </a:ln>
        </p:spPr>
      </p:sp>
      <p:sp>
        <p:nvSpPr>
          <p:cNvPr id="12" name="Text 10"/>
          <p:cNvSpPr/>
          <p:nvPr/>
        </p:nvSpPr>
        <p:spPr>
          <a:xfrm>
            <a:off x="2724912" y="2148840"/>
            <a:ext cx="1371600" cy="182880"/>
          </a:xfrm>
          <a:prstGeom prst="rect">
            <a:avLst/>
          </a:prstGeom>
          <a:noFill/>
          <a:ln/>
        </p:spPr>
        <p:txBody>
          <a:bodyPr wrap="square" lIns="0" tIns="0" rIns="0" bIns="0" rtlCol="0" anchor="ctr">
            <a:normAutofit/>
          </a:bodyPr>
          <a:lstStyle/>
          <a:p>
            <a:pPr algn="l" indent="0" marL="0">
              <a:buNone/>
            </a:pPr>
            <a:r>
              <a:rPr lang="en-US" sz="900" b="1" spc="60" kern="0" dirty="0">
                <a:solidFill>
                  <a:srgbClr val="2E8069"/>
                </a:solidFill>
                <a:latin typeface="Aptos" pitchFamily="34" charset="0"/>
                <a:ea typeface="Aptos" pitchFamily="34" charset="-122"/>
                <a:cs typeface="Aptos" pitchFamily="34" charset="-120"/>
              </a:rPr>
              <a:t>USER INPUT</a:t>
            </a:r>
            <a:endParaRPr lang="en-US" sz="900" dirty="0"/>
          </a:p>
        </p:txBody>
      </p:sp>
      <p:sp>
        <p:nvSpPr>
          <p:cNvPr id="13" name="Text 11"/>
          <p:cNvSpPr/>
          <p:nvPr/>
        </p:nvSpPr>
        <p:spPr>
          <a:xfrm>
            <a:off x="2724912" y="2450592"/>
            <a:ext cx="1325880" cy="512064"/>
          </a:xfrm>
          <a:prstGeom prst="rect">
            <a:avLst/>
          </a:prstGeom>
          <a:noFill/>
          <a:ln/>
        </p:spPr>
        <p:txBody>
          <a:bodyPr wrap="square" lIns="0" tIns="0" rIns="0" bIns="0" rtlCol="0" anchor="t">
            <a:normAutofit/>
          </a:bodyPr>
          <a:lstStyle/>
          <a:p>
            <a:pPr algn="l" indent="0" marL="0">
              <a:buNone/>
            </a:pPr>
            <a:r>
              <a:rPr lang="en-US" sz="1200" b="1" dirty="0">
                <a:solidFill>
                  <a:srgbClr val="182D2A"/>
                </a:solidFill>
                <a:latin typeface="Aptos" pitchFamily="34" charset="0"/>
                <a:ea typeface="Aptos" pitchFamily="34" charset="-122"/>
                <a:cs typeface="Aptos" pitchFamily="34" charset="-120"/>
              </a:rPr>
              <a:t>RSS feed</a:t>
            </a:r>
            <a:endParaRPr lang="en-US" sz="1200" dirty="0"/>
          </a:p>
          <a:p>
            <a:pPr algn="l" indent="0" marL="0">
              <a:buNone/>
            </a:pPr>
            <a:r>
              <a:rPr lang="en-US" sz="1200" b="1" dirty="0">
                <a:solidFill>
                  <a:srgbClr val="182D2A"/>
                </a:solidFill>
                <a:latin typeface="Aptos" pitchFamily="34" charset="0"/>
                <a:ea typeface="Aptos" pitchFamily="34" charset="-122"/>
                <a:cs typeface="Aptos" pitchFamily="34" charset="-120"/>
              </a:rPr>
              <a:t>Public article URL</a:t>
            </a:r>
            <a:endParaRPr lang="en-US" sz="1200" dirty="0"/>
          </a:p>
        </p:txBody>
      </p:sp>
      <p:sp>
        <p:nvSpPr>
          <p:cNvPr id="14" name="Shape 12"/>
          <p:cNvSpPr/>
          <p:nvPr/>
        </p:nvSpPr>
        <p:spPr>
          <a:xfrm>
            <a:off x="3383280" y="3255264"/>
            <a:ext cx="3154680" cy="502920"/>
          </a:xfrm>
          <a:prstGeom prst="line">
            <a:avLst/>
          </a:prstGeom>
          <a:noFill/>
          <a:ln w="17145">
            <a:solidFill>
              <a:srgbClr val="D9DFD7"/>
            </a:solidFill>
            <a:prstDash val="solid"/>
            <a:headEnd type="none"/>
            <a:tailEnd type="none"/>
          </a:ln>
        </p:spPr>
      </p:sp>
      <p:sp>
        <p:nvSpPr>
          <p:cNvPr id="15" name="Shape 13"/>
          <p:cNvSpPr/>
          <p:nvPr/>
        </p:nvSpPr>
        <p:spPr>
          <a:xfrm>
            <a:off x="4443984" y="1938528"/>
            <a:ext cx="1682496" cy="1234440"/>
          </a:xfrm>
          <a:prstGeom prst="roundRect">
            <a:avLst>
              <a:gd name="adj" fmla="val 9630"/>
            </a:avLst>
          </a:prstGeom>
          <a:solidFill>
            <a:srgbClr val="FFFFFF"/>
          </a:solidFill>
          <a:ln w="10160">
            <a:solidFill>
              <a:srgbClr val="D9DFD7"/>
            </a:solidFill>
            <a:prstDash val="solid"/>
          </a:ln>
        </p:spPr>
      </p:sp>
      <p:sp>
        <p:nvSpPr>
          <p:cNvPr id="16" name="Shape 14"/>
          <p:cNvSpPr/>
          <p:nvPr/>
        </p:nvSpPr>
        <p:spPr>
          <a:xfrm>
            <a:off x="4443984" y="2084832"/>
            <a:ext cx="50292" cy="941832"/>
          </a:xfrm>
          <a:prstGeom prst="roundRect">
            <a:avLst>
              <a:gd name="adj" fmla="val 36364"/>
            </a:avLst>
          </a:prstGeom>
          <a:solidFill>
            <a:srgbClr val="5B88A0"/>
          </a:solidFill>
          <a:ln w="10160">
            <a:solidFill>
              <a:srgbClr val="5B88A0">
                <a:alpha val="0"/>
              </a:srgbClr>
            </a:solidFill>
            <a:prstDash val="solid"/>
          </a:ln>
        </p:spPr>
      </p:sp>
      <p:sp>
        <p:nvSpPr>
          <p:cNvPr id="17" name="Text 15"/>
          <p:cNvSpPr/>
          <p:nvPr/>
        </p:nvSpPr>
        <p:spPr>
          <a:xfrm>
            <a:off x="4626864" y="2148840"/>
            <a:ext cx="1371600" cy="182880"/>
          </a:xfrm>
          <a:prstGeom prst="rect">
            <a:avLst/>
          </a:prstGeom>
          <a:noFill/>
          <a:ln/>
        </p:spPr>
        <p:txBody>
          <a:bodyPr wrap="square" lIns="0" tIns="0" rIns="0" bIns="0" rtlCol="0" anchor="ctr">
            <a:normAutofit/>
          </a:bodyPr>
          <a:lstStyle/>
          <a:p>
            <a:pPr algn="l" indent="0" marL="0">
              <a:buNone/>
            </a:pPr>
            <a:r>
              <a:rPr lang="en-US" sz="900" b="1" spc="60" kern="0" dirty="0">
                <a:solidFill>
                  <a:srgbClr val="5B88A0"/>
                </a:solidFill>
                <a:latin typeface="Aptos" pitchFamily="34" charset="0"/>
                <a:ea typeface="Aptos" pitchFamily="34" charset="-122"/>
                <a:cs typeface="Aptos" pitchFamily="34" charset="-120"/>
              </a:rPr>
              <a:t>BULK INPUT</a:t>
            </a:r>
            <a:endParaRPr lang="en-US" sz="900" dirty="0"/>
          </a:p>
        </p:txBody>
      </p:sp>
      <p:sp>
        <p:nvSpPr>
          <p:cNvPr id="18" name="Text 16"/>
          <p:cNvSpPr/>
          <p:nvPr/>
        </p:nvSpPr>
        <p:spPr>
          <a:xfrm>
            <a:off x="4626864" y="2450592"/>
            <a:ext cx="1325880" cy="512064"/>
          </a:xfrm>
          <a:prstGeom prst="rect">
            <a:avLst/>
          </a:prstGeom>
          <a:noFill/>
          <a:ln/>
        </p:spPr>
        <p:txBody>
          <a:bodyPr wrap="square" lIns="0" tIns="0" rIns="0" bIns="0" rtlCol="0" anchor="t">
            <a:normAutofit/>
          </a:bodyPr>
          <a:lstStyle/>
          <a:p>
            <a:pPr algn="l" indent="0" marL="0">
              <a:buNone/>
            </a:pPr>
            <a:r>
              <a:rPr lang="en-US" sz="1200" b="1" dirty="0">
                <a:solidFill>
                  <a:srgbClr val="182D2A"/>
                </a:solidFill>
                <a:latin typeface="Aptos" pitchFamily="34" charset="0"/>
                <a:ea typeface="Aptos" pitchFamily="34" charset="-122"/>
                <a:cs typeface="Aptos" pitchFamily="34" charset="-120"/>
              </a:rPr>
              <a:t>UTF-8 JSON</a:t>
            </a:r>
            <a:endParaRPr lang="en-US" sz="1200" dirty="0"/>
          </a:p>
          <a:p>
            <a:pPr algn="l" indent="0" marL="0">
              <a:buNone/>
            </a:pPr>
            <a:r>
              <a:rPr lang="en-US" sz="1200" b="1" dirty="0">
                <a:solidFill>
                  <a:srgbClr val="182D2A"/>
                </a:solidFill>
                <a:latin typeface="Aptos" pitchFamily="34" charset="0"/>
                <a:ea typeface="Aptos" pitchFamily="34" charset="-122"/>
                <a:cs typeface="Aptos" pitchFamily="34" charset="-120"/>
              </a:rPr>
              <a:t>CSV dataset</a:t>
            </a:r>
            <a:endParaRPr lang="en-US" sz="1200" dirty="0"/>
          </a:p>
        </p:txBody>
      </p:sp>
      <p:sp>
        <p:nvSpPr>
          <p:cNvPr id="19" name="Shape 17"/>
          <p:cNvSpPr/>
          <p:nvPr/>
        </p:nvSpPr>
        <p:spPr>
          <a:xfrm>
            <a:off x="5285232" y="3255264"/>
            <a:ext cx="1252728" cy="502920"/>
          </a:xfrm>
          <a:prstGeom prst="line">
            <a:avLst/>
          </a:prstGeom>
          <a:noFill/>
          <a:ln w="17145">
            <a:solidFill>
              <a:srgbClr val="D9DFD7"/>
            </a:solidFill>
            <a:prstDash val="solid"/>
            <a:headEnd type="none"/>
            <a:tailEnd type="none"/>
          </a:ln>
        </p:spPr>
      </p:sp>
      <p:sp>
        <p:nvSpPr>
          <p:cNvPr id="20" name="Shape 18"/>
          <p:cNvSpPr/>
          <p:nvPr/>
        </p:nvSpPr>
        <p:spPr>
          <a:xfrm>
            <a:off x="5577840" y="3456432"/>
            <a:ext cx="1938528" cy="896112"/>
          </a:xfrm>
          <a:prstGeom prst="roundRect">
            <a:avLst>
              <a:gd name="adj" fmla="val 13265"/>
            </a:avLst>
          </a:prstGeom>
          <a:solidFill>
            <a:srgbClr val="173D35"/>
          </a:solidFill>
          <a:ln w="10160">
            <a:solidFill>
              <a:srgbClr val="173D35">
                <a:alpha val="0"/>
              </a:srgbClr>
            </a:solidFill>
            <a:prstDash val="solid"/>
          </a:ln>
        </p:spPr>
      </p:sp>
      <p:sp>
        <p:nvSpPr>
          <p:cNvPr id="21" name="Shape 19"/>
          <p:cNvSpPr/>
          <p:nvPr/>
        </p:nvSpPr>
        <p:spPr>
          <a:xfrm>
            <a:off x="5577840" y="3602736"/>
            <a:ext cx="50292" cy="603504"/>
          </a:xfrm>
          <a:prstGeom prst="roundRect">
            <a:avLst>
              <a:gd name="adj" fmla="val 36364"/>
            </a:avLst>
          </a:prstGeom>
          <a:solidFill>
            <a:srgbClr val="E7A54A"/>
          </a:solidFill>
          <a:ln w="10160">
            <a:solidFill>
              <a:srgbClr val="E7A54A">
                <a:alpha val="0"/>
              </a:srgbClr>
            </a:solidFill>
            <a:prstDash val="solid"/>
          </a:ln>
        </p:spPr>
      </p:sp>
      <p:sp>
        <p:nvSpPr>
          <p:cNvPr id="22" name="Text 20"/>
          <p:cNvSpPr/>
          <p:nvPr/>
        </p:nvSpPr>
        <p:spPr>
          <a:xfrm>
            <a:off x="5797296" y="3666744"/>
            <a:ext cx="1481328" cy="50292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INGEST +</a:t>
            </a:r>
            <a:endParaRPr lang="en-US" sz="1300" dirty="0"/>
          </a:p>
          <a:p>
            <a:pPr algn="ctr" indent="0" marL="0">
              <a:buNone/>
            </a:pPr>
            <a:r>
              <a:rPr lang="en-US" sz="1300" b="1" dirty="0">
                <a:solidFill>
                  <a:srgbClr val="FFFFFF"/>
                </a:solidFill>
                <a:latin typeface="Aptos" pitchFamily="34" charset="0"/>
                <a:ea typeface="Aptos" pitchFamily="34" charset="-122"/>
                <a:cs typeface="Aptos" pitchFamily="34" charset="-120"/>
              </a:rPr>
              <a:t>NORMALIZE</a:t>
            </a:r>
            <a:endParaRPr lang="en-US" sz="1300" dirty="0"/>
          </a:p>
        </p:txBody>
      </p:sp>
      <p:sp>
        <p:nvSpPr>
          <p:cNvPr id="23" name="Shape 21"/>
          <p:cNvSpPr/>
          <p:nvPr/>
        </p:nvSpPr>
        <p:spPr>
          <a:xfrm>
            <a:off x="7598664" y="3904488"/>
            <a:ext cx="685800" cy="0"/>
          </a:xfrm>
          <a:prstGeom prst="line">
            <a:avLst/>
          </a:prstGeom>
          <a:noFill/>
          <a:ln w="27940">
            <a:solidFill>
              <a:srgbClr val="2E8069"/>
            </a:solidFill>
            <a:prstDash val="solid"/>
            <a:headEnd type="none"/>
            <a:tailEnd type="none"/>
          </a:ln>
        </p:spPr>
      </p:sp>
      <p:sp>
        <p:nvSpPr>
          <p:cNvPr id="24" name="Shape 22"/>
          <p:cNvSpPr/>
          <p:nvPr/>
        </p:nvSpPr>
        <p:spPr>
          <a:xfrm>
            <a:off x="8339328" y="1764792"/>
            <a:ext cx="3218688" cy="4023360"/>
          </a:xfrm>
          <a:prstGeom prst="roundRect">
            <a:avLst>
              <a:gd name="adj" fmla="val 3693"/>
            </a:avLst>
          </a:prstGeom>
          <a:solidFill>
            <a:srgbClr val="E5EFE8"/>
          </a:solidFill>
          <a:ln w="10160">
            <a:solidFill>
              <a:srgbClr val="E5EFE8">
                <a:alpha val="0"/>
              </a:srgbClr>
            </a:solidFill>
            <a:prstDash val="solid"/>
          </a:ln>
        </p:spPr>
      </p:sp>
      <p:sp>
        <p:nvSpPr>
          <p:cNvPr id="25" name="Shape 23"/>
          <p:cNvSpPr/>
          <p:nvPr/>
        </p:nvSpPr>
        <p:spPr>
          <a:xfrm>
            <a:off x="8339328" y="1911096"/>
            <a:ext cx="50292" cy="3730752"/>
          </a:xfrm>
          <a:prstGeom prst="roundRect">
            <a:avLst>
              <a:gd name="adj" fmla="val 36364"/>
            </a:avLst>
          </a:prstGeom>
          <a:solidFill>
            <a:srgbClr val="2E8069"/>
          </a:solidFill>
          <a:ln w="10160">
            <a:solidFill>
              <a:srgbClr val="2E8069">
                <a:alpha val="0"/>
              </a:srgbClr>
            </a:solidFill>
            <a:prstDash val="solid"/>
          </a:ln>
        </p:spPr>
      </p:sp>
      <p:sp>
        <p:nvSpPr>
          <p:cNvPr id="26" name="Text 24"/>
          <p:cNvSpPr/>
          <p:nvPr/>
        </p:nvSpPr>
        <p:spPr>
          <a:xfrm>
            <a:off x="8659368" y="2057400"/>
            <a:ext cx="2560320" cy="219456"/>
          </a:xfrm>
          <a:prstGeom prst="rect">
            <a:avLst/>
          </a:prstGeom>
          <a:noFill/>
          <a:ln/>
        </p:spPr>
        <p:txBody>
          <a:bodyPr wrap="square" lIns="0" tIns="0" rIns="0" bIns="0" rtlCol="0" anchor="ctr">
            <a:normAutofit/>
          </a:bodyPr>
          <a:lstStyle/>
          <a:p>
            <a:pPr algn="l" indent="0" marL="0">
              <a:buNone/>
            </a:pPr>
            <a:r>
              <a:rPr lang="en-US" sz="950" b="1" spc="100" kern="0" dirty="0">
                <a:solidFill>
                  <a:srgbClr val="173D35"/>
                </a:solidFill>
                <a:latin typeface="Aptos" pitchFamily="34" charset="0"/>
                <a:ea typeface="Aptos" pitchFamily="34" charset="-122"/>
                <a:cs typeface="Aptos" pitchFamily="34" charset="-120"/>
              </a:rPr>
              <a:t>STORED ARTICLE RECORD</a:t>
            </a:r>
            <a:endParaRPr lang="en-US" sz="950" dirty="0"/>
          </a:p>
        </p:txBody>
      </p:sp>
      <p:sp>
        <p:nvSpPr>
          <p:cNvPr id="27" name="Shape 25"/>
          <p:cNvSpPr/>
          <p:nvPr/>
        </p:nvSpPr>
        <p:spPr>
          <a:xfrm>
            <a:off x="8677656" y="2542032"/>
            <a:ext cx="118872" cy="118872"/>
          </a:xfrm>
          <a:prstGeom prst="ellipse">
            <a:avLst/>
          </a:prstGeom>
          <a:solidFill>
            <a:srgbClr val="2E8069"/>
          </a:solidFill>
          <a:ln w="12700">
            <a:solidFill>
              <a:srgbClr val="2E8069">
                <a:alpha val="0"/>
              </a:srgbClr>
            </a:solidFill>
            <a:prstDash val="solid"/>
          </a:ln>
        </p:spPr>
      </p:sp>
      <p:sp>
        <p:nvSpPr>
          <p:cNvPr id="28" name="Text 26"/>
          <p:cNvSpPr/>
          <p:nvPr/>
        </p:nvSpPr>
        <p:spPr>
          <a:xfrm>
            <a:off x="8942832" y="2514600"/>
            <a:ext cx="2258568" cy="219456"/>
          </a:xfrm>
          <a:prstGeom prst="rect">
            <a:avLst/>
          </a:prstGeom>
          <a:noFill/>
          <a:ln/>
        </p:spPr>
        <p:txBody>
          <a:bodyPr wrap="square" lIns="0" tIns="0" rIns="0" bIns="0" rtlCol="0" anchor="ctr">
            <a:normAutofit/>
          </a:bodyPr>
          <a:lstStyle/>
          <a:p>
            <a:pPr algn="l" indent="0" marL="0">
              <a:buNone/>
            </a:pPr>
            <a:r>
              <a:rPr lang="en-US" sz="1150" dirty="0">
                <a:solidFill>
                  <a:srgbClr val="182D2A"/>
                </a:solidFill>
                <a:latin typeface="Aptos" pitchFamily="34" charset="0"/>
                <a:ea typeface="Aptos" pitchFamily="34" charset="-122"/>
                <a:cs typeface="Aptos" pitchFamily="34" charset="-120"/>
              </a:rPr>
              <a:t>Source + domain</a:t>
            </a:r>
            <a:endParaRPr lang="en-US" sz="1150" dirty="0"/>
          </a:p>
        </p:txBody>
      </p:sp>
      <p:sp>
        <p:nvSpPr>
          <p:cNvPr id="29" name="Shape 27"/>
          <p:cNvSpPr/>
          <p:nvPr/>
        </p:nvSpPr>
        <p:spPr>
          <a:xfrm>
            <a:off x="8677656" y="3017520"/>
            <a:ext cx="118872" cy="118872"/>
          </a:xfrm>
          <a:prstGeom prst="ellipse">
            <a:avLst/>
          </a:prstGeom>
          <a:solidFill>
            <a:srgbClr val="E7A54A"/>
          </a:solidFill>
          <a:ln w="12700">
            <a:solidFill>
              <a:srgbClr val="E7A54A">
                <a:alpha val="0"/>
              </a:srgbClr>
            </a:solidFill>
            <a:prstDash val="solid"/>
          </a:ln>
        </p:spPr>
      </p:sp>
      <p:sp>
        <p:nvSpPr>
          <p:cNvPr id="30" name="Text 28"/>
          <p:cNvSpPr/>
          <p:nvPr/>
        </p:nvSpPr>
        <p:spPr>
          <a:xfrm>
            <a:off x="8942832" y="2990088"/>
            <a:ext cx="2258568" cy="219456"/>
          </a:xfrm>
          <a:prstGeom prst="rect">
            <a:avLst/>
          </a:prstGeom>
          <a:noFill/>
          <a:ln/>
        </p:spPr>
        <p:txBody>
          <a:bodyPr wrap="square" lIns="0" tIns="0" rIns="0" bIns="0" rtlCol="0" anchor="ctr">
            <a:normAutofit/>
          </a:bodyPr>
          <a:lstStyle/>
          <a:p>
            <a:pPr algn="l" indent="0" marL="0">
              <a:buNone/>
            </a:pPr>
            <a:r>
              <a:rPr lang="en-US" sz="1150" b="1" dirty="0">
                <a:solidFill>
                  <a:srgbClr val="182D2A"/>
                </a:solidFill>
                <a:latin typeface="Aptos" pitchFamily="34" charset="0"/>
                <a:ea typeface="Aptos" pitchFamily="34" charset="-122"/>
                <a:cs typeface="Aptos" pitchFamily="34" charset="-120"/>
              </a:rPr>
              <a:t>Original URL + discovery URL</a:t>
            </a:r>
            <a:endParaRPr lang="en-US" sz="1150" dirty="0"/>
          </a:p>
        </p:txBody>
      </p:sp>
      <p:sp>
        <p:nvSpPr>
          <p:cNvPr id="31" name="Shape 29"/>
          <p:cNvSpPr/>
          <p:nvPr/>
        </p:nvSpPr>
        <p:spPr>
          <a:xfrm>
            <a:off x="8677656" y="3493008"/>
            <a:ext cx="118872" cy="118872"/>
          </a:xfrm>
          <a:prstGeom prst="ellipse">
            <a:avLst/>
          </a:prstGeom>
          <a:solidFill>
            <a:srgbClr val="2E8069"/>
          </a:solidFill>
          <a:ln w="12700">
            <a:solidFill>
              <a:srgbClr val="2E8069">
                <a:alpha val="0"/>
              </a:srgbClr>
            </a:solidFill>
            <a:prstDash val="solid"/>
          </a:ln>
        </p:spPr>
      </p:sp>
      <p:sp>
        <p:nvSpPr>
          <p:cNvPr id="32" name="Text 30"/>
          <p:cNvSpPr/>
          <p:nvPr/>
        </p:nvSpPr>
        <p:spPr>
          <a:xfrm>
            <a:off x="8942832" y="3465576"/>
            <a:ext cx="2258568" cy="219456"/>
          </a:xfrm>
          <a:prstGeom prst="rect">
            <a:avLst/>
          </a:prstGeom>
          <a:noFill/>
          <a:ln/>
        </p:spPr>
        <p:txBody>
          <a:bodyPr wrap="square" lIns="0" tIns="0" rIns="0" bIns="0" rtlCol="0" anchor="ctr">
            <a:normAutofit/>
          </a:bodyPr>
          <a:lstStyle/>
          <a:p>
            <a:pPr algn="l" indent="0" marL="0">
              <a:buNone/>
            </a:pPr>
            <a:r>
              <a:rPr lang="en-US" sz="1150" dirty="0">
                <a:solidFill>
                  <a:srgbClr val="182D2A"/>
                </a:solidFill>
                <a:latin typeface="Aptos" pitchFamily="34" charset="0"/>
                <a:ea typeface="Aptos" pitchFamily="34" charset="-122"/>
                <a:cs typeface="Aptos" pitchFamily="34" charset="-120"/>
              </a:rPr>
              <a:t>Raw + cleaned content</a:t>
            </a:r>
            <a:endParaRPr lang="en-US" sz="1150" dirty="0"/>
          </a:p>
        </p:txBody>
      </p:sp>
      <p:sp>
        <p:nvSpPr>
          <p:cNvPr id="33" name="Shape 31"/>
          <p:cNvSpPr/>
          <p:nvPr/>
        </p:nvSpPr>
        <p:spPr>
          <a:xfrm>
            <a:off x="8677656" y="3968496"/>
            <a:ext cx="118872" cy="118872"/>
          </a:xfrm>
          <a:prstGeom prst="ellipse">
            <a:avLst/>
          </a:prstGeom>
          <a:solidFill>
            <a:srgbClr val="2E8069"/>
          </a:solidFill>
          <a:ln w="12700">
            <a:solidFill>
              <a:srgbClr val="2E8069">
                <a:alpha val="0"/>
              </a:srgbClr>
            </a:solidFill>
            <a:prstDash val="solid"/>
          </a:ln>
        </p:spPr>
      </p:sp>
      <p:sp>
        <p:nvSpPr>
          <p:cNvPr id="34" name="Text 32"/>
          <p:cNvSpPr/>
          <p:nvPr/>
        </p:nvSpPr>
        <p:spPr>
          <a:xfrm>
            <a:off x="8942832" y="3941064"/>
            <a:ext cx="2258568" cy="219456"/>
          </a:xfrm>
          <a:prstGeom prst="rect">
            <a:avLst/>
          </a:prstGeom>
          <a:noFill/>
          <a:ln/>
        </p:spPr>
        <p:txBody>
          <a:bodyPr wrap="square" lIns="0" tIns="0" rIns="0" bIns="0" rtlCol="0" anchor="ctr">
            <a:normAutofit/>
          </a:bodyPr>
          <a:lstStyle/>
          <a:p>
            <a:pPr algn="l" indent="0" marL="0">
              <a:buNone/>
            </a:pPr>
            <a:r>
              <a:rPr lang="en-US" sz="1150" dirty="0">
                <a:solidFill>
                  <a:srgbClr val="182D2A"/>
                </a:solidFill>
                <a:latin typeface="Aptos" pitchFamily="34" charset="0"/>
                <a:ea typeface="Aptos" pitchFamily="34" charset="-122"/>
                <a:cs typeface="Aptos" pitchFamily="34" charset="-120"/>
              </a:rPr>
              <a:t>Published / collected timestamps</a:t>
            </a:r>
            <a:endParaRPr lang="en-US" sz="1150" dirty="0"/>
          </a:p>
        </p:txBody>
      </p:sp>
      <p:sp>
        <p:nvSpPr>
          <p:cNvPr id="35" name="Shape 33"/>
          <p:cNvSpPr/>
          <p:nvPr/>
        </p:nvSpPr>
        <p:spPr>
          <a:xfrm>
            <a:off x="8677656" y="4443984"/>
            <a:ext cx="118872" cy="118872"/>
          </a:xfrm>
          <a:prstGeom prst="ellipse">
            <a:avLst/>
          </a:prstGeom>
          <a:solidFill>
            <a:srgbClr val="2E8069"/>
          </a:solidFill>
          <a:ln w="12700">
            <a:solidFill>
              <a:srgbClr val="2E8069">
                <a:alpha val="0"/>
              </a:srgbClr>
            </a:solidFill>
            <a:prstDash val="solid"/>
          </a:ln>
        </p:spPr>
      </p:sp>
      <p:sp>
        <p:nvSpPr>
          <p:cNvPr id="36" name="Text 34"/>
          <p:cNvSpPr/>
          <p:nvPr/>
        </p:nvSpPr>
        <p:spPr>
          <a:xfrm>
            <a:off x="8942832" y="4416552"/>
            <a:ext cx="2258568" cy="219456"/>
          </a:xfrm>
          <a:prstGeom prst="rect">
            <a:avLst/>
          </a:prstGeom>
          <a:noFill/>
          <a:ln/>
        </p:spPr>
        <p:txBody>
          <a:bodyPr wrap="square" lIns="0" tIns="0" rIns="0" bIns="0" rtlCol="0" anchor="ctr">
            <a:normAutofit/>
          </a:bodyPr>
          <a:lstStyle/>
          <a:p>
            <a:pPr algn="l" indent="0" marL="0">
              <a:buNone/>
            </a:pPr>
            <a:r>
              <a:rPr lang="en-US" sz="1150" dirty="0">
                <a:solidFill>
                  <a:srgbClr val="182D2A"/>
                </a:solidFill>
                <a:latin typeface="Aptos" pitchFamily="34" charset="0"/>
                <a:ea typeface="Aptos" pitchFamily="34" charset="-122"/>
                <a:cs typeface="Aptos" pitchFamily="34" charset="-120"/>
              </a:rPr>
              <a:t>Content hash + job ID</a:t>
            </a:r>
            <a:endParaRPr lang="en-US" sz="1150" dirty="0"/>
          </a:p>
        </p:txBody>
      </p:sp>
      <p:sp>
        <p:nvSpPr>
          <p:cNvPr id="37" name="Shape 35"/>
          <p:cNvSpPr/>
          <p:nvPr/>
        </p:nvSpPr>
        <p:spPr>
          <a:xfrm>
            <a:off x="8677656" y="4919472"/>
            <a:ext cx="118872" cy="118872"/>
          </a:xfrm>
          <a:prstGeom prst="ellipse">
            <a:avLst/>
          </a:prstGeom>
          <a:solidFill>
            <a:srgbClr val="2E8069"/>
          </a:solidFill>
          <a:ln w="12700">
            <a:solidFill>
              <a:srgbClr val="2E8069">
                <a:alpha val="0"/>
              </a:srgbClr>
            </a:solidFill>
            <a:prstDash val="solid"/>
          </a:ln>
        </p:spPr>
      </p:sp>
      <p:sp>
        <p:nvSpPr>
          <p:cNvPr id="38" name="Text 36"/>
          <p:cNvSpPr/>
          <p:nvPr/>
        </p:nvSpPr>
        <p:spPr>
          <a:xfrm>
            <a:off x="8942832" y="4892040"/>
            <a:ext cx="2258568" cy="219456"/>
          </a:xfrm>
          <a:prstGeom prst="rect">
            <a:avLst/>
          </a:prstGeom>
          <a:noFill/>
          <a:ln/>
        </p:spPr>
        <p:txBody>
          <a:bodyPr wrap="square" lIns="0" tIns="0" rIns="0" bIns="0" rtlCol="0" anchor="ctr">
            <a:normAutofit/>
          </a:bodyPr>
          <a:lstStyle/>
          <a:p>
            <a:pPr algn="l" indent="0" marL="0">
              <a:buNone/>
            </a:pPr>
            <a:r>
              <a:rPr lang="en-US" sz="1150" dirty="0">
                <a:solidFill>
                  <a:srgbClr val="182D2A"/>
                </a:solidFill>
                <a:latin typeface="Aptos" pitchFamily="34" charset="0"/>
                <a:ea typeface="Aptos" pitchFamily="34" charset="-122"/>
                <a:cs typeface="Aptos" pitchFamily="34" charset="-120"/>
              </a:rPr>
              <a:t>Synthetic / excerpt labels</a:t>
            </a:r>
            <a:endParaRPr lang="en-US" sz="1150" dirty="0"/>
          </a:p>
        </p:txBody>
      </p:sp>
      <p:sp>
        <p:nvSpPr>
          <p:cNvPr id="39" name="Shape 37"/>
          <p:cNvSpPr/>
          <p:nvPr/>
        </p:nvSpPr>
        <p:spPr>
          <a:xfrm>
            <a:off x="786384" y="5084064"/>
            <a:ext cx="1837944" cy="274320"/>
          </a:xfrm>
          <a:prstGeom prst="roundRect">
            <a:avLst>
              <a:gd name="adj" fmla="val 43333"/>
            </a:avLst>
          </a:prstGeom>
          <a:solidFill>
            <a:srgbClr val="F7EBD7"/>
          </a:solidFill>
          <a:ln w="10160">
            <a:solidFill>
              <a:srgbClr val="F7EBD7">
                <a:alpha val="0"/>
              </a:srgbClr>
            </a:solidFill>
            <a:prstDash val="solid"/>
          </a:ln>
        </p:spPr>
      </p:sp>
      <p:sp>
        <p:nvSpPr>
          <p:cNvPr id="40" name="Text 38"/>
          <p:cNvSpPr/>
          <p:nvPr/>
        </p:nvSpPr>
        <p:spPr>
          <a:xfrm>
            <a:off x="877824" y="5093208"/>
            <a:ext cx="1655064"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C8734E"/>
                </a:solidFill>
                <a:latin typeface="Aptos" pitchFamily="34" charset="0"/>
                <a:ea typeface="Aptos" pitchFamily="34" charset="-122"/>
                <a:cs typeface="Aptos" pitchFamily="34" charset="-120"/>
              </a:rPr>
              <a:t>DUPLICATES SKIPPED</a:t>
            </a:r>
            <a:endParaRPr lang="en-US" sz="900" dirty="0"/>
          </a:p>
        </p:txBody>
      </p:sp>
      <p:sp>
        <p:nvSpPr>
          <p:cNvPr id="41" name="Text 39"/>
          <p:cNvSpPr/>
          <p:nvPr/>
        </p:nvSpPr>
        <p:spPr>
          <a:xfrm>
            <a:off x="2834640" y="5102352"/>
            <a:ext cx="3017520" cy="228600"/>
          </a:xfrm>
          <a:prstGeom prst="rect">
            <a:avLst/>
          </a:prstGeom>
          <a:noFill/>
          <a:ln/>
        </p:spPr>
        <p:txBody>
          <a:bodyPr wrap="square" lIns="0" tIns="0" rIns="0" bIns="0" rtlCol="0" anchor="ctr">
            <a:normAutofit/>
          </a:bodyPr>
          <a:lstStyle/>
          <a:p>
            <a:pPr algn="l" indent="0" marL="0">
              <a:buNone/>
            </a:pPr>
            <a:r>
              <a:rPr lang="en-US" sz="1200" dirty="0">
                <a:solidFill>
                  <a:srgbClr val="64766E"/>
                </a:solidFill>
                <a:latin typeface="Aptos" pitchFamily="34" charset="0"/>
                <a:ea typeface="Aptos" pitchFamily="34" charset="-122"/>
                <a:cs typeface="Aptos" pitchFamily="34" charset="-120"/>
              </a:rPr>
              <a:t>URL or normalized title/content hash</a:t>
            </a:r>
            <a:endParaRPr lang="en-US" sz="120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07 / LANGUAGE AND RELEVANCE</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Language is script-detected; relevance is reason-coded</a:t>
            </a:r>
            <a:endParaRPr lang="en-US" sz="3000" dirty="0"/>
          </a:p>
        </p:txBody>
      </p:sp>
      <p:sp>
        <p:nvSpPr>
          <p:cNvPr id="4" name="Text 2"/>
          <p:cNvSpPr/>
          <p:nvPr/>
        </p:nvSpPr>
        <p:spPr>
          <a:xfrm>
            <a:off x="548640" y="1298448"/>
            <a:ext cx="10789920" cy="329184"/>
          </a:xfrm>
          <a:prstGeom prst="rect">
            <a:avLst/>
          </a:prstGeom>
          <a:noFill/>
          <a:ln/>
        </p:spPr>
        <p:txBody>
          <a:bodyPr wrap="square" lIns="0" tIns="0" rIns="0" bIns="0" rtlCol="0" anchor="t">
            <a:normAutofit/>
          </a:bodyPr>
          <a:lstStyle/>
          <a:p>
            <a:pPr algn="l" indent="0" marL="0">
              <a:buNone/>
            </a:pPr>
            <a:r>
              <a:rPr lang="en-US" sz="1350" dirty="0">
                <a:solidFill>
                  <a:srgbClr val="64766E"/>
                </a:solidFill>
                <a:latin typeface="Aptos" pitchFamily="34" charset="0"/>
                <a:ea typeface="Aptos" pitchFamily="34" charset="-122"/>
                <a:cs typeface="Aptos" pitchFamily="34" charset="-120"/>
              </a:rPr>
              <a:t>The demo supports English, Hindi, Kannada, Tamil and Telugu, with a configurable Government of India threshold.</a:t>
            </a:r>
            <a:endParaRPr lang="en-US" sz="1350" dirty="0"/>
          </a:p>
        </p:txBody>
      </p:sp>
      <p:sp>
        <p:nvSpPr>
          <p:cNvPr id="5" name="Shape 3"/>
          <p:cNvSpPr/>
          <p:nvPr/>
        </p:nvSpPr>
        <p:spPr>
          <a:xfrm>
            <a:off x="896112" y="1920240"/>
            <a:ext cx="658368" cy="658368"/>
          </a:xfrm>
          <a:prstGeom prst="ellipse">
            <a:avLst/>
          </a:prstGeom>
          <a:solidFill>
            <a:srgbClr val="173D35"/>
          </a:solidFill>
          <a:ln w="12700">
            <a:solidFill>
              <a:srgbClr val="173D35">
                <a:alpha val="0"/>
              </a:srgbClr>
            </a:solidFill>
            <a:prstDash val="solid"/>
          </a:ln>
        </p:spPr>
      </p:sp>
      <p:sp>
        <p:nvSpPr>
          <p:cNvPr id="6" name="Text 4"/>
          <p:cNvSpPr/>
          <p:nvPr/>
        </p:nvSpPr>
        <p:spPr>
          <a:xfrm>
            <a:off x="896112" y="2112264"/>
            <a:ext cx="658368" cy="23774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EN</a:t>
            </a:r>
            <a:endParaRPr lang="en-US" sz="1200" dirty="0"/>
          </a:p>
        </p:txBody>
      </p:sp>
      <p:sp>
        <p:nvSpPr>
          <p:cNvPr id="7" name="Text 5"/>
          <p:cNvSpPr/>
          <p:nvPr/>
        </p:nvSpPr>
        <p:spPr>
          <a:xfrm>
            <a:off x="685800" y="2734056"/>
            <a:ext cx="1078992" cy="210312"/>
          </a:xfrm>
          <a:prstGeom prst="rect">
            <a:avLst/>
          </a:prstGeom>
          <a:noFill/>
          <a:ln/>
        </p:spPr>
        <p:txBody>
          <a:bodyPr wrap="square" lIns="0" tIns="0" rIns="0" bIns="0" rtlCol="0" anchor="ctr">
            <a:normAutofit/>
          </a:bodyPr>
          <a:lstStyle/>
          <a:p>
            <a:pPr algn="ctr" indent="0" marL="0">
              <a:buNone/>
            </a:pPr>
            <a:r>
              <a:rPr lang="en-US" sz="1200" b="1" dirty="0">
                <a:solidFill>
                  <a:srgbClr val="182D2A"/>
                </a:solidFill>
                <a:latin typeface="Aptos" pitchFamily="34" charset="0"/>
                <a:ea typeface="Aptos" pitchFamily="34" charset="-122"/>
                <a:cs typeface="Aptos" pitchFamily="34" charset="-120"/>
              </a:rPr>
              <a:t>English</a:t>
            </a:r>
            <a:endParaRPr lang="en-US" sz="1200" dirty="0"/>
          </a:p>
        </p:txBody>
      </p:sp>
      <p:sp>
        <p:nvSpPr>
          <p:cNvPr id="8" name="Shape 6"/>
          <p:cNvSpPr/>
          <p:nvPr/>
        </p:nvSpPr>
        <p:spPr>
          <a:xfrm>
            <a:off x="2304288" y="1920240"/>
            <a:ext cx="658368" cy="658368"/>
          </a:xfrm>
          <a:prstGeom prst="ellipse">
            <a:avLst/>
          </a:prstGeom>
          <a:solidFill>
            <a:srgbClr val="2E8069"/>
          </a:solidFill>
          <a:ln w="12700">
            <a:solidFill>
              <a:srgbClr val="2E8069">
                <a:alpha val="0"/>
              </a:srgbClr>
            </a:solidFill>
            <a:prstDash val="solid"/>
          </a:ln>
        </p:spPr>
      </p:sp>
      <p:sp>
        <p:nvSpPr>
          <p:cNvPr id="9" name="Text 7"/>
          <p:cNvSpPr/>
          <p:nvPr/>
        </p:nvSpPr>
        <p:spPr>
          <a:xfrm>
            <a:off x="2304288" y="2112264"/>
            <a:ext cx="658368" cy="23774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HI</a:t>
            </a:r>
            <a:endParaRPr lang="en-US" sz="1200" dirty="0"/>
          </a:p>
        </p:txBody>
      </p:sp>
      <p:sp>
        <p:nvSpPr>
          <p:cNvPr id="10" name="Text 8"/>
          <p:cNvSpPr/>
          <p:nvPr/>
        </p:nvSpPr>
        <p:spPr>
          <a:xfrm>
            <a:off x="2093976" y="2734056"/>
            <a:ext cx="1078992" cy="210312"/>
          </a:xfrm>
          <a:prstGeom prst="rect">
            <a:avLst/>
          </a:prstGeom>
          <a:noFill/>
          <a:ln/>
        </p:spPr>
        <p:txBody>
          <a:bodyPr wrap="square" lIns="0" tIns="0" rIns="0" bIns="0" rtlCol="0" anchor="ctr">
            <a:normAutofit/>
          </a:bodyPr>
          <a:lstStyle/>
          <a:p>
            <a:pPr algn="ctr" indent="0" marL="0">
              <a:buNone/>
            </a:pPr>
            <a:r>
              <a:rPr lang="en-US" sz="1200" b="1" dirty="0">
                <a:solidFill>
                  <a:srgbClr val="182D2A"/>
                </a:solidFill>
                <a:latin typeface="Aptos" pitchFamily="34" charset="0"/>
                <a:ea typeface="Aptos" pitchFamily="34" charset="-122"/>
                <a:cs typeface="Aptos" pitchFamily="34" charset="-120"/>
              </a:rPr>
              <a:t>Hindi</a:t>
            </a:r>
            <a:endParaRPr lang="en-US" sz="1200" dirty="0"/>
          </a:p>
        </p:txBody>
      </p:sp>
      <p:sp>
        <p:nvSpPr>
          <p:cNvPr id="11" name="Shape 9"/>
          <p:cNvSpPr/>
          <p:nvPr/>
        </p:nvSpPr>
        <p:spPr>
          <a:xfrm>
            <a:off x="3712464" y="1920240"/>
            <a:ext cx="658368" cy="658368"/>
          </a:xfrm>
          <a:prstGeom prst="ellipse">
            <a:avLst/>
          </a:prstGeom>
          <a:solidFill>
            <a:srgbClr val="C8734E"/>
          </a:solidFill>
          <a:ln w="12700">
            <a:solidFill>
              <a:srgbClr val="C8734E">
                <a:alpha val="0"/>
              </a:srgbClr>
            </a:solidFill>
            <a:prstDash val="solid"/>
          </a:ln>
        </p:spPr>
      </p:sp>
      <p:sp>
        <p:nvSpPr>
          <p:cNvPr id="12" name="Text 10"/>
          <p:cNvSpPr/>
          <p:nvPr/>
        </p:nvSpPr>
        <p:spPr>
          <a:xfrm>
            <a:off x="3712464" y="2112264"/>
            <a:ext cx="658368" cy="23774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KN</a:t>
            </a:r>
            <a:endParaRPr lang="en-US" sz="1200" dirty="0"/>
          </a:p>
        </p:txBody>
      </p:sp>
      <p:sp>
        <p:nvSpPr>
          <p:cNvPr id="13" name="Text 11"/>
          <p:cNvSpPr/>
          <p:nvPr/>
        </p:nvSpPr>
        <p:spPr>
          <a:xfrm>
            <a:off x="3502152" y="2734056"/>
            <a:ext cx="1078992" cy="210312"/>
          </a:xfrm>
          <a:prstGeom prst="rect">
            <a:avLst/>
          </a:prstGeom>
          <a:noFill/>
          <a:ln/>
        </p:spPr>
        <p:txBody>
          <a:bodyPr wrap="square" lIns="0" tIns="0" rIns="0" bIns="0" rtlCol="0" anchor="ctr">
            <a:normAutofit/>
          </a:bodyPr>
          <a:lstStyle/>
          <a:p>
            <a:pPr algn="ctr" indent="0" marL="0">
              <a:buNone/>
            </a:pPr>
            <a:r>
              <a:rPr lang="en-US" sz="1200" b="1" dirty="0">
                <a:solidFill>
                  <a:srgbClr val="182D2A"/>
                </a:solidFill>
                <a:latin typeface="Aptos" pitchFamily="34" charset="0"/>
                <a:ea typeface="Aptos" pitchFamily="34" charset="-122"/>
                <a:cs typeface="Aptos" pitchFamily="34" charset="-120"/>
              </a:rPr>
              <a:t>Kannada</a:t>
            </a:r>
            <a:endParaRPr lang="en-US" sz="1200" dirty="0"/>
          </a:p>
        </p:txBody>
      </p:sp>
      <p:sp>
        <p:nvSpPr>
          <p:cNvPr id="14" name="Shape 12"/>
          <p:cNvSpPr/>
          <p:nvPr/>
        </p:nvSpPr>
        <p:spPr>
          <a:xfrm>
            <a:off x="5120640" y="1920240"/>
            <a:ext cx="658368" cy="658368"/>
          </a:xfrm>
          <a:prstGeom prst="ellipse">
            <a:avLst/>
          </a:prstGeom>
          <a:solidFill>
            <a:srgbClr val="5B88A0"/>
          </a:solidFill>
          <a:ln w="12700">
            <a:solidFill>
              <a:srgbClr val="5B88A0">
                <a:alpha val="0"/>
              </a:srgbClr>
            </a:solidFill>
            <a:prstDash val="solid"/>
          </a:ln>
        </p:spPr>
      </p:sp>
      <p:sp>
        <p:nvSpPr>
          <p:cNvPr id="15" name="Text 13"/>
          <p:cNvSpPr/>
          <p:nvPr/>
        </p:nvSpPr>
        <p:spPr>
          <a:xfrm>
            <a:off x="5120640" y="2112264"/>
            <a:ext cx="658368" cy="23774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TA</a:t>
            </a:r>
            <a:endParaRPr lang="en-US" sz="1200" dirty="0"/>
          </a:p>
        </p:txBody>
      </p:sp>
      <p:sp>
        <p:nvSpPr>
          <p:cNvPr id="16" name="Text 14"/>
          <p:cNvSpPr/>
          <p:nvPr/>
        </p:nvSpPr>
        <p:spPr>
          <a:xfrm>
            <a:off x="4910328" y="2734056"/>
            <a:ext cx="1078992" cy="210312"/>
          </a:xfrm>
          <a:prstGeom prst="rect">
            <a:avLst/>
          </a:prstGeom>
          <a:noFill/>
          <a:ln/>
        </p:spPr>
        <p:txBody>
          <a:bodyPr wrap="square" lIns="0" tIns="0" rIns="0" bIns="0" rtlCol="0" anchor="ctr">
            <a:normAutofit/>
          </a:bodyPr>
          <a:lstStyle/>
          <a:p>
            <a:pPr algn="ctr" indent="0" marL="0">
              <a:buNone/>
            </a:pPr>
            <a:r>
              <a:rPr lang="en-US" sz="1200" b="1" dirty="0">
                <a:solidFill>
                  <a:srgbClr val="182D2A"/>
                </a:solidFill>
                <a:latin typeface="Aptos" pitchFamily="34" charset="0"/>
                <a:ea typeface="Aptos" pitchFamily="34" charset="-122"/>
                <a:cs typeface="Aptos" pitchFamily="34" charset="-120"/>
              </a:rPr>
              <a:t>Tamil</a:t>
            </a:r>
            <a:endParaRPr lang="en-US" sz="1200" dirty="0"/>
          </a:p>
        </p:txBody>
      </p:sp>
      <p:sp>
        <p:nvSpPr>
          <p:cNvPr id="17" name="Shape 15"/>
          <p:cNvSpPr/>
          <p:nvPr/>
        </p:nvSpPr>
        <p:spPr>
          <a:xfrm>
            <a:off x="6528816" y="1920240"/>
            <a:ext cx="658368" cy="658368"/>
          </a:xfrm>
          <a:prstGeom prst="ellipse">
            <a:avLst/>
          </a:prstGeom>
          <a:solidFill>
            <a:srgbClr val="8A7EAA"/>
          </a:solidFill>
          <a:ln w="12700">
            <a:solidFill>
              <a:srgbClr val="8A7EAA">
                <a:alpha val="0"/>
              </a:srgbClr>
            </a:solidFill>
            <a:prstDash val="solid"/>
          </a:ln>
        </p:spPr>
      </p:sp>
      <p:sp>
        <p:nvSpPr>
          <p:cNvPr id="18" name="Text 16"/>
          <p:cNvSpPr/>
          <p:nvPr/>
        </p:nvSpPr>
        <p:spPr>
          <a:xfrm>
            <a:off x="6528816" y="2112264"/>
            <a:ext cx="658368" cy="23774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TE</a:t>
            </a:r>
            <a:endParaRPr lang="en-US" sz="1200" dirty="0"/>
          </a:p>
        </p:txBody>
      </p:sp>
      <p:sp>
        <p:nvSpPr>
          <p:cNvPr id="19" name="Text 17"/>
          <p:cNvSpPr/>
          <p:nvPr/>
        </p:nvSpPr>
        <p:spPr>
          <a:xfrm>
            <a:off x="6318504" y="2734056"/>
            <a:ext cx="1078992" cy="210312"/>
          </a:xfrm>
          <a:prstGeom prst="rect">
            <a:avLst/>
          </a:prstGeom>
          <a:noFill/>
          <a:ln/>
        </p:spPr>
        <p:txBody>
          <a:bodyPr wrap="square" lIns="0" tIns="0" rIns="0" bIns="0" rtlCol="0" anchor="ctr">
            <a:normAutofit/>
          </a:bodyPr>
          <a:lstStyle/>
          <a:p>
            <a:pPr algn="ctr" indent="0" marL="0">
              <a:buNone/>
            </a:pPr>
            <a:r>
              <a:rPr lang="en-US" sz="1200" b="1" dirty="0">
                <a:solidFill>
                  <a:srgbClr val="182D2A"/>
                </a:solidFill>
                <a:latin typeface="Aptos" pitchFamily="34" charset="0"/>
                <a:ea typeface="Aptos" pitchFamily="34" charset="-122"/>
                <a:cs typeface="Aptos" pitchFamily="34" charset="-120"/>
              </a:rPr>
              <a:t>Telugu</a:t>
            </a:r>
            <a:endParaRPr lang="en-US" sz="1200" dirty="0"/>
          </a:p>
        </p:txBody>
      </p:sp>
      <p:sp>
        <p:nvSpPr>
          <p:cNvPr id="20" name="Shape 18"/>
          <p:cNvSpPr/>
          <p:nvPr/>
        </p:nvSpPr>
        <p:spPr>
          <a:xfrm>
            <a:off x="877824" y="3282696"/>
            <a:ext cx="5614416" cy="0"/>
          </a:xfrm>
          <a:prstGeom prst="line">
            <a:avLst/>
          </a:prstGeom>
          <a:noFill/>
          <a:ln w="19050">
            <a:solidFill>
              <a:srgbClr val="D9DFD7"/>
            </a:solidFill>
            <a:prstDash val="solid"/>
            <a:headEnd type="none"/>
            <a:tailEnd type="none"/>
          </a:ln>
        </p:spPr>
      </p:sp>
      <p:sp>
        <p:nvSpPr>
          <p:cNvPr id="21" name="Shape 19"/>
          <p:cNvSpPr/>
          <p:nvPr/>
        </p:nvSpPr>
        <p:spPr>
          <a:xfrm>
            <a:off x="704088" y="3785616"/>
            <a:ext cx="5257800" cy="1536192"/>
          </a:xfrm>
          <a:prstGeom prst="roundRect">
            <a:avLst>
              <a:gd name="adj" fmla="val 7738"/>
            </a:avLst>
          </a:prstGeom>
          <a:solidFill>
            <a:srgbClr val="E7EEF1"/>
          </a:solidFill>
          <a:ln w="10160">
            <a:solidFill>
              <a:srgbClr val="E7EEF1">
                <a:alpha val="0"/>
              </a:srgbClr>
            </a:solidFill>
            <a:prstDash val="solid"/>
          </a:ln>
        </p:spPr>
      </p:sp>
      <p:sp>
        <p:nvSpPr>
          <p:cNvPr id="22" name="Shape 20"/>
          <p:cNvSpPr/>
          <p:nvPr/>
        </p:nvSpPr>
        <p:spPr>
          <a:xfrm>
            <a:off x="704088" y="3931920"/>
            <a:ext cx="50292" cy="1243584"/>
          </a:xfrm>
          <a:prstGeom prst="roundRect">
            <a:avLst>
              <a:gd name="adj" fmla="val 36364"/>
            </a:avLst>
          </a:prstGeom>
          <a:solidFill>
            <a:srgbClr val="5B88A0"/>
          </a:solidFill>
          <a:ln w="10160">
            <a:solidFill>
              <a:srgbClr val="5B88A0">
                <a:alpha val="0"/>
              </a:srgbClr>
            </a:solidFill>
            <a:prstDash val="solid"/>
          </a:ln>
        </p:spPr>
      </p:sp>
      <p:sp>
        <p:nvSpPr>
          <p:cNvPr id="23" name="Text 21"/>
          <p:cNvSpPr/>
          <p:nvPr/>
        </p:nvSpPr>
        <p:spPr>
          <a:xfrm>
            <a:off x="1014984" y="4041648"/>
            <a:ext cx="2194560" cy="265176"/>
          </a:xfrm>
          <a:prstGeom prst="rect">
            <a:avLst/>
          </a:prstGeom>
          <a:noFill/>
          <a:ln/>
        </p:spPr>
        <p:txBody>
          <a:bodyPr wrap="square" lIns="0" tIns="0" rIns="0" bIns="0" rtlCol="0" anchor="ctr">
            <a:normAutofit/>
          </a:bodyPr>
          <a:lstStyle/>
          <a:p>
            <a:pPr algn="l" indent="0" marL="0">
              <a:buNone/>
            </a:pPr>
            <a:r>
              <a:rPr lang="en-US" sz="1700" b="1" dirty="0">
                <a:solidFill>
                  <a:srgbClr val="182D2A"/>
                </a:solidFill>
                <a:latin typeface="Georgia" pitchFamily="34" charset="0"/>
                <a:ea typeface="Georgia" pitchFamily="34" charset="-122"/>
                <a:cs typeface="Georgia" pitchFamily="34" charset="-120"/>
              </a:rPr>
              <a:t>Language confidence</a:t>
            </a:r>
            <a:endParaRPr lang="en-US" sz="1700" dirty="0"/>
          </a:p>
        </p:txBody>
      </p:sp>
      <p:sp>
        <p:nvSpPr>
          <p:cNvPr id="24" name="Text 22"/>
          <p:cNvSpPr/>
          <p:nvPr/>
        </p:nvSpPr>
        <p:spPr>
          <a:xfrm>
            <a:off x="1024128" y="4480560"/>
            <a:ext cx="4526280" cy="566928"/>
          </a:xfrm>
          <a:prstGeom prst="rect">
            <a:avLst/>
          </a:prstGeom>
          <a:noFill/>
          <a:ln/>
        </p:spPr>
        <p:txBody>
          <a:bodyPr wrap="square" lIns="0" tIns="0" rIns="0" bIns="0" rtlCol="0" anchor="t">
            <a:normAutofit/>
          </a:bodyPr>
          <a:lstStyle/>
          <a:p>
            <a:pPr algn="l" indent="0" marL="0">
              <a:buNone/>
            </a:pPr>
            <a:r>
              <a:rPr lang="en-US" sz="1250" dirty="0">
                <a:solidFill>
                  <a:srgbClr val="64766E"/>
                </a:solidFill>
                <a:latin typeface="Aptos" pitchFamily="34" charset="0"/>
                <a:ea typeface="Aptos" pitchFamily="34" charset="-122"/>
                <a:cs typeface="Aptos" pitchFamily="34" charset="-120"/>
              </a:rPr>
              <a:t>Script evidence score—not a calibrated probability. Short text, transliteration and code-switching can confuse detection.</a:t>
            </a:r>
            <a:endParaRPr lang="en-US" sz="1250" dirty="0"/>
          </a:p>
        </p:txBody>
      </p:sp>
      <p:sp>
        <p:nvSpPr>
          <p:cNvPr id="25" name="Shape 23"/>
          <p:cNvSpPr/>
          <p:nvPr/>
        </p:nvSpPr>
        <p:spPr>
          <a:xfrm>
            <a:off x="6272784" y="3785616"/>
            <a:ext cx="5202936" cy="1536192"/>
          </a:xfrm>
          <a:prstGeom prst="roundRect">
            <a:avLst>
              <a:gd name="adj" fmla="val 7738"/>
            </a:avLst>
          </a:prstGeom>
          <a:solidFill>
            <a:srgbClr val="F7EBD7"/>
          </a:solidFill>
          <a:ln w="10160">
            <a:solidFill>
              <a:srgbClr val="F7EBD7">
                <a:alpha val="0"/>
              </a:srgbClr>
            </a:solidFill>
            <a:prstDash val="solid"/>
          </a:ln>
        </p:spPr>
      </p:sp>
      <p:sp>
        <p:nvSpPr>
          <p:cNvPr id="26" name="Shape 24"/>
          <p:cNvSpPr/>
          <p:nvPr/>
        </p:nvSpPr>
        <p:spPr>
          <a:xfrm>
            <a:off x="6272784" y="3931920"/>
            <a:ext cx="50292" cy="1243584"/>
          </a:xfrm>
          <a:prstGeom prst="roundRect">
            <a:avLst>
              <a:gd name="adj" fmla="val 36364"/>
            </a:avLst>
          </a:prstGeom>
          <a:solidFill>
            <a:srgbClr val="E7A54A"/>
          </a:solidFill>
          <a:ln w="10160">
            <a:solidFill>
              <a:srgbClr val="E7A54A">
                <a:alpha val="0"/>
              </a:srgbClr>
            </a:solidFill>
            <a:prstDash val="solid"/>
          </a:ln>
        </p:spPr>
      </p:sp>
      <p:sp>
        <p:nvSpPr>
          <p:cNvPr id="27" name="Text 25"/>
          <p:cNvSpPr/>
          <p:nvPr/>
        </p:nvSpPr>
        <p:spPr>
          <a:xfrm>
            <a:off x="6583680" y="4041648"/>
            <a:ext cx="2560320" cy="265176"/>
          </a:xfrm>
          <a:prstGeom prst="rect">
            <a:avLst/>
          </a:prstGeom>
          <a:noFill/>
          <a:ln/>
        </p:spPr>
        <p:txBody>
          <a:bodyPr wrap="square" lIns="0" tIns="0" rIns="0" bIns="0" rtlCol="0" anchor="ctr">
            <a:normAutofit/>
          </a:bodyPr>
          <a:lstStyle/>
          <a:p>
            <a:pPr algn="l" indent="0" marL="0">
              <a:buNone/>
            </a:pPr>
            <a:r>
              <a:rPr lang="en-US" sz="1700" b="1" dirty="0">
                <a:solidFill>
                  <a:srgbClr val="182D2A"/>
                </a:solidFill>
                <a:latin typeface="Georgia" pitchFamily="34" charset="0"/>
                <a:ea typeface="Georgia" pitchFamily="34" charset="-122"/>
                <a:cs typeface="Georgia" pitchFamily="34" charset="-120"/>
              </a:rPr>
              <a:t>Government relevance</a:t>
            </a:r>
            <a:endParaRPr lang="en-US" sz="1700" dirty="0"/>
          </a:p>
        </p:txBody>
      </p:sp>
      <p:sp>
        <p:nvSpPr>
          <p:cNvPr id="28" name="Text 26"/>
          <p:cNvSpPr/>
          <p:nvPr/>
        </p:nvSpPr>
        <p:spPr>
          <a:xfrm>
            <a:off x="6583680" y="4480560"/>
            <a:ext cx="4507992" cy="566928"/>
          </a:xfrm>
          <a:prstGeom prst="rect">
            <a:avLst/>
          </a:prstGeom>
          <a:noFill/>
          <a:ln/>
        </p:spPr>
        <p:txBody>
          <a:bodyPr wrap="square" lIns="0" tIns="0" rIns="0" bIns="0" rtlCol="0" anchor="t">
            <a:normAutofit/>
          </a:bodyPr>
          <a:lstStyle/>
          <a:p>
            <a:pPr algn="l" indent="0" marL="0">
              <a:buNone/>
            </a:pPr>
            <a:r>
              <a:rPr lang="en-US" sz="1250" dirty="0">
                <a:solidFill>
                  <a:srgbClr val="64766E"/>
                </a:solidFill>
                <a:latin typeface="Aptos" pitchFamily="34" charset="0"/>
                <a:ea typeface="Aptos" pitchFamily="34" charset="-122"/>
                <a:cs typeface="Aptos" pitchFamily="34" charset="-120"/>
              </a:rPr>
              <a:t>Multilingual phrase cues + score + matched reasons. The score supports review; it is not a truth probability.</a:t>
            </a:r>
            <a:endParaRPr lang="en-US" sz="1250" dirty="0"/>
          </a:p>
        </p:txBody>
      </p:sp>
      <p:sp>
        <p:nvSpPr>
          <p:cNvPr id="29" name="Shape 27"/>
          <p:cNvSpPr/>
          <p:nvPr/>
        </p:nvSpPr>
        <p:spPr>
          <a:xfrm>
            <a:off x="731520" y="5650992"/>
            <a:ext cx="2715768" cy="274320"/>
          </a:xfrm>
          <a:prstGeom prst="roundRect">
            <a:avLst>
              <a:gd name="adj" fmla="val 43333"/>
            </a:avLst>
          </a:prstGeom>
          <a:solidFill>
            <a:srgbClr val="E5EFE8"/>
          </a:solidFill>
          <a:ln w="10160">
            <a:solidFill>
              <a:srgbClr val="E5EFE8">
                <a:alpha val="0"/>
              </a:srgbClr>
            </a:solidFill>
            <a:prstDash val="solid"/>
          </a:ln>
        </p:spPr>
      </p:sp>
      <p:sp>
        <p:nvSpPr>
          <p:cNvPr id="30" name="Text 28"/>
          <p:cNvSpPr/>
          <p:nvPr/>
        </p:nvSpPr>
        <p:spPr>
          <a:xfrm>
            <a:off x="822960" y="5660136"/>
            <a:ext cx="2532888"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DEFAULT RELEVANCE THRESHOLD  0.55</a:t>
            </a:r>
            <a:endParaRPr lang="en-US" sz="900" dirty="0"/>
          </a:p>
        </p:txBody>
      </p:sp>
      <p:sp>
        <p:nvSpPr>
          <p:cNvPr id="31" name="Text 29"/>
          <p:cNvSpPr/>
          <p:nvPr/>
        </p:nvSpPr>
        <p:spPr>
          <a:xfrm>
            <a:off x="3685032" y="5669280"/>
            <a:ext cx="5394960" cy="228600"/>
          </a:xfrm>
          <a:prstGeom prst="rect">
            <a:avLst/>
          </a:prstGeom>
          <a:noFill/>
          <a:ln/>
        </p:spPr>
        <p:txBody>
          <a:bodyPr wrap="square" lIns="0" tIns="0" rIns="0" bIns="0" rtlCol="0" anchor="ctr">
            <a:normAutofit/>
          </a:bodyPr>
          <a:lstStyle/>
          <a:p>
            <a:pPr algn="l" indent="0" marL="0">
              <a:buNone/>
            </a:pPr>
            <a:r>
              <a:rPr lang="en-US" sz="1150" i="1" dirty="0">
                <a:solidFill>
                  <a:srgbClr val="64766E"/>
                </a:solidFill>
                <a:latin typeface="Aptos" pitchFamily="34" charset="0"/>
                <a:ea typeface="Aptos" pitchFamily="34" charset="-122"/>
                <a:cs typeface="Aptos" pitchFamily="34" charset="-120"/>
              </a:rPr>
              <a:t>Review false matches and missed coverage before drawing conclusions.</a:t>
            </a:r>
            <a:endParaRPr lang="en-US" sz="115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08 / TYPESAFE AI JEV</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Use JEV for bounded decisions—not as a source of evidence</a:t>
            </a:r>
            <a:endParaRPr lang="en-US" sz="3000" dirty="0"/>
          </a:p>
        </p:txBody>
      </p:sp>
      <p:sp>
        <p:nvSpPr>
          <p:cNvPr id="4" name="Text 2"/>
          <p:cNvSpPr/>
          <p:nvPr/>
        </p:nvSpPr>
        <p:spPr>
          <a:xfrm>
            <a:off x="548640" y="1298448"/>
            <a:ext cx="10789920" cy="329184"/>
          </a:xfrm>
          <a:prstGeom prst="rect">
            <a:avLst/>
          </a:prstGeom>
          <a:noFill/>
          <a:ln/>
        </p:spPr>
        <p:txBody>
          <a:bodyPr wrap="square" lIns="0" tIns="0" rIns="0" bIns="0" rtlCol="0" anchor="t">
            <a:normAutofit/>
          </a:bodyPr>
          <a:lstStyle/>
          <a:p>
            <a:pPr algn="l" indent="0" marL="0">
              <a:buNone/>
            </a:pPr>
            <a:r>
              <a:rPr lang="en-US" sz="1350" dirty="0">
                <a:solidFill>
                  <a:srgbClr val="64766E"/>
                </a:solidFill>
                <a:latin typeface="Aptos" pitchFamily="34" charset="0"/>
                <a:ea typeface="Aptos" pitchFamily="34" charset="-122"/>
                <a:cs typeface="Aptos" pitchFamily="34" charset="-120"/>
              </a:rPr>
              <a:t>Optional structured classifications for collected, non-synthetic articles; local text evidence remains separate.</a:t>
            </a:r>
            <a:endParaRPr lang="en-US" sz="1350" dirty="0"/>
          </a:p>
        </p:txBody>
      </p:sp>
      <p:sp>
        <p:nvSpPr>
          <p:cNvPr id="5" name="Shape 3"/>
          <p:cNvSpPr/>
          <p:nvPr/>
        </p:nvSpPr>
        <p:spPr>
          <a:xfrm>
            <a:off x="603504" y="1746504"/>
            <a:ext cx="4956048" cy="4160520"/>
          </a:xfrm>
          <a:prstGeom prst="roundRect">
            <a:avLst>
              <a:gd name="adj" fmla="val 2857"/>
            </a:avLst>
          </a:prstGeom>
          <a:solidFill>
            <a:srgbClr val="173D35"/>
          </a:solidFill>
          <a:ln w="10160">
            <a:solidFill>
              <a:srgbClr val="173D35">
                <a:alpha val="0"/>
              </a:srgbClr>
            </a:solidFill>
            <a:prstDash val="solid"/>
          </a:ln>
        </p:spPr>
      </p:sp>
      <p:sp>
        <p:nvSpPr>
          <p:cNvPr id="6" name="Shape 4"/>
          <p:cNvSpPr/>
          <p:nvPr/>
        </p:nvSpPr>
        <p:spPr>
          <a:xfrm>
            <a:off x="603504" y="1892808"/>
            <a:ext cx="50292" cy="3867912"/>
          </a:xfrm>
          <a:prstGeom prst="roundRect">
            <a:avLst>
              <a:gd name="adj" fmla="val 36364"/>
            </a:avLst>
          </a:prstGeom>
          <a:solidFill>
            <a:srgbClr val="E7A54A"/>
          </a:solidFill>
          <a:ln w="10160">
            <a:solidFill>
              <a:srgbClr val="E7A54A">
                <a:alpha val="0"/>
              </a:srgbClr>
            </a:solidFill>
            <a:prstDash val="solid"/>
          </a:ln>
        </p:spPr>
      </p:sp>
      <p:sp>
        <p:nvSpPr>
          <p:cNvPr id="7" name="Shape 5"/>
          <p:cNvSpPr/>
          <p:nvPr/>
        </p:nvSpPr>
        <p:spPr>
          <a:xfrm>
            <a:off x="932688" y="2057400"/>
            <a:ext cx="1938528" cy="274320"/>
          </a:xfrm>
          <a:prstGeom prst="roundRect">
            <a:avLst>
              <a:gd name="adj" fmla="val 43333"/>
            </a:avLst>
          </a:prstGeom>
          <a:solidFill>
            <a:srgbClr val="D8E8DC"/>
          </a:solidFill>
          <a:ln w="10160">
            <a:solidFill>
              <a:srgbClr val="D8E8DC">
                <a:alpha val="0"/>
              </a:srgbClr>
            </a:solidFill>
            <a:prstDash val="solid"/>
          </a:ln>
        </p:spPr>
      </p:sp>
      <p:sp>
        <p:nvSpPr>
          <p:cNvPr id="8" name="Text 6"/>
          <p:cNvSpPr/>
          <p:nvPr/>
        </p:nvSpPr>
        <p:spPr>
          <a:xfrm>
            <a:off x="1024128" y="2066544"/>
            <a:ext cx="1755648"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OPTIONAL MODEL PROVIDER</a:t>
            </a:r>
            <a:endParaRPr lang="en-US" sz="900" dirty="0"/>
          </a:p>
        </p:txBody>
      </p:sp>
      <p:sp>
        <p:nvSpPr>
          <p:cNvPr id="9" name="Text 7"/>
          <p:cNvSpPr/>
          <p:nvPr/>
        </p:nvSpPr>
        <p:spPr>
          <a:xfrm>
            <a:off x="941832" y="2587752"/>
            <a:ext cx="3429000" cy="987552"/>
          </a:xfrm>
          <a:prstGeom prst="rect">
            <a:avLst/>
          </a:prstGeom>
          <a:noFill/>
          <a:ln/>
        </p:spPr>
        <p:txBody>
          <a:bodyPr wrap="square" lIns="0" tIns="0" rIns="0" bIns="0" rtlCol="0" anchor="t">
            <a:normAutofit/>
          </a:bodyPr>
          <a:lstStyle/>
          <a:p>
            <a:pPr algn="l" indent="0" marL="0">
              <a:buNone/>
            </a:pPr>
            <a:r>
              <a:rPr lang="en-US" sz="3000" b="1" dirty="0">
                <a:solidFill>
                  <a:srgbClr val="FFFFFF"/>
                </a:solidFill>
                <a:latin typeface="Georgia" pitchFamily="34" charset="0"/>
                <a:ea typeface="Georgia" pitchFamily="34" charset="-122"/>
                <a:cs typeface="Georgia" pitchFamily="34" charset="-120"/>
              </a:rPr>
              <a:t>TypeSafe AI</a:t>
            </a:r>
            <a:endParaRPr lang="en-US" sz="3000" dirty="0"/>
          </a:p>
          <a:p>
            <a:pPr algn="l" indent="0" marL="0">
              <a:buNone/>
            </a:pPr>
            <a:r>
              <a:rPr lang="en-US" sz="3000" b="1" dirty="0">
                <a:solidFill>
                  <a:srgbClr val="FFFFFF"/>
                </a:solidFill>
                <a:latin typeface="Georgia" pitchFamily="34" charset="0"/>
                <a:ea typeface="Georgia" pitchFamily="34" charset="-122"/>
                <a:cs typeface="Georgia" pitchFamily="34" charset="-120"/>
              </a:rPr>
              <a:t>JEV</a:t>
            </a:r>
            <a:endParaRPr lang="en-US" sz="3000" dirty="0"/>
          </a:p>
        </p:txBody>
      </p:sp>
      <p:sp>
        <p:nvSpPr>
          <p:cNvPr id="10" name="Text 8"/>
          <p:cNvSpPr/>
          <p:nvPr/>
        </p:nvSpPr>
        <p:spPr>
          <a:xfrm>
            <a:off x="950976" y="3785616"/>
            <a:ext cx="3785616" cy="256032"/>
          </a:xfrm>
          <a:prstGeom prst="rect">
            <a:avLst/>
          </a:prstGeom>
          <a:noFill/>
          <a:ln/>
        </p:spPr>
        <p:txBody>
          <a:bodyPr wrap="square" lIns="0" tIns="0" rIns="0" bIns="0" rtlCol="0" anchor="ctr">
            <a:normAutofit/>
          </a:bodyPr>
          <a:lstStyle/>
          <a:p>
            <a:pPr algn="l" indent="0" marL="0">
              <a:buNone/>
            </a:pPr>
            <a:r>
              <a:rPr lang="en-US" sz="1400" b="1" dirty="0">
                <a:solidFill>
                  <a:srgbClr val="DDE9E2"/>
                </a:solidFill>
                <a:latin typeface="Aptos" pitchFamily="34" charset="0"/>
                <a:ea typeface="Aptos" pitchFamily="34" charset="-122"/>
                <a:cs typeface="Aptos" pitchFamily="34" charset="-120"/>
              </a:rPr>
              <a:t>Structured choices + probabilities</a:t>
            </a:r>
            <a:endParaRPr lang="en-US" sz="1400" dirty="0"/>
          </a:p>
        </p:txBody>
      </p:sp>
      <p:sp>
        <p:nvSpPr>
          <p:cNvPr id="11" name="Shape 9"/>
          <p:cNvSpPr/>
          <p:nvPr/>
        </p:nvSpPr>
        <p:spPr>
          <a:xfrm>
            <a:off x="950976" y="4297680"/>
            <a:ext cx="1563624" cy="310896"/>
          </a:xfrm>
          <a:prstGeom prst="roundRect">
            <a:avLst>
              <a:gd name="adj" fmla="val 38235"/>
            </a:avLst>
          </a:prstGeom>
          <a:solidFill>
            <a:srgbClr val="E7A54A"/>
          </a:solidFill>
          <a:ln w="10160">
            <a:solidFill>
              <a:srgbClr val="E7A54A">
                <a:alpha val="0"/>
              </a:srgbClr>
            </a:solidFill>
            <a:prstDash val="solid"/>
          </a:ln>
        </p:spPr>
      </p:sp>
      <p:sp>
        <p:nvSpPr>
          <p:cNvPr id="12" name="Text 10"/>
          <p:cNvSpPr/>
          <p:nvPr/>
        </p:nvSpPr>
        <p:spPr>
          <a:xfrm>
            <a:off x="1042416" y="4306824"/>
            <a:ext cx="1380744"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GoI relevance</a:t>
            </a:r>
            <a:endParaRPr lang="en-US" sz="900" dirty="0"/>
          </a:p>
        </p:txBody>
      </p:sp>
      <p:sp>
        <p:nvSpPr>
          <p:cNvPr id="13" name="Shape 11"/>
          <p:cNvSpPr/>
          <p:nvPr/>
        </p:nvSpPr>
        <p:spPr>
          <a:xfrm>
            <a:off x="2715768" y="4297680"/>
            <a:ext cx="1563624" cy="310896"/>
          </a:xfrm>
          <a:prstGeom prst="roundRect">
            <a:avLst>
              <a:gd name="adj" fmla="val 38235"/>
            </a:avLst>
          </a:prstGeom>
          <a:solidFill>
            <a:srgbClr val="D8E8DC"/>
          </a:solidFill>
          <a:ln w="10160">
            <a:solidFill>
              <a:srgbClr val="D8E8DC">
                <a:alpha val="0"/>
              </a:srgbClr>
            </a:solidFill>
            <a:prstDash val="solid"/>
          </a:ln>
        </p:spPr>
      </p:sp>
      <p:sp>
        <p:nvSpPr>
          <p:cNvPr id="14" name="Text 12"/>
          <p:cNvSpPr/>
          <p:nvPr/>
        </p:nvSpPr>
        <p:spPr>
          <a:xfrm>
            <a:off x="2807208" y="4306824"/>
            <a:ext cx="1380744"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Sentiment</a:t>
            </a:r>
            <a:endParaRPr lang="en-US" sz="900" dirty="0"/>
          </a:p>
        </p:txBody>
      </p:sp>
      <p:sp>
        <p:nvSpPr>
          <p:cNvPr id="15" name="Shape 13"/>
          <p:cNvSpPr/>
          <p:nvPr/>
        </p:nvSpPr>
        <p:spPr>
          <a:xfrm>
            <a:off x="950976" y="4745736"/>
            <a:ext cx="1563624" cy="310896"/>
          </a:xfrm>
          <a:prstGeom prst="roundRect">
            <a:avLst>
              <a:gd name="adj" fmla="val 38235"/>
            </a:avLst>
          </a:prstGeom>
          <a:solidFill>
            <a:srgbClr val="D8E8DC"/>
          </a:solidFill>
          <a:ln w="10160">
            <a:solidFill>
              <a:srgbClr val="D8E8DC">
                <a:alpha val="0"/>
              </a:srgbClr>
            </a:solidFill>
            <a:prstDash val="solid"/>
          </a:ln>
        </p:spPr>
      </p:sp>
      <p:sp>
        <p:nvSpPr>
          <p:cNvPr id="16" name="Text 14"/>
          <p:cNvSpPr/>
          <p:nvPr/>
        </p:nvSpPr>
        <p:spPr>
          <a:xfrm>
            <a:off x="1042416" y="4754880"/>
            <a:ext cx="1380744"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Target-specific stance</a:t>
            </a:r>
            <a:endParaRPr lang="en-US" sz="900" dirty="0"/>
          </a:p>
        </p:txBody>
      </p:sp>
      <p:sp>
        <p:nvSpPr>
          <p:cNvPr id="17" name="Shape 15"/>
          <p:cNvSpPr/>
          <p:nvPr/>
        </p:nvSpPr>
        <p:spPr>
          <a:xfrm>
            <a:off x="2715768" y="4745736"/>
            <a:ext cx="1563624" cy="310896"/>
          </a:xfrm>
          <a:prstGeom prst="roundRect">
            <a:avLst>
              <a:gd name="adj" fmla="val 38235"/>
            </a:avLst>
          </a:prstGeom>
          <a:solidFill>
            <a:srgbClr val="D8E8DC"/>
          </a:solidFill>
          <a:ln w="10160">
            <a:solidFill>
              <a:srgbClr val="D8E8DC">
                <a:alpha val="0"/>
              </a:srgbClr>
            </a:solidFill>
            <a:prstDash val="solid"/>
          </a:ln>
        </p:spPr>
      </p:sp>
      <p:sp>
        <p:nvSpPr>
          <p:cNvPr id="18" name="Text 16"/>
          <p:cNvSpPr/>
          <p:nvPr/>
        </p:nvSpPr>
        <p:spPr>
          <a:xfrm>
            <a:off x="2807208" y="4754880"/>
            <a:ext cx="1380744" cy="292608"/>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Primary topic</a:t>
            </a:r>
            <a:endParaRPr lang="en-US" sz="900" dirty="0"/>
          </a:p>
        </p:txBody>
      </p:sp>
      <p:sp>
        <p:nvSpPr>
          <p:cNvPr id="19" name="Text 17"/>
          <p:cNvSpPr/>
          <p:nvPr/>
        </p:nvSpPr>
        <p:spPr>
          <a:xfrm>
            <a:off x="960120" y="5404104"/>
            <a:ext cx="3931920" cy="246888"/>
          </a:xfrm>
          <a:prstGeom prst="rect">
            <a:avLst/>
          </a:prstGeom>
          <a:noFill/>
          <a:ln/>
        </p:spPr>
        <p:txBody>
          <a:bodyPr wrap="square" lIns="0" tIns="0" rIns="0" bIns="0" rtlCol="0" anchor="ctr">
            <a:normAutofit/>
          </a:bodyPr>
          <a:lstStyle/>
          <a:p>
            <a:pPr algn="l" indent="0" marL="0">
              <a:buNone/>
            </a:pPr>
            <a:r>
              <a:rPr lang="en-US" sz="1150" b="1" dirty="0">
                <a:solidFill>
                  <a:srgbClr val="DDE9E2"/>
                </a:solidFill>
                <a:latin typeface="Aptos" pitchFamily="34" charset="0"/>
                <a:ea typeface="Aptos" pitchFamily="34" charset="-122"/>
                <a:cs typeface="Aptos" pitchFamily="34" charset="-120"/>
              </a:rPr>
              <a:t>Never sends synthetic demo records</a:t>
            </a:r>
            <a:endParaRPr lang="en-US" sz="1150" dirty="0"/>
          </a:p>
        </p:txBody>
      </p:sp>
      <p:sp>
        <p:nvSpPr>
          <p:cNvPr id="20" name="Shape 18"/>
          <p:cNvSpPr/>
          <p:nvPr/>
        </p:nvSpPr>
        <p:spPr>
          <a:xfrm>
            <a:off x="6080760" y="1901952"/>
            <a:ext cx="356616" cy="356616"/>
          </a:xfrm>
          <a:prstGeom prst="ellipse">
            <a:avLst/>
          </a:prstGeom>
          <a:solidFill>
            <a:srgbClr val="E7A54A"/>
          </a:solidFill>
          <a:ln w="12700">
            <a:solidFill>
              <a:srgbClr val="E7A54A">
                <a:alpha val="0"/>
              </a:srgbClr>
            </a:solidFill>
            <a:prstDash val="solid"/>
          </a:ln>
        </p:spPr>
      </p:sp>
      <p:sp>
        <p:nvSpPr>
          <p:cNvPr id="21" name="Text 19"/>
          <p:cNvSpPr/>
          <p:nvPr/>
        </p:nvSpPr>
        <p:spPr>
          <a:xfrm>
            <a:off x="6080760" y="1911096"/>
            <a:ext cx="356616" cy="33832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01</a:t>
            </a:r>
            <a:endParaRPr lang="en-US" sz="900" dirty="0"/>
          </a:p>
        </p:txBody>
      </p:sp>
      <p:sp>
        <p:nvSpPr>
          <p:cNvPr id="22" name="Text 20"/>
          <p:cNvSpPr/>
          <p:nvPr/>
        </p:nvSpPr>
        <p:spPr>
          <a:xfrm>
            <a:off x="6583680" y="1892808"/>
            <a:ext cx="4023360" cy="246888"/>
          </a:xfrm>
          <a:prstGeom prst="rect">
            <a:avLst/>
          </a:prstGeom>
          <a:noFill/>
          <a:ln/>
        </p:spPr>
        <p:txBody>
          <a:bodyPr wrap="square" lIns="0" tIns="0" rIns="0" bIns="0" rtlCol="0" anchor="ctr">
            <a:normAutofit/>
          </a:bodyPr>
          <a:lstStyle/>
          <a:p>
            <a:pPr algn="l" indent="0" marL="0">
              <a:buNone/>
            </a:pPr>
            <a:r>
              <a:rPr lang="en-US" sz="1350" b="1" dirty="0">
                <a:solidFill>
                  <a:srgbClr val="182D2A"/>
                </a:solidFill>
                <a:latin typeface="Aptos" pitchFamily="34" charset="0"/>
                <a:ea typeface="Aptos" pitchFamily="34" charset="-122"/>
                <a:cs typeface="Aptos" pitchFamily="34" charset="-120"/>
              </a:rPr>
              <a:t>Key stays server-side</a:t>
            </a:r>
            <a:endParaRPr lang="en-US" sz="1350" dirty="0"/>
          </a:p>
        </p:txBody>
      </p:sp>
      <p:sp>
        <p:nvSpPr>
          <p:cNvPr id="23" name="Text 21"/>
          <p:cNvSpPr/>
          <p:nvPr/>
        </p:nvSpPr>
        <p:spPr>
          <a:xfrm>
            <a:off x="6583680" y="2212848"/>
            <a:ext cx="4800600" cy="484632"/>
          </a:xfrm>
          <a:prstGeom prst="rect">
            <a:avLst/>
          </a:prstGeom>
          <a:noFill/>
          <a:ln/>
        </p:spPr>
        <p:txBody>
          <a:bodyPr wrap="square" lIns="0" tIns="0" rIns="0" bIns="0" rtlCol="0" anchor="t">
            <a:normAutofit/>
          </a:bodyPr>
          <a:lstStyle/>
          <a:p>
            <a:pPr algn="l" indent="0" marL="0">
              <a:buNone/>
            </a:pPr>
            <a:r>
              <a:rPr lang="en-US" sz="1150" dirty="0">
                <a:solidFill>
                  <a:srgbClr val="64766E"/>
                </a:solidFill>
                <a:latin typeface="Aptos" pitchFamily="34" charset="0"/>
                <a:ea typeface="Aptos" pitchFamily="34" charset="-122"/>
                <a:cs typeface="Aptos" pitchFamily="34" charset="-120"/>
              </a:rPr>
              <a:t>Set TYPESAFE_API_KEY as a Cloudflare Worker secret. Never expose it in browser code.</a:t>
            </a:r>
            <a:endParaRPr lang="en-US" sz="1150" dirty="0"/>
          </a:p>
        </p:txBody>
      </p:sp>
      <p:sp>
        <p:nvSpPr>
          <p:cNvPr id="24" name="Shape 22"/>
          <p:cNvSpPr/>
          <p:nvPr/>
        </p:nvSpPr>
        <p:spPr>
          <a:xfrm>
            <a:off x="6080760" y="2834640"/>
            <a:ext cx="356616" cy="356616"/>
          </a:xfrm>
          <a:prstGeom prst="ellipse">
            <a:avLst/>
          </a:prstGeom>
          <a:solidFill>
            <a:srgbClr val="2E8069"/>
          </a:solidFill>
          <a:ln w="12700">
            <a:solidFill>
              <a:srgbClr val="2E8069">
                <a:alpha val="0"/>
              </a:srgbClr>
            </a:solidFill>
            <a:prstDash val="solid"/>
          </a:ln>
        </p:spPr>
      </p:sp>
      <p:sp>
        <p:nvSpPr>
          <p:cNvPr id="25" name="Text 23"/>
          <p:cNvSpPr/>
          <p:nvPr/>
        </p:nvSpPr>
        <p:spPr>
          <a:xfrm>
            <a:off x="6080760" y="2843784"/>
            <a:ext cx="356616" cy="33832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02</a:t>
            </a:r>
            <a:endParaRPr lang="en-US" sz="900" dirty="0"/>
          </a:p>
        </p:txBody>
      </p:sp>
      <p:sp>
        <p:nvSpPr>
          <p:cNvPr id="26" name="Text 24"/>
          <p:cNvSpPr/>
          <p:nvPr/>
        </p:nvSpPr>
        <p:spPr>
          <a:xfrm>
            <a:off x="6583680" y="2825496"/>
            <a:ext cx="4023360" cy="246888"/>
          </a:xfrm>
          <a:prstGeom prst="rect">
            <a:avLst/>
          </a:prstGeom>
          <a:noFill/>
          <a:ln/>
        </p:spPr>
        <p:txBody>
          <a:bodyPr wrap="square" lIns="0" tIns="0" rIns="0" bIns="0" rtlCol="0" anchor="ctr">
            <a:normAutofit/>
          </a:bodyPr>
          <a:lstStyle/>
          <a:p>
            <a:pPr algn="l" indent="0" marL="0">
              <a:buNone/>
            </a:pPr>
            <a:r>
              <a:rPr lang="en-US" sz="1350" b="1" dirty="0">
                <a:solidFill>
                  <a:srgbClr val="182D2A"/>
                </a:solidFill>
                <a:latin typeface="Aptos" pitchFamily="34" charset="0"/>
                <a:ea typeface="Aptos" pitchFamily="34" charset="-122"/>
                <a:cs typeface="Aptos" pitchFamily="34" charset="-120"/>
              </a:rPr>
              <a:t>Gate low confidence</a:t>
            </a:r>
            <a:endParaRPr lang="en-US" sz="1350" dirty="0"/>
          </a:p>
        </p:txBody>
      </p:sp>
      <p:sp>
        <p:nvSpPr>
          <p:cNvPr id="27" name="Text 25"/>
          <p:cNvSpPr/>
          <p:nvPr/>
        </p:nvSpPr>
        <p:spPr>
          <a:xfrm>
            <a:off x="6583680" y="3145536"/>
            <a:ext cx="4800600" cy="484632"/>
          </a:xfrm>
          <a:prstGeom prst="rect">
            <a:avLst/>
          </a:prstGeom>
          <a:noFill/>
          <a:ln/>
        </p:spPr>
        <p:txBody>
          <a:bodyPr wrap="square" lIns="0" tIns="0" rIns="0" bIns="0" rtlCol="0" anchor="t">
            <a:normAutofit/>
          </a:bodyPr>
          <a:lstStyle/>
          <a:p>
            <a:pPr algn="l" indent="0" marL="0">
              <a:buNone/>
            </a:pPr>
            <a:r>
              <a:rPr lang="en-US" sz="1150" dirty="0">
                <a:solidFill>
                  <a:srgbClr val="64766E"/>
                </a:solidFill>
                <a:latin typeface="Aptos" pitchFamily="34" charset="0"/>
                <a:ea typeface="Aptos" pitchFamily="34" charset="-122"/>
                <a:cs typeface="Aptos" pitchFamily="34" charset="-120"/>
              </a:rPr>
              <a:t>Low support maps to uncertain / unclear; stance is used only when a policy target is present.</a:t>
            </a:r>
            <a:endParaRPr lang="en-US" sz="1150" dirty="0"/>
          </a:p>
        </p:txBody>
      </p:sp>
      <p:sp>
        <p:nvSpPr>
          <p:cNvPr id="28" name="Shape 26"/>
          <p:cNvSpPr/>
          <p:nvPr/>
        </p:nvSpPr>
        <p:spPr>
          <a:xfrm>
            <a:off x="6080760" y="3767328"/>
            <a:ext cx="356616" cy="356616"/>
          </a:xfrm>
          <a:prstGeom prst="ellipse">
            <a:avLst/>
          </a:prstGeom>
          <a:solidFill>
            <a:srgbClr val="2E8069"/>
          </a:solidFill>
          <a:ln w="12700">
            <a:solidFill>
              <a:srgbClr val="2E8069">
                <a:alpha val="0"/>
              </a:srgbClr>
            </a:solidFill>
            <a:prstDash val="solid"/>
          </a:ln>
        </p:spPr>
      </p:sp>
      <p:sp>
        <p:nvSpPr>
          <p:cNvPr id="29" name="Text 27"/>
          <p:cNvSpPr/>
          <p:nvPr/>
        </p:nvSpPr>
        <p:spPr>
          <a:xfrm>
            <a:off x="6080760" y="3776472"/>
            <a:ext cx="356616" cy="33832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03</a:t>
            </a:r>
            <a:endParaRPr lang="en-US" sz="900" dirty="0"/>
          </a:p>
        </p:txBody>
      </p:sp>
      <p:sp>
        <p:nvSpPr>
          <p:cNvPr id="30" name="Text 28"/>
          <p:cNvSpPr/>
          <p:nvPr/>
        </p:nvSpPr>
        <p:spPr>
          <a:xfrm>
            <a:off x="6583680" y="3758184"/>
            <a:ext cx="4023360" cy="246888"/>
          </a:xfrm>
          <a:prstGeom prst="rect">
            <a:avLst/>
          </a:prstGeom>
          <a:noFill/>
          <a:ln/>
        </p:spPr>
        <p:txBody>
          <a:bodyPr wrap="square" lIns="0" tIns="0" rIns="0" bIns="0" rtlCol="0" anchor="ctr">
            <a:normAutofit/>
          </a:bodyPr>
          <a:lstStyle/>
          <a:p>
            <a:pPr algn="l" indent="0" marL="0">
              <a:buNone/>
            </a:pPr>
            <a:r>
              <a:rPr lang="en-US" sz="1350" b="1" dirty="0">
                <a:solidFill>
                  <a:srgbClr val="182D2A"/>
                </a:solidFill>
                <a:latin typeface="Aptos" pitchFamily="34" charset="0"/>
                <a:ea typeface="Aptos" pitchFamily="34" charset="-122"/>
                <a:cs typeface="Aptos" pitchFamily="34" charset="-120"/>
              </a:rPr>
              <a:t>Keep evidence distinct</a:t>
            </a:r>
            <a:endParaRPr lang="en-US" sz="1350" dirty="0"/>
          </a:p>
        </p:txBody>
      </p:sp>
      <p:sp>
        <p:nvSpPr>
          <p:cNvPr id="31" name="Text 29"/>
          <p:cNvSpPr/>
          <p:nvPr/>
        </p:nvSpPr>
        <p:spPr>
          <a:xfrm>
            <a:off x="6583680" y="4078224"/>
            <a:ext cx="4800600" cy="484632"/>
          </a:xfrm>
          <a:prstGeom prst="rect">
            <a:avLst/>
          </a:prstGeom>
          <a:noFill/>
          <a:ln/>
        </p:spPr>
        <p:txBody>
          <a:bodyPr wrap="square" lIns="0" tIns="0" rIns="0" bIns="0" rtlCol="0" anchor="t">
            <a:normAutofit/>
          </a:bodyPr>
          <a:lstStyle/>
          <a:p>
            <a:pPr algn="l" indent="0" marL="0">
              <a:buNone/>
            </a:pPr>
            <a:r>
              <a:rPr lang="en-US" sz="1150" dirty="0">
                <a:solidFill>
                  <a:srgbClr val="64766E"/>
                </a:solidFill>
                <a:latin typeface="Aptos" pitchFamily="34" charset="0"/>
                <a:ea typeface="Aptos" pitchFamily="34" charset="-122"/>
                <a:cs typeface="Aptos" pitchFamily="34" charset="-120"/>
              </a:rPr>
              <a:t>JEV returns decisions, not quote-level rationale. Local snippets and summaries stay separate.</a:t>
            </a:r>
            <a:endParaRPr lang="en-US" sz="1150" dirty="0"/>
          </a:p>
        </p:txBody>
      </p:sp>
      <p:sp>
        <p:nvSpPr>
          <p:cNvPr id="32" name="Shape 30"/>
          <p:cNvSpPr/>
          <p:nvPr/>
        </p:nvSpPr>
        <p:spPr>
          <a:xfrm>
            <a:off x="6080760" y="4700016"/>
            <a:ext cx="356616" cy="356616"/>
          </a:xfrm>
          <a:prstGeom prst="ellipse">
            <a:avLst/>
          </a:prstGeom>
          <a:solidFill>
            <a:srgbClr val="2E8069"/>
          </a:solidFill>
          <a:ln w="12700">
            <a:solidFill>
              <a:srgbClr val="2E8069">
                <a:alpha val="0"/>
              </a:srgbClr>
            </a:solidFill>
            <a:prstDash val="solid"/>
          </a:ln>
        </p:spPr>
      </p:sp>
      <p:sp>
        <p:nvSpPr>
          <p:cNvPr id="33" name="Text 31"/>
          <p:cNvSpPr/>
          <p:nvPr/>
        </p:nvSpPr>
        <p:spPr>
          <a:xfrm>
            <a:off x="6080760" y="4709160"/>
            <a:ext cx="356616" cy="33832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04</a:t>
            </a:r>
            <a:endParaRPr lang="en-US" sz="900" dirty="0"/>
          </a:p>
        </p:txBody>
      </p:sp>
      <p:sp>
        <p:nvSpPr>
          <p:cNvPr id="34" name="Text 32"/>
          <p:cNvSpPr/>
          <p:nvPr/>
        </p:nvSpPr>
        <p:spPr>
          <a:xfrm>
            <a:off x="6583680" y="4690872"/>
            <a:ext cx="4023360" cy="246888"/>
          </a:xfrm>
          <a:prstGeom prst="rect">
            <a:avLst/>
          </a:prstGeom>
          <a:noFill/>
          <a:ln/>
        </p:spPr>
        <p:txBody>
          <a:bodyPr wrap="square" lIns="0" tIns="0" rIns="0" bIns="0" rtlCol="0" anchor="ctr">
            <a:normAutofit/>
          </a:bodyPr>
          <a:lstStyle/>
          <a:p>
            <a:pPr algn="l" indent="0" marL="0">
              <a:buNone/>
            </a:pPr>
            <a:r>
              <a:rPr lang="en-US" sz="1350" b="1" dirty="0">
                <a:solidFill>
                  <a:srgbClr val="182D2A"/>
                </a:solidFill>
                <a:latin typeface="Aptos" pitchFamily="34" charset="0"/>
                <a:ea typeface="Aptos" pitchFamily="34" charset="-122"/>
                <a:cs typeface="Aptos" pitchFamily="34" charset="-120"/>
              </a:rPr>
              <a:t>Review the article</a:t>
            </a:r>
            <a:endParaRPr lang="en-US" sz="1350" dirty="0"/>
          </a:p>
        </p:txBody>
      </p:sp>
      <p:sp>
        <p:nvSpPr>
          <p:cNvPr id="35" name="Text 33"/>
          <p:cNvSpPr/>
          <p:nvPr/>
        </p:nvSpPr>
        <p:spPr>
          <a:xfrm>
            <a:off x="6583680" y="5010912"/>
            <a:ext cx="4800600" cy="484632"/>
          </a:xfrm>
          <a:prstGeom prst="rect">
            <a:avLst/>
          </a:prstGeom>
          <a:noFill/>
          <a:ln/>
        </p:spPr>
        <p:txBody>
          <a:bodyPr wrap="square" lIns="0" tIns="0" rIns="0" bIns="0" rtlCol="0" anchor="t">
            <a:normAutofit/>
          </a:bodyPr>
          <a:lstStyle/>
          <a:p>
            <a:pPr algn="l" indent="0" marL="0">
              <a:buNone/>
            </a:pPr>
            <a:r>
              <a:rPr lang="en-US" sz="1150" dirty="0">
                <a:solidFill>
                  <a:srgbClr val="64766E"/>
                </a:solidFill>
                <a:latin typeface="Aptos" pitchFamily="34" charset="0"/>
                <a:ea typeface="Aptos" pitchFamily="34" charset="-122"/>
                <a:cs typeface="Aptos" pitchFamily="34" charset="-120"/>
              </a:rPr>
              <a:t>Probabilities are model outputs—not verified facts or calibrated certainty.</a:t>
            </a:r>
            <a:endParaRPr lang="en-US" sz="115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09 / INTERPRETATION</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Sentiment and policy stance answer different questions</a:t>
            </a:r>
            <a:endParaRPr lang="en-US" sz="3000" dirty="0"/>
          </a:p>
        </p:txBody>
      </p:sp>
      <p:sp>
        <p:nvSpPr>
          <p:cNvPr id="4" name="Text 2"/>
          <p:cNvSpPr/>
          <p:nvPr/>
        </p:nvSpPr>
        <p:spPr>
          <a:xfrm>
            <a:off x="667512" y="1783080"/>
            <a:ext cx="1234440" cy="210312"/>
          </a:xfrm>
          <a:prstGeom prst="rect">
            <a:avLst/>
          </a:prstGeom>
          <a:noFill/>
          <a:ln/>
        </p:spPr>
        <p:txBody>
          <a:bodyPr wrap="square" lIns="0" tIns="0" rIns="0" bIns="0" rtlCol="0" anchor="ctr">
            <a:normAutofit/>
          </a:bodyPr>
          <a:lstStyle/>
          <a:p>
            <a:pPr algn="l" indent="0" marL="0">
              <a:buNone/>
            </a:pPr>
            <a:r>
              <a:rPr lang="en-US" sz="900" b="1" spc="100" kern="0" dirty="0">
                <a:solidFill>
                  <a:srgbClr val="64766E"/>
                </a:solidFill>
                <a:latin typeface="Aptos" pitchFamily="34" charset="0"/>
                <a:ea typeface="Aptos" pitchFamily="34" charset="-122"/>
                <a:cs typeface="Aptos" pitchFamily="34" charset="-120"/>
              </a:rPr>
              <a:t>OVERALL TONE</a:t>
            </a:r>
            <a:endParaRPr lang="en-US" sz="900" dirty="0"/>
          </a:p>
        </p:txBody>
      </p:sp>
      <p:sp>
        <p:nvSpPr>
          <p:cNvPr id="5" name="Text 3"/>
          <p:cNvSpPr/>
          <p:nvPr/>
        </p:nvSpPr>
        <p:spPr>
          <a:xfrm>
            <a:off x="694944" y="2286000"/>
            <a:ext cx="987552" cy="201168"/>
          </a:xfrm>
          <a:prstGeom prst="rect">
            <a:avLst/>
          </a:prstGeom>
          <a:noFill/>
          <a:ln/>
        </p:spPr>
        <p:txBody>
          <a:bodyPr wrap="square" lIns="0" tIns="0" rIns="0" bIns="0" rtlCol="0" anchor="ctr">
            <a:normAutofit/>
          </a:bodyPr>
          <a:lstStyle/>
          <a:p>
            <a:pPr algn="l" indent="0" marL="0">
              <a:buNone/>
            </a:pPr>
            <a:r>
              <a:rPr lang="en-US" sz="950" b="1" dirty="0">
                <a:solidFill>
                  <a:srgbClr val="2E8069"/>
                </a:solidFill>
                <a:latin typeface="Aptos" pitchFamily="34" charset="0"/>
                <a:ea typeface="Aptos" pitchFamily="34" charset="-122"/>
                <a:cs typeface="Aptos" pitchFamily="34" charset="-120"/>
              </a:rPr>
              <a:t>FAVORABLE</a:t>
            </a:r>
            <a:endParaRPr lang="en-US" sz="950" dirty="0"/>
          </a:p>
        </p:txBody>
      </p:sp>
      <p:sp>
        <p:nvSpPr>
          <p:cNvPr id="6" name="Text 4"/>
          <p:cNvSpPr/>
          <p:nvPr/>
        </p:nvSpPr>
        <p:spPr>
          <a:xfrm>
            <a:off x="694944" y="4928616"/>
            <a:ext cx="987552" cy="201168"/>
          </a:xfrm>
          <a:prstGeom prst="rect">
            <a:avLst/>
          </a:prstGeom>
          <a:noFill/>
          <a:ln/>
        </p:spPr>
        <p:txBody>
          <a:bodyPr wrap="square" lIns="0" tIns="0" rIns="0" bIns="0" rtlCol="0" anchor="ctr">
            <a:normAutofit/>
          </a:bodyPr>
          <a:lstStyle/>
          <a:p>
            <a:pPr algn="l" indent="0" marL="0">
              <a:buNone/>
            </a:pPr>
            <a:r>
              <a:rPr lang="en-US" sz="950" b="1" dirty="0">
                <a:solidFill>
                  <a:srgbClr val="C8734E"/>
                </a:solidFill>
                <a:latin typeface="Aptos" pitchFamily="34" charset="0"/>
                <a:ea typeface="Aptos" pitchFamily="34" charset="-122"/>
                <a:cs typeface="Aptos" pitchFamily="34" charset="-120"/>
              </a:rPr>
              <a:t>CRITICAL</a:t>
            </a:r>
            <a:endParaRPr lang="en-US" sz="950" dirty="0"/>
          </a:p>
        </p:txBody>
      </p:sp>
      <p:sp>
        <p:nvSpPr>
          <p:cNvPr id="7" name="Shape 5"/>
          <p:cNvSpPr/>
          <p:nvPr/>
        </p:nvSpPr>
        <p:spPr>
          <a:xfrm>
            <a:off x="1965960" y="1993392"/>
            <a:ext cx="4251960" cy="1563624"/>
          </a:xfrm>
          <a:prstGeom prst="roundRect">
            <a:avLst>
              <a:gd name="adj" fmla="val 7602"/>
            </a:avLst>
          </a:prstGeom>
          <a:solidFill>
            <a:srgbClr val="E5EFE8"/>
          </a:solidFill>
          <a:ln w="10160">
            <a:solidFill>
              <a:srgbClr val="E5EFE8">
                <a:alpha val="0"/>
              </a:srgbClr>
            </a:solidFill>
            <a:prstDash val="solid"/>
          </a:ln>
        </p:spPr>
      </p:sp>
      <p:sp>
        <p:nvSpPr>
          <p:cNvPr id="8" name="Shape 6"/>
          <p:cNvSpPr/>
          <p:nvPr/>
        </p:nvSpPr>
        <p:spPr>
          <a:xfrm>
            <a:off x="1965960" y="2139696"/>
            <a:ext cx="50292" cy="1271016"/>
          </a:xfrm>
          <a:prstGeom prst="roundRect">
            <a:avLst>
              <a:gd name="adj" fmla="val 36364"/>
            </a:avLst>
          </a:prstGeom>
          <a:solidFill>
            <a:srgbClr val="2E8069"/>
          </a:solidFill>
          <a:ln w="10160">
            <a:solidFill>
              <a:srgbClr val="2E8069">
                <a:alpha val="0"/>
              </a:srgbClr>
            </a:solidFill>
            <a:prstDash val="solid"/>
          </a:ln>
        </p:spPr>
      </p:sp>
      <p:sp>
        <p:nvSpPr>
          <p:cNvPr id="9" name="Text 7"/>
          <p:cNvSpPr/>
          <p:nvPr/>
        </p:nvSpPr>
        <p:spPr>
          <a:xfrm>
            <a:off x="2194560" y="2221992"/>
            <a:ext cx="3813048" cy="228600"/>
          </a:xfrm>
          <a:prstGeom prst="rect">
            <a:avLst/>
          </a:prstGeom>
          <a:noFill/>
          <a:ln/>
        </p:spPr>
        <p:txBody>
          <a:bodyPr wrap="square" lIns="0" tIns="0" rIns="0" bIns="0" rtlCol="0" anchor="ctr">
            <a:normAutofit/>
          </a:bodyPr>
          <a:lstStyle/>
          <a:p>
            <a:pPr algn="l" indent="0" marL="0">
              <a:buNone/>
            </a:pPr>
            <a:r>
              <a:rPr lang="en-US" sz="930" b="1" spc="20" kern="0" dirty="0">
                <a:solidFill>
                  <a:srgbClr val="2E8069"/>
                </a:solidFill>
                <a:latin typeface="Aptos" pitchFamily="34" charset="0"/>
                <a:ea typeface="Aptos" pitchFamily="34" charset="-122"/>
                <a:cs typeface="Aptos" pitchFamily="34" charset="-120"/>
              </a:rPr>
              <a:t>POSITIVE TONE  /  SUPPORTIVE STANCE</a:t>
            </a:r>
            <a:endParaRPr lang="en-US" sz="930" dirty="0"/>
          </a:p>
        </p:txBody>
      </p:sp>
      <p:sp>
        <p:nvSpPr>
          <p:cNvPr id="10" name="Text 8"/>
          <p:cNvSpPr/>
          <p:nvPr/>
        </p:nvSpPr>
        <p:spPr>
          <a:xfrm>
            <a:off x="2194560" y="2651760"/>
            <a:ext cx="3749040" cy="521208"/>
          </a:xfrm>
          <a:prstGeom prst="rect">
            <a:avLst/>
          </a:prstGeom>
          <a:noFill/>
          <a:ln/>
        </p:spPr>
        <p:txBody>
          <a:bodyPr wrap="square" lIns="0" tIns="0" rIns="0" bIns="0" rtlCol="0" anchor="t">
            <a:normAutofit/>
          </a:bodyPr>
          <a:lstStyle/>
          <a:p>
            <a:pPr algn="l" indent="0" marL="0">
              <a:buNone/>
            </a:pPr>
            <a:r>
              <a:rPr lang="en-US" sz="1300" dirty="0">
                <a:solidFill>
                  <a:srgbClr val="182D2A"/>
                </a:solidFill>
                <a:latin typeface="Aptos" pitchFamily="34" charset="0"/>
                <a:ea typeface="Aptos" pitchFamily="34" charset="-122"/>
                <a:cs typeface="Aptos" pitchFamily="34" charset="-120"/>
              </a:rPr>
              <a:t>Reports benefits and supports the specified policy.</a:t>
            </a:r>
            <a:endParaRPr lang="en-US" sz="1300" dirty="0"/>
          </a:p>
        </p:txBody>
      </p:sp>
      <p:sp>
        <p:nvSpPr>
          <p:cNvPr id="11" name="Shape 9"/>
          <p:cNvSpPr/>
          <p:nvPr/>
        </p:nvSpPr>
        <p:spPr>
          <a:xfrm>
            <a:off x="6355080" y="1993392"/>
            <a:ext cx="4251960" cy="1563624"/>
          </a:xfrm>
          <a:prstGeom prst="roundRect">
            <a:avLst>
              <a:gd name="adj" fmla="val 7602"/>
            </a:avLst>
          </a:prstGeom>
          <a:solidFill>
            <a:srgbClr val="E7EEF1"/>
          </a:solidFill>
          <a:ln w="10160">
            <a:solidFill>
              <a:srgbClr val="E7EEF1">
                <a:alpha val="0"/>
              </a:srgbClr>
            </a:solidFill>
            <a:prstDash val="solid"/>
          </a:ln>
        </p:spPr>
      </p:sp>
      <p:sp>
        <p:nvSpPr>
          <p:cNvPr id="12" name="Shape 10"/>
          <p:cNvSpPr/>
          <p:nvPr/>
        </p:nvSpPr>
        <p:spPr>
          <a:xfrm>
            <a:off x="6355080" y="2139696"/>
            <a:ext cx="50292" cy="1271016"/>
          </a:xfrm>
          <a:prstGeom prst="roundRect">
            <a:avLst>
              <a:gd name="adj" fmla="val 36364"/>
            </a:avLst>
          </a:prstGeom>
          <a:solidFill>
            <a:srgbClr val="5B88A0"/>
          </a:solidFill>
          <a:ln w="10160">
            <a:solidFill>
              <a:srgbClr val="5B88A0">
                <a:alpha val="0"/>
              </a:srgbClr>
            </a:solidFill>
            <a:prstDash val="solid"/>
          </a:ln>
        </p:spPr>
      </p:sp>
      <p:sp>
        <p:nvSpPr>
          <p:cNvPr id="13" name="Text 11"/>
          <p:cNvSpPr/>
          <p:nvPr/>
        </p:nvSpPr>
        <p:spPr>
          <a:xfrm>
            <a:off x="6583680" y="2221992"/>
            <a:ext cx="3813048" cy="228600"/>
          </a:xfrm>
          <a:prstGeom prst="rect">
            <a:avLst/>
          </a:prstGeom>
          <a:noFill/>
          <a:ln/>
        </p:spPr>
        <p:txBody>
          <a:bodyPr wrap="square" lIns="0" tIns="0" rIns="0" bIns="0" rtlCol="0" anchor="ctr">
            <a:normAutofit/>
          </a:bodyPr>
          <a:lstStyle/>
          <a:p>
            <a:pPr algn="l" indent="0" marL="0">
              <a:buNone/>
            </a:pPr>
            <a:r>
              <a:rPr lang="en-US" sz="930" b="1" spc="20" kern="0" dirty="0">
                <a:solidFill>
                  <a:srgbClr val="5B88A0"/>
                </a:solidFill>
                <a:latin typeface="Aptos" pitchFamily="34" charset="0"/>
                <a:ea typeface="Aptos" pitchFamily="34" charset="-122"/>
                <a:cs typeface="Aptos" pitchFamily="34" charset="-120"/>
              </a:rPr>
              <a:t>POSITIVE TONE  /  CRITICAL STANCE</a:t>
            </a:r>
            <a:endParaRPr lang="en-US" sz="930" dirty="0"/>
          </a:p>
        </p:txBody>
      </p:sp>
      <p:sp>
        <p:nvSpPr>
          <p:cNvPr id="14" name="Text 12"/>
          <p:cNvSpPr/>
          <p:nvPr/>
        </p:nvSpPr>
        <p:spPr>
          <a:xfrm>
            <a:off x="6583680" y="2651760"/>
            <a:ext cx="3749040" cy="521208"/>
          </a:xfrm>
          <a:prstGeom prst="rect">
            <a:avLst/>
          </a:prstGeom>
          <a:noFill/>
          <a:ln/>
        </p:spPr>
        <p:txBody>
          <a:bodyPr wrap="square" lIns="0" tIns="0" rIns="0" bIns="0" rtlCol="0" anchor="t">
            <a:normAutofit/>
          </a:bodyPr>
          <a:lstStyle/>
          <a:p>
            <a:pPr algn="l" indent="0" marL="0">
              <a:buNone/>
            </a:pPr>
            <a:r>
              <a:rPr lang="en-US" sz="1300" dirty="0">
                <a:solidFill>
                  <a:srgbClr val="182D2A"/>
                </a:solidFill>
                <a:latin typeface="Aptos" pitchFamily="34" charset="0"/>
                <a:ea typeface="Aptos" pitchFamily="34" charset="-122"/>
                <a:cs typeface="Aptos" pitchFamily="34" charset="-120"/>
              </a:rPr>
              <a:t>Notes a benefit while questioning design or delivery.</a:t>
            </a:r>
            <a:endParaRPr lang="en-US" sz="1300" dirty="0"/>
          </a:p>
        </p:txBody>
      </p:sp>
      <p:sp>
        <p:nvSpPr>
          <p:cNvPr id="15" name="Shape 13"/>
          <p:cNvSpPr/>
          <p:nvPr/>
        </p:nvSpPr>
        <p:spPr>
          <a:xfrm>
            <a:off x="1965960" y="3694176"/>
            <a:ext cx="4251960" cy="1563624"/>
          </a:xfrm>
          <a:prstGeom prst="roundRect">
            <a:avLst>
              <a:gd name="adj" fmla="val 7602"/>
            </a:avLst>
          </a:prstGeom>
          <a:solidFill>
            <a:srgbClr val="F7EBD7"/>
          </a:solidFill>
          <a:ln w="10160">
            <a:solidFill>
              <a:srgbClr val="F7EBD7">
                <a:alpha val="0"/>
              </a:srgbClr>
            </a:solidFill>
            <a:prstDash val="solid"/>
          </a:ln>
        </p:spPr>
      </p:sp>
      <p:sp>
        <p:nvSpPr>
          <p:cNvPr id="16" name="Shape 14"/>
          <p:cNvSpPr/>
          <p:nvPr/>
        </p:nvSpPr>
        <p:spPr>
          <a:xfrm>
            <a:off x="1965960" y="3840480"/>
            <a:ext cx="50292" cy="1271016"/>
          </a:xfrm>
          <a:prstGeom prst="roundRect">
            <a:avLst>
              <a:gd name="adj" fmla="val 36364"/>
            </a:avLst>
          </a:prstGeom>
          <a:solidFill>
            <a:srgbClr val="E7A54A"/>
          </a:solidFill>
          <a:ln w="10160">
            <a:solidFill>
              <a:srgbClr val="E7A54A">
                <a:alpha val="0"/>
              </a:srgbClr>
            </a:solidFill>
            <a:prstDash val="solid"/>
          </a:ln>
        </p:spPr>
      </p:sp>
      <p:sp>
        <p:nvSpPr>
          <p:cNvPr id="17" name="Text 15"/>
          <p:cNvSpPr/>
          <p:nvPr/>
        </p:nvSpPr>
        <p:spPr>
          <a:xfrm>
            <a:off x="2194560" y="3922776"/>
            <a:ext cx="3813048" cy="228600"/>
          </a:xfrm>
          <a:prstGeom prst="rect">
            <a:avLst/>
          </a:prstGeom>
          <a:noFill/>
          <a:ln/>
        </p:spPr>
        <p:txBody>
          <a:bodyPr wrap="square" lIns="0" tIns="0" rIns="0" bIns="0" rtlCol="0" anchor="ctr">
            <a:normAutofit/>
          </a:bodyPr>
          <a:lstStyle/>
          <a:p>
            <a:pPr algn="l" indent="0" marL="0">
              <a:buNone/>
            </a:pPr>
            <a:r>
              <a:rPr lang="en-US" sz="930" b="1" spc="20" kern="0" dirty="0">
                <a:solidFill>
                  <a:srgbClr val="C8734E"/>
                </a:solidFill>
                <a:latin typeface="Aptos" pitchFamily="34" charset="0"/>
                <a:ea typeface="Aptos" pitchFamily="34" charset="-122"/>
                <a:cs typeface="Aptos" pitchFamily="34" charset="-120"/>
              </a:rPr>
              <a:t>NEGATIVE TONE  /  SUPPORTIVE STANCE</a:t>
            </a:r>
            <a:endParaRPr lang="en-US" sz="930" dirty="0"/>
          </a:p>
        </p:txBody>
      </p:sp>
      <p:sp>
        <p:nvSpPr>
          <p:cNvPr id="18" name="Text 16"/>
          <p:cNvSpPr/>
          <p:nvPr/>
        </p:nvSpPr>
        <p:spPr>
          <a:xfrm>
            <a:off x="2194560" y="4352544"/>
            <a:ext cx="3749040" cy="521208"/>
          </a:xfrm>
          <a:prstGeom prst="rect">
            <a:avLst/>
          </a:prstGeom>
          <a:noFill/>
          <a:ln/>
        </p:spPr>
        <p:txBody>
          <a:bodyPr wrap="square" lIns="0" tIns="0" rIns="0" bIns="0" rtlCol="0" anchor="t">
            <a:normAutofit/>
          </a:bodyPr>
          <a:lstStyle/>
          <a:p>
            <a:pPr algn="l" indent="0" marL="0">
              <a:buNone/>
            </a:pPr>
            <a:r>
              <a:rPr lang="en-US" sz="1300" dirty="0">
                <a:solidFill>
                  <a:srgbClr val="182D2A"/>
                </a:solidFill>
                <a:latin typeface="Aptos" pitchFamily="34" charset="0"/>
                <a:ea typeface="Aptos" pitchFamily="34" charset="-122"/>
                <a:cs typeface="Aptos" pitchFamily="34" charset="-120"/>
              </a:rPr>
              <a:t>Supports the goal but reports a setback or delay.</a:t>
            </a:r>
            <a:endParaRPr lang="en-US" sz="1300" dirty="0"/>
          </a:p>
        </p:txBody>
      </p:sp>
      <p:sp>
        <p:nvSpPr>
          <p:cNvPr id="19" name="Shape 17"/>
          <p:cNvSpPr/>
          <p:nvPr/>
        </p:nvSpPr>
        <p:spPr>
          <a:xfrm>
            <a:off x="6355080" y="3694176"/>
            <a:ext cx="4251960" cy="1563624"/>
          </a:xfrm>
          <a:prstGeom prst="roundRect">
            <a:avLst>
              <a:gd name="adj" fmla="val 7602"/>
            </a:avLst>
          </a:prstGeom>
          <a:solidFill>
            <a:srgbClr val="F4E6DF"/>
          </a:solidFill>
          <a:ln w="10160">
            <a:solidFill>
              <a:srgbClr val="F4E6DF">
                <a:alpha val="0"/>
              </a:srgbClr>
            </a:solidFill>
            <a:prstDash val="solid"/>
          </a:ln>
        </p:spPr>
      </p:sp>
      <p:sp>
        <p:nvSpPr>
          <p:cNvPr id="20" name="Shape 18"/>
          <p:cNvSpPr/>
          <p:nvPr/>
        </p:nvSpPr>
        <p:spPr>
          <a:xfrm>
            <a:off x="6355080" y="3840480"/>
            <a:ext cx="50292" cy="1271016"/>
          </a:xfrm>
          <a:prstGeom prst="roundRect">
            <a:avLst>
              <a:gd name="adj" fmla="val 36364"/>
            </a:avLst>
          </a:prstGeom>
          <a:solidFill>
            <a:srgbClr val="C8734E"/>
          </a:solidFill>
          <a:ln w="10160">
            <a:solidFill>
              <a:srgbClr val="C8734E">
                <a:alpha val="0"/>
              </a:srgbClr>
            </a:solidFill>
            <a:prstDash val="solid"/>
          </a:ln>
        </p:spPr>
      </p:sp>
      <p:sp>
        <p:nvSpPr>
          <p:cNvPr id="21" name="Text 19"/>
          <p:cNvSpPr/>
          <p:nvPr/>
        </p:nvSpPr>
        <p:spPr>
          <a:xfrm>
            <a:off x="6583680" y="3922776"/>
            <a:ext cx="3813048" cy="228600"/>
          </a:xfrm>
          <a:prstGeom prst="rect">
            <a:avLst/>
          </a:prstGeom>
          <a:noFill/>
          <a:ln/>
        </p:spPr>
        <p:txBody>
          <a:bodyPr wrap="square" lIns="0" tIns="0" rIns="0" bIns="0" rtlCol="0" anchor="ctr">
            <a:normAutofit/>
          </a:bodyPr>
          <a:lstStyle/>
          <a:p>
            <a:pPr algn="l" indent="0" marL="0">
              <a:buNone/>
            </a:pPr>
            <a:r>
              <a:rPr lang="en-US" sz="930" b="1" spc="20" kern="0" dirty="0">
                <a:solidFill>
                  <a:srgbClr val="C8734E"/>
                </a:solidFill>
                <a:latin typeface="Aptos" pitchFamily="34" charset="0"/>
                <a:ea typeface="Aptos" pitchFamily="34" charset="-122"/>
                <a:cs typeface="Aptos" pitchFamily="34" charset="-120"/>
              </a:rPr>
              <a:t>NEGATIVE TONE  /  CRITICAL STANCE</a:t>
            </a:r>
            <a:endParaRPr lang="en-US" sz="930" dirty="0"/>
          </a:p>
        </p:txBody>
      </p:sp>
      <p:sp>
        <p:nvSpPr>
          <p:cNvPr id="22" name="Text 20"/>
          <p:cNvSpPr/>
          <p:nvPr/>
        </p:nvSpPr>
        <p:spPr>
          <a:xfrm>
            <a:off x="6583680" y="4352544"/>
            <a:ext cx="3749040" cy="521208"/>
          </a:xfrm>
          <a:prstGeom prst="rect">
            <a:avLst/>
          </a:prstGeom>
          <a:noFill/>
          <a:ln/>
        </p:spPr>
        <p:txBody>
          <a:bodyPr wrap="square" lIns="0" tIns="0" rIns="0" bIns="0" rtlCol="0" anchor="t">
            <a:normAutofit/>
          </a:bodyPr>
          <a:lstStyle/>
          <a:p>
            <a:pPr algn="l" indent="0" marL="0">
              <a:buNone/>
            </a:pPr>
            <a:r>
              <a:rPr lang="en-US" sz="1300" dirty="0">
                <a:solidFill>
                  <a:srgbClr val="182D2A"/>
                </a:solidFill>
                <a:latin typeface="Aptos" pitchFamily="34" charset="0"/>
                <a:ea typeface="Aptos" pitchFamily="34" charset="-122"/>
                <a:cs typeface="Aptos" pitchFamily="34" charset="-120"/>
              </a:rPr>
              <a:t>Criticizes both results and the policy approach.</a:t>
            </a:r>
            <a:endParaRPr lang="en-US" sz="1300" dirty="0"/>
          </a:p>
        </p:txBody>
      </p:sp>
      <p:sp>
        <p:nvSpPr>
          <p:cNvPr id="23" name="Shape 21"/>
          <p:cNvSpPr/>
          <p:nvPr/>
        </p:nvSpPr>
        <p:spPr>
          <a:xfrm>
            <a:off x="10835640" y="2011680"/>
            <a:ext cx="64008" cy="3291840"/>
          </a:xfrm>
          <a:prstGeom prst="roundRect">
            <a:avLst>
              <a:gd name="adj" fmla="val 42857"/>
            </a:avLst>
          </a:prstGeom>
          <a:solidFill>
            <a:srgbClr val="173D35"/>
          </a:solidFill>
          <a:ln w="10160">
            <a:solidFill>
              <a:srgbClr val="173D35">
                <a:alpha val="0"/>
              </a:srgbClr>
            </a:solidFill>
            <a:prstDash val="solid"/>
          </a:ln>
        </p:spPr>
      </p:sp>
      <p:sp>
        <p:nvSpPr>
          <p:cNvPr id="24" name="Text 22"/>
          <p:cNvSpPr/>
          <p:nvPr/>
        </p:nvSpPr>
        <p:spPr>
          <a:xfrm>
            <a:off x="9189720" y="5559552"/>
            <a:ext cx="1828800" cy="182880"/>
          </a:xfrm>
          <a:prstGeom prst="rect">
            <a:avLst/>
          </a:prstGeom>
          <a:noFill/>
          <a:ln/>
        </p:spPr>
        <p:txBody>
          <a:bodyPr wrap="square" lIns="0" tIns="0" rIns="0" bIns="0" rtlCol="0" anchor="ctr">
            <a:normAutofit/>
          </a:bodyPr>
          <a:lstStyle/>
          <a:p>
            <a:pPr algn="r" indent="0" marL="0">
              <a:buNone/>
            </a:pPr>
            <a:r>
              <a:rPr lang="en-US" sz="900" b="1" spc="80" kern="0" dirty="0">
                <a:solidFill>
                  <a:srgbClr val="2E8069"/>
                </a:solidFill>
                <a:latin typeface="Aptos" pitchFamily="34" charset="0"/>
                <a:ea typeface="Aptos" pitchFamily="34" charset="-122"/>
                <a:cs typeface="Aptos" pitchFamily="34" charset="-120"/>
              </a:rPr>
              <a:t>STANCE TARGET</a:t>
            </a:r>
            <a:endParaRPr lang="en-US" sz="900" dirty="0"/>
          </a:p>
        </p:txBody>
      </p:sp>
      <p:sp>
        <p:nvSpPr>
          <p:cNvPr id="25" name="Text 23"/>
          <p:cNvSpPr/>
          <p:nvPr/>
        </p:nvSpPr>
        <p:spPr>
          <a:xfrm>
            <a:off x="8138160" y="5833872"/>
            <a:ext cx="2880360" cy="256032"/>
          </a:xfrm>
          <a:prstGeom prst="rect">
            <a:avLst/>
          </a:prstGeom>
          <a:noFill/>
          <a:ln/>
        </p:spPr>
        <p:txBody>
          <a:bodyPr wrap="square" lIns="0" tIns="0" rIns="0" bIns="0" rtlCol="0" anchor="ctr">
            <a:normAutofit/>
          </a:bodyPr>
          <a:lstStyle/>
          <a:p>
            <a:pPr algn="r" indent="0" marL="0">
              <a:buNone/>
            </a:pPr>
            <a:r>
              <a:rPr lang="en-US" sz="1200" b="1" dirty="0">
                <a:solidFill>
                  <a:srgbClr val="182D2A"/>
                </a:solidFill>
                <a:latin typeface="Aptos" pitchFamily="34" charset="0"/>
                <a:ea typeface="Aptos" pitchFamily="34" charset="-122"/>
                <a:cs typeface="Aptos" pitchFamily="34" charset="-120"/>
              </a:rPr>
              <a:t>Union Government policy / action</a:t>
            </a:r>
            <a:endParaRPr lang="en-US" sz="120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10 / ARTICLE ANALYSIS</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Store the interpretation next to its support</a:t>
            </a:r>
            <a:endParaRPr lang="en-US" sz="3000" dirty="0"/>
          </a:p>
        </p:txBody>
      </p:sp>
      <p:sp>
        <p:nvSpPr>
          <p:cNvPr id="4" name="Shape 2"/>
          <p:cNvSpPr/>
          <p:nvPr/>
        </p:nvSpPr>
        <p:spPr>
          <a:xfrm>
            <a:off x="658368" y="1956816"/>
            <a:ext cx="3401568" cy="3191256"/>
          </a:xfrm>
          <a:prstGeom prst="roundRect">
            <a:avLst>
              <a:gd name="adj" fmla="val 3725"/>
            </a:avLst>
          </a:prstGeom>
          <a:solidFill>
            <a:srgbClr val="E7EEF1"/>
          </a:solidFill>
          <a:ln w="10160">
            <a:solidFill>
              <a:srgbClr val="E7EEF1">
                <a:alpha val="0"/>
              </a:srgbClr>
            </a:solidFill>
            <a:prstDash val="solid"/>
          </a:ln>
        </p:spPr>
      </p:sp>
      <p:sp>
        <p:nvSpPr>
          <p:cNvPr id="5" name="Shape 3"/>
          <p:cNvSpPr/>
          <p:nvPr/>
        </p:nvSpPr>
        <p:spPr>
          <a:xfrm>
            <a:off x="658368" y="2103120"/>
            <a:ext cx="50292" cy="2898648"/>
          </a:xfrm>
          <a:prstGeom prst="roundRect">
            <a:avLst>
              <a:gd name="adj" fmla="val 36364"/>
            </a:avLst>
          </a:prstGeom>
          <a:solidFill>
            <a:srgbClr val="5B88A0"/>
          </a:solidFill>
          <a:ln w="10160">
            <a:solidFill>
              <a:srgbClr val="5B88A0">
                <a:alpha val="0"/>
              </a:srgbClr>
            </a:solidFill>
            <a:prstDash val="solid"/>
          </a:ln>
        </p:spPr>
      </p:sp>
      <p:sp>
        <p:nvSpPr>
          <p:cNvPr id="6" name="Shape 4"/>
          <p:cNvSpPr/>
          <p:nvPr/>
        </p:nvSpPr>
        <p:spPr>
          <a:xfrm>
            <a:off x="905256" y="2240280"/>
            <a:ext cx="960120" cy="274320"/>
          </a:xfrm>
          <a:prstGeom prst="roundRect">
            <a:avLst>
              <a:gd name="adj" fmla="val 43333"/>
            </a:avLst>
          </a:prstGeom>
          <a:solidFill>
            <a:srgbClr val="FFFFFF"/>
          </a:solidFill>
          <a:ln w="10160">
            <a:solidFill>
              <a:srgbClr val="FFFFFF">
                <a:alpha val="0"/>
              </a:srgbClr>
            </a:solidFill>
            <a:prstDash val="solid"/>
          </a:ln>
        </p:spPr>
      </p:sp>
      <p:sp>
        <p:nvSpPr>
          <p:cNvPr id="7" name="Text 5"/>
          <p:cNvSpPr/>
          <p:nvPr/>
        </p:nvSpPr>
        <p:spPr>
          <a:xfrm>
            <a:off x="996696" y="2249424"/>
            <a:ext cx="77724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5B88A0"/>
                </a:solidFill>
                <a:latin typeface="Aptos" pitchFamily="34" charset="0"/>
                <a:ea typeface="Aptos" pitchFamily="34" charset="-122"/>
                <a:cs typeface="Aptos" pitchFamily="34" charset="-120"/>
              </a:rPr>
              <a:t>INPUT</a:t>
            </a:r>
            <a:endParaRPr lang="en-US" sz="900" dirty="0"/>
          </a:p>
        </p:txBody>
      </p:sp>
      <p:sp>
        <p:nvSpPr>
          <p:cNvPr id="8" name="Text 6"/>
          <p:cNvSpPr/>
          <p:nvPr/>
        </p:nvSpPr>
        <p:spPr>
          <a:xfrm>
            <a:off x="905256" y="2724912"/>
            <a:ext cx="2798064" cy="329184"/>
          </a:xfrm>
          <a:prstGeom prst="rect">
            <a:avLst/>
          </a:prstGeom>
          <a:noFill/>
          <a:ln/>
        </p:spPr>
        <p:txBody>
          <a:bodyPr wrap="square" lIns="0" tIns="0" rIns="0" bIns="0" rtlCol="0" anchor="ctr">
            <a:normAutofit/>
          </a:bodyPr>
          <a:lstStyle/>
          <a:p>
            <a:pPr algn="l" indent="0" marL="0">
              <a:buNone/>
            </a:pPr>
            <a:r>
              <a:rPr lang="en-US" sz="1900" b="1" dirty="0">
                <a:solidFill>
                  <a:srgbClr val="182D2A"/>
                </a:solidFill>
                <a:latin typeface="Georgia" pitchFamily="34" charset="0"/>
                <a:ea typeface="Georgia" pitchFamily="34" charset="-122"/>
                <a:cs typeface="Georgia" pitchFamily="34" charset="-120"/>
              </a:rPr>
              <a:t>ARTICLE TEXT</a:t>
            </a:r>
            <a:endParaRPr lang="en-US" sz="1900" dirty="0"/>
          </a:p>
        </p:txBody>
      </p:sp>
      <p:sp>
        <p:nvSpPr>
          <p:cNvPr id="9" name="Text 7"/>
          <p:cNvSpPr/>
          <p:nvPr/>
        </p:nvSpPr>
        <p:spPr>
          <a:xfrm>
            <a:off x="914400" y="3255264"/>
            <a:ext cx="2798064" cy="1408176"/>
          </a:xfrm>
          <a:prstGeom prst="rect">
            <a:avLst/>
          </a:prstGeom>
          <a:noFill/>
          <a:ln/>
        </p:spPr>
        <p:txBody>
          <a:bodyPr wrap="square" lIns="0" tIns="0" rIns="0" bIns="0" rtlCol="0" anchor="t">
            <a:normAutofit/>
          </a:bodyPr>
          <a:lstStyle/>
          <a:p>
            <a:pPr algn="l" indent="0" marL="0">
              <a:lnSpc>
                <a:spcPct val="110000"/>
              </a:lnSpc>
              <a:buNone/>
            </a:pPr>
            <a:r>
              <a:rPr lang="en-US" sz="1300" dirty="0">
                <a:solidFill>
                  <a:srgbClr val="182D2A"/>
                </a:solidFill>
                <a:latin typeface="Aptos" pitchFamily="34" charset="0"/>
                <a:ea typeface="Aptos" pitchFamily="34" charset="-122"/>
                <a:cs typeface="Aptos" pitchFamily="34" charset="-120"/>
              </a:rPr>
              <a:t>Title + cleaned content</a:t>
            </a:r>
            <a:endParaRPr lang="en-US" sz="1300" dirty="0"/>
          </a:p>
          <a:p>
            <a:pPr algn="l" indent="0" marL="0">
              <a:lnSpc>
                <a:spcPct val="110000"/>
              </a:lnSpc>
              <a:buNone/>
            </a:pPr>
            <a:r>
              <a:rPr lang="en-US" sz="1300" dirty="0">
                <a:solidFill>
                  <a:srgbClr val="182D2A"/>
                </a:solidFill>
                <a:latin typeface="Aptos" pitchFamily="34" charset="0"/>
                <a:ea typeface="Aptos" pitchFamily="34" charset="-122"/>
                <a:cs typeface="Aptos" pitchFamily="34" charset="-120"/>
              </a:rPr>
              <a:t>Source, date, language</a:t>
            </a:r>
            <a:endParaRPr lang="en-US" sz="1300" dirty="0"/>
          </a:p>
          <a:p>
            <a:pPr algn="l" indent="0" marL="0">
              <a:lnSpc>
                <a:spcPct val="110000"/>
              </a:lnSpc>
              <a:buNone/>
            </a:pPr>
            <a:r>
              <a:rPr lang="en-US" sz="1300" dirty="0">
                <a:solidFill>
                  <a:srgbClr val="182D2A"/>
                </a:solidFill>
                <a:latin typeface="Aptos" pitchFamily="34" charset="0"/>
                <a:ea typeface="Aptos" pitchFamily="34" charset="-122"/>
                <a:cs typeface="Aptos" pitchFamily="34" charset="-120"/>
              </a:rPr>
              <a:t>Raw version retained</a:t>
            </a:r>
            <a:endParaRPr lang="en-US" sz="1300" dirty="0"/>
          </a:p>
        </p:txBody>
      </p:sp>
      <p:sp>
        <p:nvSpPr>
          <p:cNvPr id="10" name="Shape 8"/>
          <p:cNvSpPr/>
          <p:nvPr/>
        </p:nvSpPr>
        <p:spPr>
          <a:xfrm>
            <a:off x="4123944" y="3529584"/>
            <a:ext cx="192024" cy="0"/>
          </a:xfrm>
          <a:prstGeom prst="line">
            <a:avLst/>
          </a:prstGeom>
          <a:noFill/>
          <a:ln w="25400">
            <a:solidFill>
              <a:srgbClr val="173D35"/>
            </a:solidFill>
            <a:prstDash val="solid"/>
            <a:headEnd type="none"/>
            <a:tailEnd type="none"/>
          </a:ln>
        </p:spPr>
      </p:sp>
      <p:sp>
        <p:nvSpPr>
          <p:cNvPr id="11" name="Text 9"/>
          <p:cNvSpPr/>
          <p:nvPr/>
        </p:nvSpPr>
        <p:spPr>
          <a:xfrm>
            <a:off x="4151376" y="3374136"/>
            <a:ext cx="274320" cy="310896"/>
          </a:xfrm>
          <a:prstGeom prst="rect">
            <a:avLst/>
          </a:prstGeom>
          <a:noFill/>
          <a:ln/>
        </p:spPr>
        <p:txBody>
          <a:bodyPr wrap="square" lIns="0" tIns="0" rIns="0" bIns="0" rtlCol="0" anchor="ctr">
            <a:normAutofit/>
          </a:bodyPr>
          <a:lstStyle/>
          <a:p>
            <a:pPr algn="ctr" indent="0" marL="0">
              <a:buNone/>
            </a:pPr>
            <a:r>
              <a:rPr lang="en-US" sz="2000" b="1" dirty="0">
                <a:solidFill>
                  <a:srgbClr val="173D35"/>
                </a:solidFill>
                <a:latin typeface="Aptos" pitchFamily="34" charset="0"/>
                <a:ea typeface="Aptos" pitchFamily="34" charset="-122"/>
                <a:cs typeface="Aptos" pitchFamily="34" charset="-120"/>
              </a:rPr>
              <a:t>→</a:t>
            </a:r>
            <a:endParaRPr lang="en-US" sz="2000" dirty="0"/>
          </a:p>
        </p:txBody>
      </p:sp>
      <p:sp>
        <p:nvSpPr>
          <p:cNvPr id="12" name="Shape 10"/>
          <p:cNvSpPr/>
          <p:nvPr/>
        </p:nvSpPr>
        <p:spPr>
          <a:xfrm>
            <a:off x="4334256" y="1956816"/>
            <a:ext cx="3401568" cy="3191256"/>
          </a:xfrm>
          <a:prstGeom prst="roundRect">
            <a:avLst>
              <a:gd name="adj" fmla="val 3725"/>
            </a:avLst>
          </a:prstGeom>
          <a:solidFill>
            <a:srgbClr val="E5EFE8"/>
          </a:solidFill>
          <a:ln w="10160">
            <a:solidFill>
              <a:srgbClr val="E5EFE8">
                <a:alpha val="0"/>
              </a:srgbClr>
            </a:solidFill>
            <a:prstDash val="solid"/>
          </a:ln>
        </p:spPr>
      </p:sp>
      <p:sp>
        <p:nvSpPr>
          <p:cNvPr id="13" name="Shape 11"/>
          <p:cNvSpPr/>
          <p:nvPr/>
        </p:nvSpPr>
        <p:spPr>
          <a:xfrm>
            <a:off x="4334256" y="2103120"/>
            <a:ext cx="50292" cy="2898648"/>
          </a:xfrm>
          <a:prstGeom prst="roundRect">
            <a:avLst>
              <a:gd name="adj" fmla="val 36364"/>
            </a:avLst>
          </a:prstGeom>
          <a:solidFill>
            <a:srgbClr val="2E8069"/>
          </a:solidFill>
          <a:ln w="10160">
            <a:solidFill>
              <a:srgbClr val="2E8069">
                <a:alpha val="0"/>
              </a:srgbClr>
            </a:solidFill>
            <a:prstDash val="solid"/>
          </a:ln>
        </p:spPr>
      </p:sp>
      <p:sp>
        <p:nvSpPr>
          <p:cNvPr id="14" name="Shape 12"/>
          <p:cNvSpPr/>
          <p:nvPr/>
        </p:nvSpPr>
        <p:spPr>
          <a:xfrm>
            <a:off x="4581144" y="2240280"/>
            <a:ext cx="960120" cy="274320"/>
          </a:xfrm>
          <a:prstGeom prst="roundRect">
            <a:avLst>
              <a:gd name="adj" fmla="val 43333"/>
            </a:avLst>
          </a:prstGeom>
          <a:solidFill>
            <a:srgbClr val="FFFFFF"/>
          </a:solidFill>
          <a:ln w="10160">
            <a:solidFill>
              <a:srgbClr val="FFFFFF">
                <a:alpha val="0"/>
              </a:srgbClr>
            </a:solidFill>
            <a:prstDash val="solid"/>
          </a:ln>
        </p:spPr>
      </p:sp>
      <p:sp>
        <p:nvSpPr>
          <p:cNvPr id="15" name="Text 13"/>
          <p:cNvSpPr/>
          <p:nvPr/>
        </p:nvSpPr>
        <p:spPr>
          <a:xfrm>
            <a:off x="4672584" y="2249424"/>
            <a:ext cx="77724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2E8069"/>
                </a:solidFill>
                <a:latin typeface="Aptos" pitchFamily="34" charset="0"/>
                <a:ea typeface="Aptos" pitchFamily="34" charset="-122"/>
                <a:cs typeface="Aptos" pitchFamily="34" charset="-120"/>
              </a:rPr>
              <a:t>DECISIONS</a:t>
            </a:r>
            <a:endParaRPr lang="en-US" sz="900" dirty="0"/>
          </a:p>
        </p:txBody>
      </p:sp>
      <p:sp>
        <p:nvSpPr>
          <p:cNvPr id="16" name="Text 14"/>
          <p:cNvSpPr/>
          <p:nvPr/>
        </p:nvSpPr>
        <p:spPr>
          <a:xfrm>
            <a:off x="4581144" y="2724912"/>
            <a:ext cx="2798064" cy="329184"/>
          </a:xfrm>
          <a:prstGeom prst="rect">
            <a:avLst/>
          </a:prstGeom>
          <a:noFill/>
          <a:ln/>
        </p:spPr>
        <p:txBody>
          <a:bodyPr wrap="square" lIns="0" tIns="0" rIns="0" bIns="0" rtlCol="0" anchor="ctr">
            <a:normAutofit/>
          </a:bodyPr>
          <a:lstStyle/>
          <a:p>
            <a:pPr algn="l" indent="0" marL="0">
              <a:buNone/>
            </a:pPr>
            <a:r>
              <a:rPr lang="en-US" sz="1900" b="1" dirty="0">
                <a:solidFill>
                  <a:srgbClr val="182D2A"/>
                </a:solidFill>
                <a:latin typeface="Georgia" pitchFamily="34" charset="0"/>
                <a:ea typeface="Georgia" pitchFamily="34" charset="-122"/>
                <a:cs typeface="Georgia" pitchFamily="34" charset="-120"/>
              </a:rPr>
              <a:t>ANALYSIS</a:t>
            </a:r>
            <a:endParaRPr lang="en-US" sz="1900" dirty="0"/>
          </a:p>
        </p:txBody>
      </p:sp>
      <p:sp>
        <p:nvSpPr>
          <p:cNvPr id="17" name="Text 15"/>
          <p:cNvSpPr/>
          <p:nvPr/>
        </p:nvSpPr>
        <p:spPr>
          <a:xfrm>
            <a:off x="4590288" y="3255264"/>
            <a:ext cx="2798064" cy="1408176"/>
          </a:xfrm>
          <a:prstGeom prst="rect">
            <a:avLst/>
          </a:prstGeom>
          <a:noFill/>
          <a:ln/>
        </p:spPr>
        <p:txBody>
          <a:bodyPr wrap="square" lIns="0" tIns="0" rIns="0" bIns="0" rtlCol="0" anchor="t">
            <a:normAutofit/>
          </a:bodyPr>
          <a:lstStyle/>
          <a:p>
            <a:pPr algn="l" indent="0" marL="0">
              <a:lnSpc>
                <a:spcPct val="110000"/>
              </a:lnSpc>
              <a:buNone/>
            </a:pPr>
            <a:r>
              <a:rPr lang="en-US" sz="1300" dirty="0">
                <a:solidFill>
                  <a:srgbClr val="182D2A"/>
                </a:solidFill>
                <a:latin typeface="Aptos" pitchFamily="34" charset="0"/>
                <a:ea typeface="Aptos" pitchFamily="34" charset="-122"/>
                <a:cs typeface="Aptos" pitchFamily="34" charset="-120"/>
              </a:rPr>
              <a:t>Summary + key points</a:t>
            </a:r>
            <a:endParaRPr lang="en-US" sz="1300" dirty="0"/>
          </a:p>
          <a:p>
            <a:pPr algn="l" indent="0" marL="0">
              <a:lnSpc>
                <a:spcPct val="110000"/>
              </a:lnSpc>
              <a:buNone/>
            </a:pPr>
            <a:r>
              <a:rPr lang="en-US" sz="1300" dirty="0">
                <a:solidFill>
                  <a:srgbClr val="182D2A"/>
                </a:solidFill>
                <a:latin typeface="Aptos" pitchFamily="34" charset="0"/>
                <a:ea typeface="Aptos" pitchFamily="34" charset="-122"/>
                <a:cs typeface="Aptos" pitchFamily="34" charset="-120"/>
              </a:rPr>
              <a:t>Sentiment + stance</a:t>
            </a:r>
            <a:endParaRPr lang="en-US" sz="1300" dirty="0"/>
          </a:p>
          <a:p>
            <a:pPr algn="l" indent="0" marL="0">
              <a:lnSpc>
                <a:spcPct val="110000"/>
              </a:lnSpc>
              <a:buNone/>
            </a:pPr>
            <a:r>
              <a:rPr lang="en-US" sz="1300" dirty="0">
                <a:solidFill>
                  <a:srgbClr val="182D2A"/>
                </a:solidFill>
                <a:latin typeface="Aptos" pitchFamily="34" charset="0"/>
                <a:ea typeface="Aptos" pitchFamily="34" charset="-122"/>
                <a:cs typeface="Aptos" pitchFamily="34" charset="-120"/>
              </a:rPr>
              <a:t>Topics, entities, claims</a:t>
            </a:r>
            <a:endParaRPr lang="en-US" sz="1300" dirty="0"/>
          </a:p>
          <a:p>
            <a:pPr algn="l" indent="0" marL="0">
              <a:lnSpc>
                <a:spcPct val="110000"/>
              </a:lnSpc>
              <a:buNone/>
            </a:pPr>
            <a:r>
              <a:rPr lang="en-US" sz="1300" dirty="0">
                <a:solidFill>
                  <a:srgbClr val="182D2A"/>
                </a:solidFill>
                <a:latin typeface="Aptos" pitchFamily="34" charset="0"/>
                <a:ea typeface="Aptos" pitchFamily="34" charset="-122"/>
                <a:cs typeface="Aptos" pitchFamily="34" charset="-120"/>
              </a:rPr>
              <a:t>Concerns + positive aspects</a:t>
            </a:r>
            <a:endParaRPr lang="en-US" sz="1300" dirty="0"/>
          </a:p>
        </p:txBody>
      </p:sp>
      <p:sp>
        <p:nvSpPr>
          <p:cNvPr id="18" name="Shape 16"/>
          <p:cNvSpPr/>
          <p:nvPr/>
        </p:nvSpPr>
        <p:spPr>
          <a:xfrm>
            <a:off x="7799832" y="3529584"/>
            <a:ext cx="192024" cy="0"/>
          </a:xfrm>
          <a:prstGeom prst="line">
            <a:avLst/>
          </a:prstGeom>
          <a:noFill/>
          <a:ln w="25400">
            <a:solidFill>
              <a:srgbClr val="173D35"/>
            </a:solidFill>
            <a:prstDash val="solid"/>
            <a:headEnd type="none"/>
            <a:tailEnd type="none"/>
          </a:ln>
        </p:spPr>
      </p:sp>
      <p:sp>
        <p:nvSpPr>
          <p:cNvPr id="19" name="Text 17"/>
          <p:cNvSpPr/>
          <p:nvPr/>
        </p:nvSpPr>
        <p:spPr>
          <a:xfrm>
            <a:off x="7827264" y="3374136"/>
            <a:ext cx="274320" cy="310896"/>
          </a:xfrm>
          <a:prstGeom prst="rect">
            <a:avLst/>
          </a:prstGeom>
          <a:noFill/>
          <a:ln/>
        </p:spPr>
        <p:txBody>
          <a:bodyPr wrap="square" lIns="0" tIns="0" rIns="0" bIns="0" rtlCol="0" anchor="ctr">
            <a:normAutofit/>
          </a:bodyPr>
          <a:lstStyle/>
          <a:p>
            <a:pPr algn="ctr" indent="0" marL="0">
              <a:buNone/>
            </a:pPr>
            <a:r>
              <a:rPr lang="en-US" sz="2000" b="1" dirty="0">
                <a:solidFill>
                  <a:srgbClr val="173D35"/>
                </a:solidFill>
                <a:latin typeface="Aptos" pitchFamily="34" charset="0"/>
                <a:ea typeface="Aptos" pitchFamily="34" charset="-122"/>
                <a:cs typeface="Aptos" pitchFamily="34" charset="-120"/>
              </a:rPr>
              <a:t>→</a:t>
            </a:r>
            <a:endParaRPr lang="en-US" sz="2000" dirty="0"/>
          </a:p>
        </p:txBody>
      </p:sp>
      <p:sp>
        <p:nvSpPr>
          <p:cNvPr id="20" name="Shape 18"/>
          <p:cNvSpPr/>
          <p:nvPr/>
        </p:nvSpPr>
        <p:spPr>
          <a:xfrm>
            <a:off x="8019288" y="1956816"/>
            <a:ext cx="3401568" cy="3191256"/>
          </a:xfrm>
          <a:prstGeom prst="roundRect">
            <a:avLst>
              <a:gd name="adj" fmla="val 3725"/>
            </a:avLst>
          </a:prstGeom>
          <a:solidFill>
            <a:srgbClr val="F7EBD7"/>
          </a:solidFill>
          <a:ln w="10160">
            <a:solidFill>
              <a:srgbClr val="F7EBD7">
                <a:alpha val="0"/>
              </a:srgbClr>
            </a:solidFill>
            <a:prstDash val="solid"/>
          </a:ln>
        </p:spPr>
      </p:sp>
      <p:sp>
        <p:nvSpPr>
          <p:cNvPr id="21" name="Shape 19"/>
          <p:cNvSpPr/>
          <p:nvPr/>
        </p:nvSpPr>
        <p:spPr>
          <a:xfrm>
            <a:off x="8019288" y="2103120"/>
            <a:ext cx="50292" cy="2898648"/>
          </a:xfrm>
          <a:prstGeom prst="roundRect">
            <a:avLst>
              <a:gd name="adj" fmla="val 36364"/>
            </a:avLst>
          </a:prstGeom>
          <a:solidFill>
            <a:srgbClr val="C8734E"/>
          </a:solidFill>
          <a:ln w="10160">
            <a:solidFill>
              <a:srgbClr val="C8734E">
                <a:alpha val="0"/>
              </a:srgbClr>
            </a:solidFill>
            <a:prstDash val="solid"/>
          </a:ln>
        </p:spPr>
      </p:sp>
      <p:sp>
        <p:nvSpPr>
          <p:cNvPr id="22" name="Shape 20"/>
          <p:cNvSpPr/>
          <p:nvPr/>
        </p:nvSpPr>
        <p:spPr>
          <a:xfrm>
            <a:off x="8266176" y="2240280"/>
            <a:ext cx="960120" cy="274320"/>
          </a:xfrm>
          <a:prstGeom prst="roundRect">
            <a:avLst>
              <a:gd name="adj" fmla="val 43333"/>
            </a:avLst>
          </a:prstGeom>
          <a:solidFill>
            <a:srgbClr val="FFFFFF"/>
          </a:solidFill>
          <a:ln w="10160">
            <a:solidFill>
              <a:srgbClr val="FFFFFF">
                <a:alpha val="0"/>
              </a:srgbClr>
            </a:solidFill>
            <a:prstDash val="solid"/>
          </a:ln>
        </p:spPr>
      </p:sp>
      <p:sp>
        <p:nvSpPr>
          <p:cNvPr id="23" name="Text 21"/>
          <p:cNvSpPr/>
          <p:nvPr/>
        </p:nvSpPr>
        <p:spPr>
          <a:xfrm>
            <a:off x="8357616" y="2249424"/>
            <a:ext cx="77724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C8734E"/>
                </a:solidFill>
                <a:latin typeface="Aptos" pitchFamily="34" charset="0"/>
                <a:ea typeface="Aptos" pitchFamily="34" charset="-122"/>
                <a:cs typeface="Aptos" pitchFamily="34" charset="-120"/>
              </a:rPr>
              <a:t>TRACE</a:t>
            </a:r>
            <a:endParaRPr lang="en-US" sz="900" dirty="0"/>
          </a:p>
        </p:txBody>
      </p:sp>
      <p:sp>
        <p:nvSpPr>
          <p:cNvPr id="24" name="Text 22"/>
          <p:cNvSpPr/>
          <p:nvPr/>
        </p:nvSpPr>
        <p:spPr>
          <a:xfrm>
            <a:off x="8266176" y="2724912"/>
            <a:ext cx="2798064" cy="329184"/>
          </a:xfrm>
          <a:prstGeom prst="rect">
            <a:avLst/>
          </a:prstGeom>
          <a:noFill/>
          <a:ln/>
        </p:spPr>
        <p:txBody>
          <a:bodyPr wrap="square" lIns="0" tIns="0" rIns="0" bIns="0" rtlCol="0" anchor="ctr">
            <a:normAutofit/>
          </a:bodyPr>
          <a:lstStyle/>
          <a:p>
            <a:pPr algn="l" indent="0" marL="0">
              <a:buNone/>
            </a:pPr>
            <a:r>
              <a:rPr lang="en-US" sz="1900" b="1" dirty="0">
                <a:solidFill>
                  <a:srgbClr val="182D2A"/>
                </a:solidFill>
                <a:latin typeface="Georgia" pitchFamily="34" charset="0"/>
                <a:ea typeface="Georgia" pitchFamily="34" charset="-122"/>
                <a:cs typeface="Georgia" pitchFamily="34" charset="-120"/>
              </a:rPr>
              <a:t>EVIDENCE</a:t>
            </a:r>
            <a:endParaRPr lang="en-US" sz="1900" dirty="0"/>
          </a:p>
        </p:txBody>
      </p:sp>
      <p:sp>
        <p:nvSpPr>
          <p:cNvPr id="25" name="Text 23"/>
          <p:cNvSpPr/>
          <p:nvPr/>
        </p:nvSpPr>
        <p:spPr>
          <a:xfrm>
            <a:off x="8275320" y="3255264"/>
            <a:ext cx="2798064" cy="1408176"/>
          </a:xfrm>
          <a:prstGeom prst="rect">
            <a:avLst/>
          </a:prstGeom>
          <a:noFill/>
          <a:ln/>
        </p:spPr>
        <p:txBody>
          <a:bodyPr wrap="square" lIns="0" tIns="0" rIns="0" bIns="0" rtlCol="0" anchor="t">
            <a:normAutofit/>
          </a:bodyPr>
          <a:lstStyle/>
          <a:p>
            <a:pPr algn="l" indent="0" marL="0">
              <a:lnSpc>
                <a:spcPct val="110000"/>
              </a:lnSpc>
              <a:buNone/>
            </a:pPr>
            <a:r>
              <a:rPr lang="en-US" sz="1300" dirty="0">
                <a:solidFill>
                  <a:srgbClr val="182D2A"/>
                </a:solidFill>
                <a:latin typeface="Aptos" pitchFamily="34" charset="0"/>
                <a:ea typeface="Aptos" pitchFamily="34" charset="-122"/>
                <a:cs typeface="Aptos" pitchFamily="34" charset="-120"/>
              </a:rPr>
              <a:t>Supporting text snippets</a:t>
            </a:r>
            <a:endParaRPr lang="en-US" sz="1300" dirty="0"/>
          </a:p>
          <a:p>
            <a:pPr algn="l" indent="0" marL="0">
              <a:lnSpc>
                <a:spcPct val="110000"/>
              </a:lnSpc>
              <a:buNone/>
            </a:pPr>
            <a:r>
              <a:rPr lang="en-US" sz="1300" dirty="0">
                <a:solidFill>
                  <a:srgbClr val="182D2A"/>
                </a:solidFill>
                <a:latin typeface="Aptos" pitchFamily="34" charset="0"/>
                <a:ea typeface="Aptos" pitchFamily="34" charset="-122"/>
                <a:cs typeface="Aptos" pitchFamily="34" charset="-120"/>
              </a:rPr>
              <a:t>Confidence + model label</a:t>
            </a:r>
            <a:endParaRPr lang="en-US" sz="1300" dirty="0"/>
          </a:p>
          <a:p>
            <a:pPr algn="l" indent="0" marL="0">
              <a:lnSpc>
                <a:spcPct val="110000"/>
              </a:lnSpc>
              <a:buNone/>
            </a:pPr>
            <a:r>
              <a:rPr lang="en-US" sz="1300" dirty="0">
                <a:solidFill>
                  <a:srgbClr val="182D2A"/>
                </a:solidFill>
                <a:latin typeface="Aptos" pitchFamily="34" charset="0"/>
                <a:ea typeface="Aptos" pitchFamily="34" charset="-122"/>
                <a:cs typeface="Aptos" pitchFamily="34" charset="-120"/>
              </a:rPr>
              <a:t>Timestamp + provider note</a:t>
            </a:r>
            <a:endParaRPr lang="en-US" sz="1300" dirty="0"/>
          </a:p>
          <a:p>
            <a:pPr algn="l" indent="0" marL="0">
              <a:lnSpc>
                <a:spcPct val="110000"/>
              </a:lnSpc>
              <a:buNone/>
            </a:pPr>
            <a:r>
              <a:rPr lang="en-US" sz="1300" dirty="0">
                <a:solidFill>
                  <a:srgbClr val="182D2A"/>
                </a:solidFill>
                <a:latin typeface="Aptos" pitchFamily="34" charset="0"/>
                <a:ea typeface="Aptos" pitchFamily="34" charset="-122"/>
                <a:cs typeface="Aptos" pitchFamily="34" charset="-120"/>
              </a:rPr>
              <a:t>Source URL + article ID</a:t>
            </a:r>
            <a:endParaRPr lang="en-US" sz="1300" dirty="0"/>
          </a:p>
        </p:txBody>
      </p:sp>
      <p:sp>
        <p:nvSpPr>
          <p:cNvPr id="26" name="Shape 24"/>
          <p:cNvSpPr/>
          <p:nvPr/>
        </p:nvSpPr>
        <p:spPr>
          <a:xfrm>
            <a:off x="1024128" y="5449824"/>
            <a:ext cx="10094976" cy="530352"/>
          </a:xfrm>
          <a:prstGeom prst="roundRect">
            <a:avLst>
              <a:gd name="adj" fmla="val 22414"/>
            </a:avLst>
          </a:prstGeom>
          <a:solidFill>
            <a:srgbClr val="173D35"/>
          </a:solidFill>
          <a:ln w="10160">
            <a:solidFill>
              <a:srgbClr val="173D35">
                <a:alpha val="0"/>
              </a:srgbClr>
            </a:solidFill>
            <a:prstDash val="solid"/>
          </a:ln>
        </p:spPr>
      </p:sp>
      <p:sp>
        <p:nvSpPr>
          <p:cNvPr id="27" name="Shape 25"/>
          <p:cNvSpPr/>
          <p:nvPr/>
        </p:nvSpPr>
        <p:spPr>
          <a:xfrm>
            <a:off x="1024128" y="5596128"/>
            <a:ext cx="50292" cy="237744"/>
          </a:xfrm>
          <a:prstGeom prst="roundRect">
            <a:avLst>
              <a:gd name="adj" fmla="val 36364"/>
            </a:avLst>
          </a:prstGeom>
          <a:solidFill>
            <a:srgbClr val="E7A54A"/>
          </a:solidFill>
          <a:ln w="10160">
            <a:solidFill>
              <a:srgbClr val="E7A54A">
                <a:alpha val="0"/>
              </a:srgbClr>
            </a:solidFill>
            <a:prstDash val="solid"/>
          </a:ln>
        </p:spPr>
      </p:sp>
      <p:sp>
        <p:nvSpPr>
          <p:cNvPr id="28" name="Text 26"/>
          <p:cNvSpPr/>
          <p:nvPr/>
        </p:nvSpPr>
        <p:spPr>
          <a:xfrm>
            <a:off x="1307592" y="5596128"/>
            <a:ext cx="1143000" cy="201168"/>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ptos" pitchFamily="34" charset="0"/>
                <a:ea typeface="Aptos" pitchFamily="34" charset="-122"/>
                <a:cs typeface="Aptos" pitchFamily="34" charset="-120"/>
              </a:rPr>
              <a:t>Review rule</a:t>
            </a:r>
            <a:endParaRPr lang="en-US" sz="1150" dirty="0"/>
          </a:p>
        </p:txBody>
      </p:sp>
      <p:sp>
        <p:nvSpPr>
          <p:cNvPr id="29" name="Text 27"/>
          <p:cNvSpPr/>
          <p:nvPr/>
        </p:nvSpPr>
        <p:spPr>
          <a:xfrm>
            <a:off x="2560320" y="5586984"/>
            <a:ext cx="8001000" cy="219456"/>
          </a:xfrm>
          <a:prstGeom prst="rect">
            <a:avLst/>
          </a:prstGeom>
          <a:noFill/>
          <a:ln/>
        </p:spPr>
        <p:txBody>
          <a:bodyPr wrap="square" lIns="0" tIns="0" rIns="0" bIns="0" rtlCol="0" anchor="ctr">
            <a:normAutofit/>
          </a:bodyPr>
          <a:lstStyle/>
          <a:p>
            <a:pPr algn="l" indent="0" marL="0">
              <a:buNone/>
            </a:pPr>
            <a:r>
              <a:rPr lang="en-US" sz="1200" dirty="0">
                <a:solidFill>
                  <a:srgbClr val="E4EEE6"/>
                </a:solidFill>
                <a:latin typeface="Aptos" pitchFamily="34" charset="0"/>
                <a:ea typeface="Aptos" pitchFamily="34" charset="-122"/>
                <a:cs typeface="Aptos" pitchFamily="34" charset="-120"/>
              </a:rPr>
              <a:t>Model output is an interpretation. Read the full article and inspect the snippet before using it.</a:t>
            </a:r>
            <a:endParaRPr lang="en-US" sz="120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11 / STORY INTELLIGENCE</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Grouping is useful only when its method is visible</a:t>
            </a:r>
            <a:endParaRPr lang="en-US" sz="3000" dirty="0"/>
          </a:p>
        </p:txBody>
      </p:sp>
      <p:sp>
        <p:nvSpPr>
          <p:cNvPr id="4" name="Text 2"/>
          <p:cNvSpPr/>
          <p:nvPr/>
        </p:nvSpPr>
        <p:spPr>
          <a:xfrm>
            <a:off x="548640" y="1298448"/>
            <a:ext cx="10789920" cy="329184"/>
          </a:xfrm>
          <a:prstGeom prst="rect">
            <a:avLst/>
          </a:prstGeom>
          <a:noFill/>
          <a:ln/>
        </p:spPr>
        <p:txBody>
          <a:bodyPr wrap="square" lIns="0" tIns="0" rIns="0" bIns="0" rtlCol="0" anchor="t">
            <a:normAutofit/>
          </a:bodyPr>
          <a:lstStyle/>
          <a:p>
            <a:pPr algn="l" indent="0" marL="0">
              <a:buNone/>
            </a:pPr>
            <a:r>
              <a:rPr lang="en-US" sz="1350" dirty="0">
                <a:solidFill>
                  <a:srgbClr val="64766E"/>
                </a:solidFill>
                <a:latin typeface="Aptos" pitchFamily="34" charset="0"/>
                <a:ea typeface="Aptos" pitchFamily="34" charset="-122"/>
                <a:cs typeface="Aptos" pitchFamily="34" charset="-120"/>
              </a:rPr>
              <a:t>Story comparisons aggregate a selected set of linked article records; clustering quality depends on runtime and sample size.</a:t>
            </a:r>
            <a:endParaRPr lang="en-US" sz="1350" dirty="0"/>
          </a:p>
        </p:txBody>
      </p:sp>
      <p:sp>
        <p:nvSpPr>
          <p:cNvPr id="5" name="Shape 3"/>
          <p:cNvSpPr/>
          <p:nvPr/>
        </p:nvSpPr>
        <p:spPr>
          <a:xfrm>
            <a:off x="640080" y="1792224"/>
            <a:ext cx="5266944" cy="3566160"/>
          </a:xfrm>
          <a:prstGeom prst="roundRect">
            <a:avLst>
              <a:gd name="adj" fmla="val 3333"/>
            </a:avLst>
          </a:prstGeom>
          <a:solidFill>
            <a:srgbClr val="FFFFFF"/>
          </a:solidFill>
          <a:ln w="10160">
            <a:solidFill>
              <a:srgbClr val="D9DFD7"/>
            </a:solidFill>
            <a:prstDash val="solid"/>
          </a:ln>
        </p:spPr>
      </p:sp>
      <p:sp>
        <p:nvSpPr>
          <p:cNvPr id="6" name="Shape 4"/>
          <p:cNvSpPr/>
          <p:nvPr/>
        </p:nvSpPr>
        <p:spPr>
          <a:xfrm>
            <a:off x="932688" y="2057400"/>
            <a:ext cx="1691640" cy="274320"/>
          </a:xfrm>
          <a:prstGeom prst="roundRect">
            <a:avLst>
              <a:gd name="adj" fmla="val 43333"/>
            </a:avLst>
          </a:prstGeom>
          <a:solidFill>
            <a:srgbClr val="E5EFE8"/>
          </a:solidFill>
          <a:ln w="10160">
            <a:solidFill>
              <a:srgbClr val="E5EFE8">
                <a:alpha val="0"/>
              </a:srgbClr>
            </a:solidFill>
            <a:prstDash val="solid"/>
          </a:ln>
        </p:spPr>
      </p:sp>
      <p:sp>
        <p:nvSpPr>
          <p:cNvPr id="7" name="Text 5"/>
          <p:cNvSpPr/>
          <p:nvPr/>
        </p:nvSpPr>
        <p:spPr>
          <a:xfrm>
            <a:off x="1024128" y="2066544"/>
            <a:ext cx="150876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LOCAL PYTHON DEMO</a:t>
            </a:r>
            <a:endParaRPr lang="en-US" sz="900" dirty="0"/>
          </a:p>
        </p:txBody>
      </p:sp>
      <p:sp>
        <p:nvSpPr>
          <p:cNvPr id="8" name="Text 6"/>
          <p:cNvSpPr/>
          <p:nvPr/>
        </p:nvSpPr>
        <p:spPr>
          <a:xfrm>
            <a:off x="950976" y="2578608"/>
            <a:ext cx="4251960" cy="347472"/>
          </a:xfrm>
          <a:prstGeom prst="rect">
            <a:avLst/>
          </a:prstGeom>
          <a:noFill/>
          <a:ln/>
        </p:spPr>
        <p:txBody>
          <a:bodyPr wrap="square" lIns="0" tIns="0" rIns="0" bIns="0" rtlCol="0" anchor="ctr">
            <a:normAutofit/>
          </a:bodyPr>
          <a:lstStyle/>
          <a:p>
            <a:pPr algn="l" indent="0" marL="0">
              <a:buNone/>
            </a:pPr>
            <a:r>
              <a:rPr lang="en-US" sz="2100" b="1" dirty="0">
                <a:solidFill>
                  <a:srgbClr val="182D2A"/>
                </a:solidFill>
                <a:latin typeface="Georgia" pitchFamily="34" charset="0"/>
                <a:ea typeface="Georgia" pitchFamily="34" charset="-122"/>
                <a:cs typeface="Georgia" pitchFamily="34" charset="-120"/>
              </a:rPr>
              <a:t>Multilingual embeddings</a:t>
            </a:r>
            <a:endParaRPr lang="en-US" sz="2100" dirty="0"/>
          </a:p>
        </p:txBody>
      </p:sp>
      <p:sp>
        <p:nvSpPr>
          <p:cNvPr id="9" name="Text 7"/>
          <p:cNvSpPr/>
          <p:nvPr/>
        </p:nvSpPr>
        <p:spPr>
          <a:xfrm>
            <a:off x="960120" y="3081528"/>
            <a:ext cx="4325112" cy="566928"/>
          </a:xfrm>
          <a:prstGeom prst="rect">
            <a:avLst/>
          </a:prstGeom>
          <a:noFill/>
          <a:ln/>
        </p:spPr>
        <p:txBody>
          <a:bodyPr wrap="square" lIns="0" tIns="0" rIns="0" bIns="0" rtlCol="0" anchor="t">
            <a:normAutofit/>
          </a:bodyPr>
          <a:lstStyle/>
          <a:p>
            <a:pPr algn="l" indent="0" marL="0">
              <a:buNone/>
            </a:pPr>
            <a:r>
              <a:rPr lang="en-US" sz="1400" dirty="0">
                <a:solidFill>
                  <a:srgbClr val="182D2A"/>
                </a:solidFill>
                <a:latin typeface="Aptos" pitchFamily="34" charset="0"/>
                <a:ea typeface="Aptos" pitchFamily="34" charset="-122"/>
                <a:cs typeface="Aptos" pitchFamily="34" charset="-120"/>
              </a:rPr>
              <a:t>FastEmbed vectors → cosine similarity → candidate story clusters</a:t>
            </a:r>
            <a:endParaRPr lang="en-US" sz="1400" dirty="0"/>
          </a:p>
        </p:txBody>
      </p:sp>
      <p:sp>
        <p:nvSpPr>
          <p:cNvPr id="10" name="Shape 8"/>
          <p:cNvSpPr/>
          <p:nvPr/>
        </p:nvSpPr>
        <p:spPr>
          <a:xfrm>
            <a:off x="960120" y="3877056"/>
            <a:ext cx="4370832" cy="0"/>
          </a:xfrm>
          <a:prstGeom prst="line">
            <a:avLst/>
          </a:prstGeom>
          <a:noFill/>
          <a:ln w="12700">
            <a:solidFill>
              <a:srgbClr val="D9DFD7"/>
            </a:solidFill>
            <a:prstDash val="solid"/>
            <a:headEnd type="none"/>
            <a:tailEnd type="none"/>
          </a:ln>
        </p:spPr>
      </p:sp>
      <p:sp>
        <p:nvSpPr>
          <p:cNvPr id="11" name="Text 9"/>
          <p:cNvSpPr/>
          <p:nvPr/>
        </p:nvSpPr>
        <p:spPr>
          <a:xfrm>
            <a:off x="960120" y="4160520"/>
            <a:ext cx="4343400" cy="594360"/>
          </a:xfrm>
          <a:prstGeom prst="rect">
            <a:avLst/>
          </a:prstGeom>
          <a:noFill/>
          <a:ln/>
        </p:spPr>
        <p:txBody>
          <a:bodyPr wrap="square" lIns="0" tIns="0" rIns="0" bIns="0" rtlCol="0" anchor="t">
            <a:normAutofit/>
          </a:bodyPr>
          <a:lstStyle/>
          <a:p>
            <a:pPr algn="l" indent="0" marL="0">
              <a:buNone/>
            </a:pPr>
            <a:r>
              <a:rPr lang="en-US" sz="1250" dirty="0">
                <a:solidFill>
                  <a:srgbClr val="64766E"/>
                </a:solidFill>
                <a:latin typeface="Aptos" pitchFamily="34" charset="0"/>
                <a:ea typeface="Aptos" pitchFamily="34" charset="-122"/>
                <a:cs typeface="Aptos" pitchFamily="34" charset="-120"/>
              </a:rPr>
              <a:t>If the model cannot load, the local pipeline logs a lexical fallback.</a:t>
            </a:r>
            <a:endParaRPr lang="en-US" sz="1250" dirty="0"/>
          </a:p>
        </p:txBody>
      </p:sp>
      <p:sp>
        <p:nvSpPr>
          <p:cNvPr id="12" name="Shape 10"/>
          <p:cNvSpPr/>
          <p:nvPr/>
        </p:nvSpPr>
        <p:spPr>
          <a:xfrm>
            <a:off x="960120" y="4937760"/>
            <a:ext cx="2011680" cy="274320"/>
          </a:xfrm>
          <a:prstGeom prst="roundRect">
            <a:avLst>
              <a:gd name="adj" fmla="val 43333"/>
            </a:avLst>
          </a:prstGeom>
          <a:solidFill>
            <a:srgbClr val="E7EEF1"/>
          </a:solidFill>
          <a:ln w="10160">
            <a:solidFill>
              <a:srgbClr val="E7EEF1">
                <a:alpha val="0"/>
              </a:srgbClr>
            </a:solidFill>
            <a:prstDash val="solid"/>
          </a:ln>
        </p:spPr>
      </p:sp>
      <p:sp>
        <p:nvSpPr>
          <p:cNvPr id="13" name="Text 11"/>
          <p:cNvSpPr/>
          <p:nvPr/>
        </p:nvSpPr>
        <p:spPr>
          <a:xfrm>
            <a:off x="1051560" y="4946904"/>
            <a:ext cx="182880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5B88A0"/>
                </a:solidFill>
                <a:latin typeface="Aptos" pitchFamily="34" charset="0"/>
                <a:ea typeface="Aptos" pitchFamily="34" charset="-122"/>
                <a:cs typeface="Aptos" pitchFamily="34" charset="-120"/>
              </a:rPr>
              <a:t>PROVIDER IS REPLACEABLE</a:t>
            </a:r>
            <a:endParaRPr lang="en-US" sz="900" dirty="0"/>
          </a:p>
        </p:txBody>
      </p:sp>
      <p:sp>
        <p:nvSpPr>
          <p:cNvPr id="14" name="Shape 12"/>
          <p:cNvSpPr/>
          <p:nvPr/>
        </p:nvSpPr>
        <p:spPr>
          <a:xfrm>
            <a:off x="6263640" y="1792224"/>
            <a:ext cx="5266944" cy="3566160"/>
          </a:xfrm>
          <a:prstGeom prst="roundRect">
            <a:avLst>
              <a:gd name="adj" fmla="val 3333"/>
            </a:avLst>
          </a:prstGeom>
          <a:solidFill>
            <a:srgbClr val="173D35"/>
          </a:solidFill>
          <a:ln w="10160">
            <a:solidFill>
              <a:srgbClr val="173D35">
                <a:alpha val="0"/>
              </a:srgbClr>
            </a:solidFill>
            <a:prstDash val="solid"/>
          </a:ln>
        </p:spPr>
      </p:sp>
      <p:sp>
        <p:nvSpPr>
          <p:cNvPr id="15" name="Shape 13"/>
          <p:cNvSpPr/>
          <p:nvPr/>
        </p:nvSpPr>
        <p:spPr>
          <a:xfrm>
            <a:off x="6263640" y="1938528"/>
            <a:ext cx="50292" cy="3273552"/>
          </a:xfrm>
          <a:prstGeom prst="roundRect">
            <a:avLst>
              <a:gd name="adj" fmla="val 36364"/>
            </a:avLst>
          </a:prstGeom>
          <a:solidFill>
            <a:srgbClr val="E7A54A"/>
          </a:solidFill>
          <a:ln w="10160">
            <a:solidFill>
              <a:srgbClr val="E7A54A">
                <a:alpha val="0"/>
              </a:srgbClr>
            </a:solidFill>
            <a:prstDash val="solid"/>
          </a:ln>
        </p:spPr>
      </p:sp>
      <p:sp>
        <p:nvSpPr>
          <p:cNvPr id="16" name="Shape 14"/>
          <p:cNvSpPr/>
          <p:nvPr/>
        </p:nvSpPr>
        <p:spPr>
          <a:xfrm>
            <a:off x="6565392" y="2057400"/>
            <a:ext cx="1783080" cy="274320"/>
          </a:xfrm>
          <a:prstGeom prst="roundRect">
            <a:avLst>
              <a:gd name="adj" fmla="val 43333"/>
            </a:avLst>
          </a:prstGeom>
          <a:solidFill>
            <a:srgbClr val="D8E8DC"/>
          </a:solidFill>
          <a:ln w="10160">
            <a:solidFill>
              <a:srgbClr val="D8E8DC">
                <a:alpha val="0"/>
              </a:srgbClr>
            </a:solidFill>
            <a:prstDash val="solid"/>
          </a:ln>
        </p:spPr>
      </p:sp>
      <p:sp>
        <p:nvSpPr>
          <p:cNvPr id="17" name="Text 15"/>
          <p:cNvSpPr/>
          <p:nvPr/>
        </p:nvSpPr>
        <p:spPr>
          <a:xfrm>
            <a:off x="6656832" y="2066544"/>
            <a:ext cx="160020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CLOUDFLARE WORKER</a:t>
            </a:r>
            <a:endParaRPr lang="en-US" sz="900" dirty="0"/>
          </a:p>
        </p:txBody>
      </p:sp>
      <p:sp>
        <p:nvSpPr>
          <p:cNvPr id="18" name="Text 16"/>
          <p:cNvSpPr/>
          <p:nvPr/>
        </p:nvSpPr>
        <p:spPr>
          <a:xfrm>
            <a:off x="6574536" y="2578608"/>
            <a:ext cx="4334256" cy="347472"/>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Georgia" pitchFamily="34" charset="0"/>
                <a:ea typeface="Georgia" pitchFamily="34" charset="-122"/>
                <a:cs typeface="Georgia" pitchFamily="34" charset="-120"/>
              </a:rPr>
              <a:t>Query-scoped candidate set</a:t>
            </a:r>
            <a:endParaRPr lang="en-US" sz="2100" dirty="0"/>
          </a:p>
        </p:txBody>
      </p:sp>
      <p:sp>
        <p:nvSpPr>
          <p:cNvPr id="19" name="Text 17"/>
          <p:cNvSpPr/>
          <p:nvPr/>
        </p:nvSpPr>
        <p:spPr>
          <a:xfrm>
            <a:off x="6583680" y="3081528"/>
            <a:ext cx="4334256" cy="685800"/>
          </a:xfrm>
          <a:prstGeom prst="rect">
            <a:avLst/>
          </a:prstGeom>
          <a:noFill/>
          <a:ln/>
        </p:spPr>
        <p:txBody>
          <a:bodyPr wrap="square" lIns="0" tIns="0" rIns="0" bIns="0" rtlCol="0" anchor="t">
            <a:normAutofit/>
          </a:bodyPr>
          <a:lstStyle/>
          <a:p>
            <a:pPr algn="l" indent="0" marL="0">
              <a:buNone/>
            </a:pPr>
            <a:r>
              <a:rPr lang="en-US" sz="1370" dirty="0">
                <a:solidFill>
                  <a:srgbClr val="E1ECE5"/>
                </a:solidFill>
                <a:latin typeface="Aptos" pitchFamily="34" charset="0"/>
                <a:ea typeface="Aptos" pitchFamily="34" charset="-122"/>
                <a:cs typeface="Aptos" pitchFamily="34" charset="-120"/>
              </a:rPr>
              <a:t>Online results are collected into a research-job group so their coverage can be compared together.</a:t>
            </a:r>
            <a:endParaRPr lang="en-US" sz="1370" dirty="0"/>
          </a:p>
        </p:txBody>
      </p:sp>
      <p:sp>
        <p:nvSpPr>
          <p:cNvPr id="20" name="Shape 18"/>
          <p:cNvSpPr/>
          <p:nvPr/>
        </p:nvSpPr>
        <p:spPr>
          <a:xfrm>
            <a:off x="6583680" y="3986784"/>
            <a:ext cx="4379976" cy="0"/>
          </a:xfrm>
          <a:prstGeom prst="line">
            <a:avLst/>
          </a:prstGeom>
          <a:noFill/>
          <a:ln w="12700">
            <a:solidFill>
              <a:srgbClr val="5B8576"/>
            </a:solidFill>
            <a:prstDash val="solid"/>
            <a:headEnd type="none"/>
            <a:tailEnd type="none"/>
          </a:ln>
        </p:spPr>
      </p:sp>
      <p:sp>
        <p:nvSpPr>
          <p:cNvPr id="21" name="Text 19"/>
          <p:cNvSpPr/>
          <p:nvPr/>
        </p:nvSpPr>
        <p:spPr>
          <a:xfrm>
            <a:off x="6583680" y="4233672"/>
            <a:ext cx="4315968" cy="704088"/>
          </a:xfrm>
          <a:prstGeom prst="rect">
            <a:avLst/>
          </a:prstGeom>
          <a:noFill/>
          <a:ln/>
        </p:spPr>
        <p:txBody>
          <a:bodyPr wrap="square" lIns="0" tIns="0" rIns="0" bIns="0" rtlCol="0" anchor="t">
            <a:normAutofit/>
          </a:bodyPr>
          <a:lstStyle/>
          <a:p>
            <a:pPr algn="l" indent="0" marL="0">
              <a:buNone/>
            </a:pPr>
            <a:r>
              <a:rPr lang="en-US" sz="1220" dirty="0">
                <a:solidFill>
                  <a:srgbClr val="D7E6DC"/>
                </a:solidFill>
                <a:latin typeface="Aptos" pitchFamily="34" charset="0"/>
                <a:ea typeface="Aptos" pitchFamily="34" charset="-122"/>
                <a:cs typeface="Aptos" pitchFamily="34" charset="-120"/>
              </a:rPr>
              <a:t>This is a candidate comparison set, not a semantic embedding cluster. Verify event identity before treating reports as the same story.</a:t>
            </a:r>
            <a:endParaRPr lang="en-US" sz="1220" dirty="0"/>
          </a:p>
        </p:txBody>
      </p:sp>
      <p:sp>
        <p:nvSpPr>
          <p:cNvPr id="22" name="Shape 20"/>
          <p:cNvSpPr/>
          <p:nvPr/>
        </p:nvSpPr>
        <p:spPr>
          <a:xfrm>
            <a:off x="6583680" y="5001768"/>
            <a:ext cx="2468880" cy="274320"/>
          </a:xfrm>
          <a:prstGeom prst="roundRect">
            <a:avLst>
              <a:gd name="adj" fmla="val 43333"/>
            </a:avLst>
          </a:prstGeom>
          <a:solidFill>
            <a:srgbClr val="D8E8DC"/>
          </a:solidFill>
          <a:ln w="10160">
            <a:solidFill>
              <a:srgbClr val="D8E8DC">
                <a:alpha val="0"/>
              </a:srgbClr>
            </a:solidFill>
            <a:prstDash val="solid"/>
          </a:ln>
        </p:spPr>
      </p:sp>
      <p:sp>
        <p:nvSpPr>
          <p:cNvPr id="23" name="Text 21"/>
          <p:cNvSpPr/>
          <p:nvPr/>
        </p:nvSpPr>
        <p:spPr>
          <a:xfrm>
            <a:off x="6675120" y="5010912"/>
            <a:ext cx="228600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METHOD DIFFERENCE IS EXPLICIT</a:t>
            </a:r>
            <a:endParaRPr lang="en-US" sz="90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12 / COVERAGE COMPARISON</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Compare what the stored sample contains</a:t>
            </a:r>
            <a:endParaRPr lang="en-US" sz="3000" dirty="0"/>
          </a:p>
        </p:txBody>
      </p:sp>
      <p:sp>
        <p:nvSpPr>
          <p:cNvPr id="4" name="Text 2"/>
          <p:cNvSpPr/>
          <p:nvPr/>
        </p:nvSpPr>
        <p:spPr>
          <a:xfrm>
            <a:off x="548640" y="1298448"/>
            <a:ext cx="10789920" cy="329184"/>
          </a:xfrm>
          <a:prstGeom prst="rect">
            <a:avLst/>
          </a:prstGeom>
          <a:noFill/>
          <a:ln/>
        </p:spPr>
        <p:txBody>
          <a:bodyPr wrap="square" lIns="0" tIns="0" rIns="0" bIns="0" rtlCol="0" anchor="t">
            <a:normAutofit/>
          </a:bodyPr>
          <a:lstStyle/>
          <a:p>
            <a:pPr algn="l" indent="0" marL="0">
              <a:buNone/>
            </a:pPr>
            <a:r>
              <a:rPr lang="en-US" sz="1350" dirty="0">
                <a:solidFill>
                  <a:srgbClr val="64766E"/>
                </a:solidFill>
                <a:latin typeface="Aptos" pitchFamily="34" charset="0"/>
                <a:ea typeface="Aptos" pitchFamily="34" charset="-122"/>
                <a:cs typeface="Aptos" pitchFamily="34" charset="-120"/>
              </a:rPr>
              <a:t>The analysis is descriptive and links every aggregate back to the article IDs behind it.</a:t>
            </a:r>
            <a:endParaRPr lang="en-US" sz="1350" dirty="0"/>
          </a:p>
        </p:txBody>
      </p:sp>
      <p:sp>
        <p:nvSpPr>
          <p:cNvPr id="5" name="Text 3"/>
          <p:cNvSpPr/>
          <p:nvPr/>
        </p:nvSpPr>
        <p:spPr>
          <a:xfrm>
            <a:off x="731520" y="1810512"/>
            <a:ext cx="4023360" cy="210312"/>
          </a:xfrm>
          <a:prstGeom prst="rect">
            <a:avLst/>
          </a:prstGeom>
          <a:noFill/>
          <a:ln/>
        </p:spPr>
        <p:txBody>
          <a:bodyPr wrap="square" lIns="0" tIns="0" rIns="0" bIns="0" rtlCol="0" anchor="ctr">
            <a:normAutofit/>
          </a:bodyPr>
          <a:lstStyle/>
          <a:p>
            <a:pPr algn="l" indent="0" marL="0">
              <a:buNone/>
            </a:pPr>
            <a:r>
              <a:rPr lang="en-US" sz="950" b="1" spc="100" kern="0" dirty="0">
                <a:solidFill>
                  <a:srgbClr val="2E8069"/>
                </a:solidFill>
                <a:latin typeface="Aptos" pitchFamily="34" charset="0"/>
                <a:ea typeface="Aptos" pitchFamily="34" charset="-122"/>
                <a:cs typeface="Aptos" pitchFamily="34" charset="-120"/>
              </a:rPr>
              <a:t>SAMPLE ARTICLES BY LANGUAGE</a:t>
            </a:r>
            <a:endParaRPr lang="en-US" sz="950" dirty="0"/>
          </a:p>
        </p:txBody>
      </p:sp>
      <p:sp>
        <p:nvSpPr>
          <p:cNvPr id="6" name="Text 4"/>
          <p:cNvSpPr/>
          <p:nvPr/>
        </p:nvSpPr>
        <p:spPr>
          <a:xfrm>
            <a:off x="731520" y="2240280"/>
            <a:ext cx="1188720" cy="201168"/>
          </a:xfrm>
          <a:prstGeom prst="rect">
            <a:avLst/>
          </a:prstGeom>
          <a:noFill/>
          <a:ln/>
        </p:spPr>
        <p:txBody>
          <a:bodyPr wrap="square" lIns="0" tIns="0" rIns="0" bIns="0" rtlCol="0" anchor="ctr">
            <a:normAutofit/>
          </a:bodyPr>
          <a:lstStyle/>
          <a:p>
            <a:pPr algn="l" indent="0" marL="0">
              <a:buNone/>
            </a:pPr>
            <a:r>
              <a:rPr lang="en-US" sz="1000" b="1" dirty="0">
                <a:solidFill>
                  <a:srgbClr val="182D2A"/>
                </a:solidFill>
                <a:latin typeface="Aptos" pitchFamily="34" charset="0"/>
                <a:ea typeface="Aptos" pitchFamily="34" charset="-122"/>
                <a:cs typeface="Aptos" pitchFamily="34" charset="-120"/>
              </a:rPr>
              <a:t>ENGLISH</a:t>
            </a:r>
            <a:endParaRPr lang="en-US" sz="1000" dirty="0"/>
          </a:p>
        </p:txBody>
      </p:sp>
      <p:sp>
        <p:nvSpPr>
          <p:cNvPr id="7" name="Shape 5"/>
          <p:cNvSpPr/>
          <p:nvPr/>
        </p:nvSpPr>
        <p:spPr>
          <a:xfrm>
            <a:off x="2011680" y="2258568"/>
            <a:ext cx="3035808" cy="164592"/>
          </a:xfrm>
          <a:prstGeom prst="roundRect">
            <a:avLst>
              <a:gd name="adj" fmla="val 44444"/>
            </a:avLst>
          </a:prstGeom>
          <a:solidFill>
            <a:srgbClr val="E8E9E1"/>
          </a:solidFill>
          <a:ln w="10160">
            <a:solidFill>
              <a:srgbClr val="E8E9E1">
                <a:alpha val="0"/>
              </a:srgbClr>
            </a:solidFill>
            <a:prstDash val="solid"/>
          </a:ln>
        </p:spPr>
      </p:sp>
      <p:sp>
        <p:nvSpPr>
          <p:cNvPr id="8" name="Shape 6"/>
          <p:cNvSpPr/>
          <p:nvPr/>
        </p:nvSpPr>
        <p:spPr>
          <a:xfrm>
            <a:off x="2011680" y="2258568"/>
            <a:ext cx="2606040" cy="164592"/>
          </a:xfrm>
          <a:prstGeom prst="roundRect">
            <a:avLst>
              <a:gd name="adj" fmla="val 44444"/>
            </a:avLst>
          </a:prstGeom>
          <a:solidFill>
            <a:srgbClr val="173D35"/>
          </a:solidFill>
          <a:ln w="10160">
            <a:solidFill>
              <a:srgbClr val="173D35">
                <a:alpha val="0"/>
              </a:srgbClr>
            </a:solidFill>
            <a:prstDash val="solid"/>
          </a:ln>
        </p:spPr>
      </p:sp>
      <p:sp>
        <p:nvSpPr>
          <p:cNvPr id="9" name="Text 7"/>
          <p:cNvSpPr/>
          <p:nvPr/>
        </p:nvSpPr>
        <p:spPr>
          <a:xfrm>
            <a:off x="5193792" y="2231136"/>
            <a:ext cx="411480" cy="210312"/>
          </a:xfrm>
          <a:prstGeom prst="rect">
            <a:avLst/>
          </a:prstGeom>
          <a:noFill/>
          <a:ln/>
        </p:spPr>
        <p:txBody>
          <a:bodyPr wrap="square" lIns="0" tIns="0" rIns="0" bIns="0" rtlCol="0" anchor="ctr">
            <a:normAutofit/>
          </a:bodyPr>
          <a:lstStyle/>
          <a:p>
            <a:pPr algn="l" indent="0" marL="0">
              <a:buNone/>
            </a:pPr>
            <a:r>
              <a:rPr lang="en-US" sz="1100" b="1" dirty="0">
                <a:solidFill>
                  <a:srgbClr val="64766E"/>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731520" y="2825496"/>
            <a:ext cx="1188720" cy="201168"/>
          </a:xfrm>
          <a:prstGeom prst="rect">
            <a:avLst/>
          </a:prstGeom>
          <a:noFill/>
          <a:ln/>
        </p:spPr>
        <p:txBody>
          <a:bodyPr wrap="square" lIns="0" tIns="0" rIns="0" bIns="0" rtlCol="0" anchor="ctr">
            <a:normAutofit/>
          </a:bodyPr>
          <a:lstStyle/>
          <a:p>
            <a:pPr algn="l" indent="0" marL="0">
              <a:buNone/>
            </a:pPr>
            <a:r>
              <a:rPr lang="en-US" sz="1000" b="1" dirty="0">
                <a:solidFill>
                  <a:srgbClr val="182D2A"/>
                </a:solidFill>
                <a:latin typeface="Aptos" pitchFamily="34" charset="0"/>
                <a:ea typeface="Aptos" pitchFamily="34" charset="-122"/>
                <a:cs typeface="Aptos" pitchFamily="34" charset="-120"/>
              </a:rPr>
              <a:t>HINDI</a:t>
            </a:r>
            <a:endParaRPr lang="en-US" sz="1000" dirty="0"/>
          </a:p>
        </p:txBody>
      </p:sp>
      <p:sp>
        <p:nvSpPr>
          <p:cNvPr id="11" name="Shape 9"/>
          <p:cNvSpPr/>
          <p:nvPr/>
        </p:nvSpPr>
        <p:spPr>
          <a:xfrm>
            <a:off x="2011680" y="2843784"/>
            <a:ext cx="3035808" cy="164592"/>
          </a:xfrm>
          <a:prstGeom prst="roundRect">
            <a:avLst>
              <a:gd name="adj" fmla="val 44444"/>
            </a:avLst>
          </a:prstGeom>
          <a:solidFill>
            <a:srgbClr val="E8E9E1"/>
          </a:solidFill>
          <a:ln w="10160">
            <a:solidFill>
              <a:srgbClr val="E8E9E1">
                <a:alpha val="0"/>
              </a:srgbClr>
            </a:solidFill>
            <a:prstDash val="solid"/>
          </a:ln>
        </p:spPr>
      </p:sp>
      <p:sp>
        <p:nvSpPr>
          <p:cNvPr id="12" name="Shape 10"/>
          <p:cNvSpPr/>
          <p:nvPr/>
        </p:nvSpPr>
        <p:spPr>
          <a:xfrm>
            <a:off x="2011680" y="2843784"/>
            <a:ext cx="2084832" cy="164592"/>
          </a:xfrm>
          <a:prstGeom prst="roundRect">
            <a:avLst>
              <a:gd name="adj" fmla="val 44444"/>
            </a:avLst>
          </a:prstGeom>
          <a:solidFill>
            <a:srgbClr val="2E8069"/>
          </a:solidFill>
          <a:ln w="10160">
            <a:solidFill>
              <a:srgbClr val="2E8069">
                <a:alpha val="0"/>
              </a:srgbClr>
            </a:solidFill>
            <a:prstDash val="solid"/>
          </a:ln>
        </p:spPr>
      </p:sp>
      <p:sp>
        <p:nvSpPr>
          <p:cNvPr id="13" name="Text 11"/>
          <p:cNvSpPr/>
          <p:nvPr/>
        </p:nvSpPr>
        <p:spPr>
          <a:xfrm>
            <a:off x="5193792" y="2816352"/>
            <a:ext cx="411480" cy="210312"/>
          </a:xfrm>
          <a:prstGeom prst="rect">
            <a:avLst/>
          </a:prstGeom>
          <a:noFill/>
          <a:ln/>
        </p:spPr>
        <p:txBody>
          <a:bodyPr wrap="square" lIns="0" tIns="0" rIns="0" bIns="0" rtlCol="0" anchor="ctr">
            <a:normAutofit/>
          </a:bodyPr>
          <a:lstStyle/>
          <a:p>
            <a:pPr algn="l" indent="0" marL="0">
              <a:buNone/>
            </a:pPr>
            <a:r>
              <a:rPr lang="en-US" sz="1100" b="1" dirty="0">
                <a:solidFill>
                  <a:srgbClr val="64766E"/>
                </a:solidFill>
                <a:latin typeface="Aptos" pitchFamily="34" charset="0"/>
                <a:ea typeface="Aptos" pitchFamily="34" charset="-122"/>
                <a:cs typeface="Aptos" pitchFamily="34" charset="-120"/>
              </a:rPr>
              <a:t>4</a:t>
            </a:r>
            <a:endParaRPr lang="en-US" sz="1100" dirty="0"/>
          </a:p>
        </p:txBody>
      </p:sp>
      <p:sp>
        <p:nvSpPr>
          <p:cNvPr id="14" name="Text 12"/>
          <p:cNvSpPr/>
          <p:nvPr/>
        </p:nvSpPr>
        <p:spPr>
          <a:xfrm>
            <a:off x="731520" y="3410712"/>
            <a:ext cx="1188720" cy="201168"/>
          </a:xfrm>
          <a:prstGeom prst="rect">
            <a:avLst/>
          </a:prstGeom>
          <a:noFill/>
          <a:ln/>
        </p:spPr>
        <p:txBody>
          <a:bodyPr wrap="square" lIns="0" tIns="0" rIns="0" bIns="0" rtlCol="0" anchor="ctr">
            <a:normAutofit/>
          </a:bodyPr>
          <a:lstStyle/>
          <a:p>
            <a:pPr algn="l" indent="0" marL="0">
              <a:buNone/>
            </a:pPr>
            <a:r>
              <a:rPr lang="en-US" sz="1000" b="1" dirty="0">
                <a:solidFill>
                  <a:srgbClr val="182D2A"/>
                </a:solidFill>
                <a:latin typeface="Aptos" pitchFamily="34" charset="0"/>
                <a:ea typeface="Aptos" pitchFamily="34" charset="-122"/>
                <a:cs typeface="Aptos" pitchFamily="34" charset="-120"/>
              </a:rPr>
              <a:t>KANNADA</a:t>
            </a:r>
            <a:endParaRPr lang="en-US" sz="1000" dirty="0"/>
          </a:p>
        </p:txBody>
      </p:sp>
      <p:sp>
        <p:nvSpPr>
          <p:cNvPr id="15" name="Shape 13"/>
          <p:cNvSpPr/>
          <p:nvPr/>
        </p:nvSpPr>
        <p:spPr>
          <a:xfrm>
            <a:off x="2011680" y="3429000"/>
            <a:ext cx="3035808" cy="164592"/>
          </a:xfrm>
          <a:prstGeom prst="roundRect">
            <a:avLst>
              <a:gd name="adj" fmla="val 44444"/>
            </a:avLst>
          </a:prstGeom>
          <a:solidFill>
            <a:srgbClr val="E8E9E1"/>
          </a:solidFill>
          <a:ln w="10160">
            <a:solidFill>
              <a:srgbClr val="E8E9E1">
                <a:alpha val="0"/>
              </a:srgbClr>
            </a:solidFill>
            <a:prstDash val="solid"/>
          </a:ln>
        </p:spPr>
      </p:sp>
      <p:sp>
        <p:nvSpPr>
          <p:cNvPr id="16" name="Shape 14"/>
          <p:cNvSpPr/>
          <p:nvPr/>
        </p:nvSpPr>
        <p:spPr>
          <a:xfrm>
            <a:off x="2011680" y="3429000"/>
            <a:ext cx="2084832" cy="164592"/>
          </a:xfrm>
          <a:prstGeom prst="roundRect">
            <a:avLst>
              <a:gd name="adj" fmla="val 44444"/>
            </a:avLst>
          </a:prstGeom>
          <a:solidFill>
            <a:srgbClr val="5B88A0"/>
          </a:solidFill>
          <a:ln w="10160">
            <a:solidFill>
              <a:srgbClr val="5B88A0">
                <a:alpha val="0"/>
              </a:srgbClr>
            </a:solidFill>
            <a:prstDash val="solid"/>
          </a:ln>
        </p:spPr>
      </p:sp>
      <p:sp>
        <p:nvSpPr>
          <p:cNvPr id="17" name="Text 15"/>
          <p:cNvSpPr/>
          <p:nvPr/>
        </p:nvSpPr>
        <p:spPr>
          <a:xfrm>
            <a:off x="5193792" y="3401568"/>
            <a:ext cx="411480" cy="210312"/>
          </a:xfrm>
          <a:prstGeom prst="rect">
            <a:avLst/>
          </a:prstGeom>
          <a:noFill/>
          <a:ln/>
        </p:spPr>
        <p:txBody>
          <a:bodyPr wrap="square" lIns="0" tIns="0" rIns="0" bIns="0" rtlCol="0" anchor="ctr">
            <a:normAutofit/>
          </a:bodyPr>
          <a:lstStyle/>
          <a:p>
            <a:pPr algn="l" indent="0" marL="0">
              <a:buNone/>
            </a:pPr>
            <a:r>
              <a:rPr lang="en-US" sz="1100" b="1" dirty="0">
                <a:solidFill>
                  <a:srgbClr val="64766E"/>
                </a:solidFill>
                <a:latin typeface="Aptos" pitchFamily="34" charset="0"/>
                <a:ea typeface="Aptos" pitchFamily="34" charset="-122"/>
                <a:cs typeface="Aptos" pitchFamily="34" charset="-120"/>
              </a:rPr>
              <a:t>4</a:t>
            </a:r>
            <a:endParaRPr lang="en-US" sz="1100" dirty="0"/>
          </a:p>
        </p:txBody>
      </p:sp>
      <p:sp>
        <p:nvSpPr>
          <p:cNvPr id="18" name="Text 16"/>
          <p:cNvSpPr/>
          <p:nvPr/>
        </p:nvSpPr>
        <p:spPr>
          <a:xfrm>
            <a:off x="731520" y="3995928"/>
            <a:ext cx="1188720" cy="201168"/>
          </a:xfrm>
          <a:prstGeom prst="rect">
            <a:avLst/>
          </a:prstGeom>
          <a:noFill/>
          <a:ln/>
        </p:spPr>
        <p:txBody>
          <a:bodyPr wrap="square" lIns="0" tIns="0" rIns="0" bIns="0" rtlCol="0" anchor="ctr">
            <a:normAutofit/>
          </a:bodyPr>
          <a:lstStyle/>
          <a:p>
            <a:pPr algn="l" indent="0" marL="0">
              <a:buNone/>
            </a:pPr>
            <a:r>
              <a:rPr lang="en-US" sz="1000" b="1" dirty="0">
                <a:solidFill>
                  <a:srgbClr val="182D2A"/>
                </a:solidFill>
                <a:latin typeface="Aptos" pitchFamily="34" charset="0"/>
                <a:ea typeface="Aptos" pitchFamily="34" charset="-122"/>
                <a:cs typeface="Aptos" pitchFamily="34" charset="-120"/>
              </a:rPr>
              <a:t>TAMIL</a:t>
            </a:r>
            <a:endParaRPr lang="en-US" sz="1000" dirty="0"/>
          </a:p>
        </p:txBody>
      </p:sp>
      <p:sp>
        <p:nvSpPr>
          <p:cNvPr id="19" name="Shape 17"/>
          <p:cNvSpPr/>
          <p:nvPr/>
        </p:nvSpPr>
        <p:spPr>
          <a:xfrm>
            <a:off x="2011680" y="4014216"/>
            <a:ext cx="3035808" cy="164592"/>
          </a:xfrm>
          <a:prstGeom prst="roundRect">
            <a:avLst>
              <a:gd name="adj" fmla="val 44444"/>
            </a:avLst>
          </a:prstGeom>
          <a:solidFill>
            <a:srgbClr val="E8E9E1"/>
          </a:solidFill>
          <a:ln w="10160">
            <a:solidFill>
              <a:srgbClr val="E8E9E1">
                <a:alpha val="0"/>
              </a:srgbClr>
            </a:solidFill>
            <a:prstDash val="solid"/>
          </a:ln>
        </p:spPr>
      </p:sp>
      <p:sp>
        <p:nvSpPr>
          <p:cNvPr id="20" name="Shape 18"/>
          <p:cNvSpPr/>
          <p:nvPr/>
        </p:nvSpPr>
        <p:spPr>
          <a:xfrm>
            <a:off x="2011680" y="4014216"/>
            <a:ext cx="1563624" cy="164592"/>
          </a:xfrm>
          <a:prstGeom prst="roundRect">
            <a:avLst>
              <a:gd name="adj" fmla="val 44444"/>
            </a:avLst>
          </a:prstGeom>
          <a:solidFill>
            <a:srgbClr val="C8734E"/>
          </a:solidFill>
          <a:ln w="10160">
            <a:solidFill>
              <a:srgbClr val="C8734E">
                <a:alpha val="0"/>
              </a:srgbClr>
            </a:solidFill>
            <a:prstDash val="solid"/>
          </a:ln>
        </p:spPr>
      </p:sp>
      <p:sp>
        <p:nvSpPr>
          <p:cNvPr id="21" name="Text 19"/>
          <p:cNvSpPr/>
          <p:nvPr/>
        </p:nvSpPr>
        <p:spPr>
          <a:xfrm>
            <a:off x="5193792" y="3986784"/>
            <a:ext cx="411480" cy="210312"/>
          </a:xfrm>
          <a:prstGeom prst="rect">
            <a:avLst/>
          </a:prstGeom>
          <a:noFill/>
          <a:ln/>
        </p:spPr>
        <p:txBody>
          <a:bodyPr wrap="square" lIns="0" tIns="0" rIns="0" bIns="0" rtlCol="0" anchor="ctr">
            <a:normAutofit/>
          </a:bodyPr>
          <a:lstStyle/>
          <a:p>
            <a:pPr algn="l" indent="0" marL="0">
              <a:buNone/>
            </a:pPr>
            <a:r>
              <a:rPr lang="en-US" sz="1100" b="1" dirty="0">
                <a:solidFill>
                  <a:srgbClr val="64766E"/>
                </a:solidFill>
                <a:latin typeface="Aptos" pitchFamily="34" charset="0"/>
                <a:ea typeface="Aptos" pitchFamily="34" charset="-122"/>
                <a:cs typeface="Aptos" pitchFamily="34" charset="-120"/>
              </a:rPr>
              <a:t>3</a:t>
            </a:r>
            <a:endParaRPr lang="en-US" sz="1100" dirty="0"/>
          </a:p>
        </p:txBody>
      </p:sp>
      <p:sp>
        <p:nvSpPr>
          <p:cNvPr id="22" name="Text 20"/>
          <p:cNvSpPr/>
          <p:nvPr/>
        </p:nvSpPr>
        <p:spPr>
          <a:xfrm>
            <a:off x="731520" y="4581144"/>
            <a:ext cx="1188720" cy="201168"/>
          </a:xfrm>
          <a:prstGeom prst="rect">
            <a:avLst/>
          </a:prstGeom>
          <a:noFill/>
          <a:ln/>
        </p:spPr>
        <p:txBody>
          <a:bodyPr wrap="square" lIns="0" tIns="0" rIns="0" bIns="0" rtlCol="0" anchor="ctr">
            <a:normAutofit/>
          </a:bodyPr>
          <a:lstStyle/>
          <a:p>
            <a:pPr algn="l" indent="0" marL="0">
              <a:buNone/>
            </a:pPr>
            <a:r>
              <a:rPr lang="en-US" sz="1000" b="1" dirty="0">
                <a:solidFill>
                  <a:srgbClr val="182D2A"/>
                </a:solidFill>
                <a:latin typeface="Aptos" pitchFamily="34" charset="0"/>
                <a:ea typeface="Aptos" pitchFamily="34" charset="-122"/>
                <a:cs typeface="Aptos" pitchFamily="34" charset="-120"/>
              </a:rPr>
              <a:t>TELUGU</a:t>
            </a:r>
            <a:endParaRPr lang="en-US" sz="1000" dirty="0"/>
          </a:p>
        </p:txBody>
      </p:sp>
      <p:sp>
        <p:nvSpPr>
          <p:cNvPr id="23" name="Shape 21"/>
          <p:cNvSpPr/>
          <p:nvPr/>
        </p:nvSpPr>
        <p:spPr>
          <a:xfrm>
            <a:off x="2011680" y="4599432"/>
            <a:ext cx="3035808" cy="164592"/>
          </a:xfrm>
          <a:prstGeom prst="roundRect">
            <a:avLst>
              <a:gd name="adj" fmla="val 44444"/>
            </a:avLst>
          </a:prstGeom>
          <a:solidFill>
            <a:srgbClr val="E8E9E1"/>
          </a:solidFill>
          <a:ln w="10160">
            <a:solidFill>
              <a:srgbClr val="E8E9E1">
                <a:alpha val="0"/>
              </a:srgbClr>
            </a:solidFill>
            <a:prstDash val="solid"/>
          </a:ln>
        </p:spPr>
      </p:sp>
      <p:sp>
        <p:nvSpPr>
          <p:cNvPr id="24" name="Shape 22"/>
          <p:cNvSpPr/>
          <p:nvPr/>
        </p:nvSpPr>
        <p:spPr>
          <a:xfrm>
            <a:off x="2011680" y="4599432"/>
            <a:ext cx="2084832" cy="164592"/>
          </a:xfrm>
          <a:prstGeom prst="roundRect">
            <a:avLst>
              <a:gd name="adj" fmla="val 44444"/>
            </a:avLst>
          </a:prstGeom>
          <a:solidFill>
            <a:srgbClr val="8A7EAA"/>
          </a:solidFill>
          <a:ln w="10160">
            <a:solidFill>
              <a:srgbClr val="8A7EAA">
                <a:alpha val="0"/>
              </a:srgbClr>
            </a:solidFill>
            <a:prstDash val="solid"/>
          </a:ln>
        </p:spPr>
      </p:sp>
      <p:sp>
        <p:nvSpPr>
          <p:cNvPr id="25" name="Text 23"/>
          <p:cNvSpPr/>
          <p:nvPr/>
        </p:nvSpPr>
        <p:spPr>
          <a:xfrm>
            <a:off x="5193792" y="4572000"/>
            <a:ext cx="411480" cy="210312"/>
          </a:xfrm>
          <a:prstGeom prst="rect">
            <a:avLst/>
          </a:prstGeom>
          <a:noFill/>
          <a:ln/>
        </p:spPr>
        <p:txBody>
          <a:bodyPr wrap="square" lIns="0" tIns="0" rIns="0" bIns="0" rtlCol="0" anchor="ctr">
            <a:normAutofit/>
          </a:bodyPr>
          <a:lstStyle/>
          <a:p>
            <a:pPr algn="l" indent="0" marL="0">
              <a:buNone/>
            </a:pPr>
            <a:r>
              <a:rPr lang="en-US" sz="1100" b="1" dirty="0">
                <a:solidFill>
                  <a:srgbClr val="64766E"/>
                </a:solidFill>
                <a:latin typeface="Aptos" pitchFamily="34" charset="0"/>
                <a:ea typeface="Aptos" pitchFamily="34" charset="-122"/>
                <a:cs typeface="Aptos" pitchFamily="34" charset="-120"/>
              </a:rPr>
              <a:t>4</a:t>
            </a:r>
            <a:endParaRPr lang="en-US" sz="1100" dirty="0"/>
          </a:p>
        </p:txBody>
      </p:sp>
      <p:sp>
        <p:nvSpPr>
          <p:cNvPr id="26" name="Shape 24"/>
          <p:cNvSpPr/>
          <p:nvPr/>
        </p:nvSpPr>
        <p:spPr>
          <a:xfrm>
            <a:off x="5961888" y="1783080"/>
            <a:ext cx="5541264" cy="3392424"/>
          </a:xfrm>
          <a:prstGeom prst="roundRect">
            <a:avLst>
              <a:gd name="adj" fmla="val 3504"/>
            </a:avLst>
          </a:prstGeom>
          <a:solidFill>
            <a:srgbClr val="E5EFE8"/>
          </a:solidFill>
          <a:ln w="10160">
            <a:solidFill>
              <a:srgbClr val="E5EFE8">
                <a:alpha val="0"/>
              </a:srgbClr>
            </a:solidFill>
            <a:prstDash val="solid"/>
          </a:ln>
        </p:spPr>
      </p:sp>
      <p:sp>
        <p:nvSpPr>
          <p:cNvPr id="27" name="Shape 25"/>
          <p:cNvSpPr/>
          <p:nvPr/>
        </p:nvSpPr>
        <p:spPr>
          <a:xfrm>
            <a:off x="5961888" y="1929384"/>
            <a:ext cx="50292" cy="3099816"/>
          </a:xfrm>
          <a:prstGeom prst="roundRect">
            <a:avLst>
              <a:gd name="adj" fmla="val 36364"/>
            </a:avLst>
          </a:prstGeom>
          <a:solidFill>
            <a:srgbClr val="2E8069"/>
          </a:solidFill>
          <a:ln w="10160">
            <a:solidFill>
              <a:srgbClr val="2E8069">
                <a:alpha val="0"/>
              </a:srgbClr>
            </a:solidFill>
            <a:prstDash val="solid"/>
          </a:ln>
        </p:spPr>
      </p:sp>
      <p:sp>
        <p:nvSpPr>
          <p:cNvPr id="28" name="Text 26"/>
          <p:cNvSpPr/>
          <p:nvPr/>
        </p:nvSpPr>
        <p:spPr>
          <a:xfrm>
            <a:off x="6318504" y="2084832"/>
            <a:ext cx="2834640" cy="210312"/>
          </a:xfrm>
          <a:prstGeom prst="rect">
            <a:avLst/>
          </a:prstGeom>
          <a:noFill/>
          <a:ln/>
        </p:spPr>
        <p:txBody>
          <a:bodyPr wrap="square" lIns="0" tIns="0" rIns="0" bIns="0" rtlCol="0" anchor="ctr">
            <a:normAutofit/>
          </a:bodyPr>
          <a:lstStyle/>
          <a:p>
            <a:pPr algn="l" indent="0" marL="0">
              <a:buNone/>
            </a:pPr>
            <a:r>
              <a:rPr lang="en-US" sz="950" b="1" spc="100" kern="0" dirty="0">
                <a:solidFill>
                  <a:srgbClr val="2E8069"/>
                </a:solidFill>
                <a:latin typeface="Aptos" pitchFamily="34" charset="0"/>
                <a:ea typeface="Aptos" pitchFamily="34" charset="-122"/>
                <a:cs typeface="Aptos" pitchFamily="34" charset="-120"/>
              </a:rPr>
              <a:t>COMPARISON OUTPUTS</a:t>
            </a:r>
            <a:endParaRPr lang="en-US" sz="950" dirty="0"/>
          </a:p>
        </p:txBody>
      </p:sp>
      <p:sp>
        <p:nvSpPr>
          <p:cNvPr id="29" name="Shape 27"/>
          <p:cNvSpPr/>
          <p:nvPr/>
        </p:nvSpPr>
        <p:spPr>
          <a:xfrm>
            <a:off x="6336792" y="2551176"/>
            <a:ext cx="146304" cy="146304"/>
          </a:xfrm>
          <a:prstGeom prst="ellipse">
            <a:avLst/>
          </a:prstGeom>
          <a:solidFill>
            <a:srgbClr val="E7A54A"/>
          </a:solidFill>
          <a:ln w="12700">
            <a:solidFill>
              <a:srgbClr val="E7A54A">
                <a:alpha val="0"/>
              </a:srgbClr>
            </a:solidFill>
            <a:prstDash val="solid"/>
          </a:ln>
        </p:spPr>
      </p:sp>
      <p:sp>
        <p:nvSpPr>
          <p:cNvPr id="30" name="Text 28"/>
          <p:cNvSpPr/>
          <p:nvPr/>
        </p:nvSpPr>
        <p:spPr>
          <a:xfrm>
            <a:off x="6629400" y="2523744"/>
            <a:ext cx="1051560" cy="201168"/>
          </a:xfrm>
          <a:prstGeom prst="rect">
            <a:avLst/>
          </a:prstGeom>
          <a:noFill/>
          <a:ln/>
        </p:spPr>
        <p:txBody>
          <a:bodyPr wrap="square" lIns="0" tIns="0" rIns="0" bIns="0" rtlCol="0" anchor="ctr">
            <a:normAutofit/>
          </a:bodyPr>
          <a:lstStyle/>
          <a:p>
            <a:pPr algn="l" indent="0" marL="0">
              <a:buNone/>
            </a:pPr>
            <a:r>
              <a:rPr lang="en-US" sz="1250" b="1" dirty="0">
                <a:solidFill>
                  <a:srgbClr val="182D2A"/>
                </a:solidFill>
                <a:latin typeface="Aptos" pitchFamily="34" charset="0"/>
                <a:ea typeface="Aptos" pitchFamily="34" charset="-122"/>
                <a:cs typeface="Aptos" pitchFamily="34" charset="-120"/>
              </a:rPr>
              <a:t>Shared</a:t>
            </a:r>
            <a:endParaRPr lang="en-US" sz="1250" dirty="0"/>
          </a:p>
        </p:txBody>
      </p:sp>
      <p:sp>
        <p:nvSpPr>
          <p:cNvPr id="31" name="Text 29"/>
          <p:cNvSpPr/>
          <p:nvPr/>
        </p:nvSpPr>
        <p:spPr>
          <a:xfrm>
            <a:off x="7790688" y="2523744"/>
            <a:ext cx="3163824" cy="256032"/>
          </a:xfrm>
          <a:prstGeom prst="rect">
            <a:avLst/>
          </a:prstGeom>
          <a:noFill/>
          <a:ln/>
        </p:spPr>
        <p:txBody>
          <a:bodyPr wrap="square" lIns="0" tIns="0" rIns="0" bIns="0" rtlCol="0" anchor="ctr">
            <a:normAutofit/>
          </a:bodyPr>
          <a:lstStyle/>
          <a:p>
            <a:pPr algn="l" indent="0" marL="0">
              <a:buNone/>
            </a:pPr>
            <a:r>
              <a:rPr lang="en-US" sz="1150" dirty="0">
                <a:solidFill>
                  <a:srgbClr val="64766E"/>
                </a:solidFill>
                <a:latin typeface="Aptos" pitchFamily="34" charset="0"/>
                <a:ea typeface="Aptos" pitchFamily="34" charset="-122"/>
                <a:cs typeface="Aptos" pitchFamily="34" charset="-120"/>
              </a:rPr>
              <a:t>Topics and named entities across reports</a:t>
            </a:r>
            <a:endParaRPr lang="en-US" sz="1150" dirty="0"/>
          </a:p>
        </p:txBody>
      </p:sp>
      <p:sp>
        <p:nvSpPr>
          <p:cNvPr id="32" name="Shape 30"/>
          <p:cNvSpPr/>
          <p:nvPr/>
        </p:nvSpPr>
        <p:spPr>
          <a:xfrm>
            <a:off x="6336792" y="3118104"/>
            <a:ext cx="146304" cy="146304"/>
          </a:xfrm>
          <a:prstGeom prst="ellipse">
            <a:avLst/>
          </a:prstGeom>
          <a:solidFill>
            <a:srgbClr val="2E8069"/>
          </a:solidFill>
          <a:ln w="12700">
            <a:solidFill>
              <a:srgbClr val="2E8069">
                <a:alpha val="0"/>
              </a:srgbClr>
            </a:solidFill>
            <a:prstDash val="solid"/>
          </a:ln>
        </p:spPr>
      </p:sp>
      <p:sp>
        <p:nvSpPr>
          <p:cNvPr id="33" name="Text 31"/>
          <p:cNvSpPr/>
          <p:nvPr/>
        </p:nvSpPr>
        <p:spPr>
          <a:xfrm>
            <a:off x="6629400" y="3090672"/>
            <a:ext cx="1051560" cy="201168"/>
          </a:xfrm>
          <a:prstGeom prst="rect">
            <a:avLst/>
          </a:prstGeom>
          <a:noFill/>
          <a:ln/>
        </p:spPr>
        <p:txBody>
          <a:bodyPr wrap="square" lIns="0" tIns="0" rIns="0" bIns="0" rtlCol="0" anchor="ctr">
            <a:normAutofit/>
          </a:bodyPr>
          <a:lstStyle/>
          <a:p>
            <a:pPr algn="l" indent="0" marL="0">
              <a:buNone/>
            </a:pPr>
            <a:r>
              <a:rPr lang="en-US" sz="1250" b="1" dirty="0">
                <a:solidFill>
                  <a:srgbClr val="182D2A"/>
                </a:solidFill>
                <a:latin typeface="Aptos" pitchFamily="34" charset="0"/>
                <a:ea typeface="Aptos" pitchFamily="34" charset="-122"/>
                <a:cs typeface="Aptos" pitchFamily="34" charset="-120"/>
              </a:rPr>
              <a:t>By language</a:t>
            </a:r>
            <a:endParaRPr lang="en-US" sz="1250" dirty="0"/>
          </a:p>
        </p:txBody>
      </p:sp>
      <p:sp>
        <p:nvSpPr>
          <p:cNvPr id="34" name="Text 32"/>
          <p:cNvSpPr/>
          <p:nvPr/>
        </p:nvSpPr>
        <p:spPr>
          <a:xfrm>
            <a:off x="7790688" y="3090672"/>
            <a:ext cx="3163824" cy="256032"/>
          </a:xfrm>
          <a:prstGeom prst="rect">
            <a:avLst/>
          </a:prstGeom>
          <a:noFill/>
          <a:ln/>
        </p:spPr>
        <p:txBody>
          <a:bodyPr wrap="square" lIns="0" tIns="0" rIns="0" bIns="0" rtlCol="0" anchor="ctr">
            <a:normAutofit/>
          </a:bodyPr>
          <a:lstStyle/>
          <a:p>
            <a:pPr algn="l" indent="0" marL="0">
              <a:buNone/>
            </a:pPr>
            <a:r>
              <a:rPr lang="en-US" sz="1150" dirty="0">
                <a:solidFill>
                  <a:srgbClr val="64766E"/>
                </a:solidFill>
                <a:latin typeface="Aptos" pitchFamily="34" charset="0"/>
                <a:ea typeface="Aptos" pitchFamily="34" charset="-122"/>
                <a:cs typeface="Aptos" pitchFamily="34" charset="-120"/>
              </a:rPr>
              <a:t>Sample size, sources, tone and topics</a:t>
            </a:r>
            <a:endParaRPr lang="en-US" sz="1150" dirty="0"/>
          </a:p>
        </p:txBody>
      </p:sp>
      <p:sp>
        <p:nvSpPr>
          <p:cNvPr id="35" name="Shape 33"/>
          <p:cNvSpPr/>
          <p:nvPr/>
        </p:nvSpPr>
        <p:spPr>
          <a:xfrm>
            <a:off x="6336792" y="3685032"/>
            <a:ext cx="146304" cy="146304"/>
          </a:xfrm>
          <a:prstGeom prst="ellipse">
            <a:avLst/>
          </a:prstGeom>
          <a:solidFill>
            <a:srgbClr val="5B88A0"/>
          </a:solidFill>
          <a:ln w="12700">
            <a:solidFill>
              <a:srgbClr val="5B88A0">
                <a:alpha val="0"/>
              </a:srgbClr>
            </a:solidFill>
            <a:prstDash val="solid"/>
          </a:ln>
        </p:spPr>
      </p:sp>
      <p:sp>
        <p:nvSpPr>
          <p:cNvPr id="36" name="Text 34"/>
          <p:cNvSpPr/>
          <p:nvPr/>
        </p:nvSpPr>
        <p:spPr>
          <a:xfrm>
            <a:off x="6629400" y="3657600"/>
            <a:ext cx="1051560" cy="201168"/>
          </a:xfrm>
          <a:prstGeom prst="rect">
            <a:avLst/>
          </a:prstGeom>
          <a:noFill/>
          <a:ln/>
        </p:spPr>
        <p:txBody>
          <a:bodyPr wrap="square" lIns="0" tIns="0" rIns="0" bIns="0" rtlCol="0" anchor="ctr">
            <a:normAutofit/>
          </a:bodyPr>
          <a:lstStyle/>
          <a:p>
            <a:pPr algn="l" indent="0" marL="0">
              <a:buNone/>
            </a:pPr>
            <a:r>
              <a:rPr lang="en-US" sz="1250" b="1" dirty="0">
                <a:solidFill>
                  <a:srgbClr val="182D2A"/>
                </a:solidFill>
                <a:latin typeface="Aptos" pitchFamily="34" charset="0"/>
                <a:ea typeface="Aptos" pitchFamily="34" charset="-122"/>
                <a:cs typeface="Aptos" pitchFamily="34" charset="-120"/>
              </a:rPr>
              <a:t>By source</a:t>
            </a:r>
            <a:endParaRPr lang="en-US" sz="1250" dirty="0"/>
          </a:p>
        </p:txBody>
      </p:sp>
      <p:sp>
        <p:nvSpPr>
          <p:cNvPr id="37" name="Text 35"/>
          <p:cNvSpPr/>
          <p:nvPr/>
        </p:nvSpPr>
        <p:spPr>
          <a:xfrm>
            <a:off x="7790688" y="3657600"/>
            <a:ext cx="3163824" cy="256032"/>
          </a:xfrm>
          <a:prstGeom prst="rect">
            <a:avLst/>
          </a:prstGeom>
          <a:noFill/>
          <a:ln/>
        </p:spPr>
        <p:txBody>
          <a:bodyPr wrap="square" lIns="0" tIns="0" rIns="0" bIns="0" rtlCol="0" anchor="ctr">
            <a:normAutofit/>
          </a:bodyPr>
          <a:lstStyle/>
          <a:p>
            <a:pPr algn="l" indent="0" marL="0">
              <a:buNone/>
            </a:pPr>
            <a:r>
              <a:rPr lang="en-US" sz="1150" dirty="0">
                <a:solidFill>
                  <a:srgbClr val="64766E"/>
                </a:solidFill>
                <a:latin typeface="Aptos" pitchFamily="34" charset="0"/>
                <a:ea typeface="Aptos" pitchFamily="34" charset="-122"/>
                <a:cs typeface="Aptos" pitchFamily="34" charset="-120"/>
              </a:rPr>
              <a:t>Observed coverage fields for each outlet</a:t>
            </a:r>
            <a:endParaRPr lang="en-US" sz="1150" dirty="0"/>
          </a:p>
        </p:txBody>
      </p:sp>
      <p:sp>
        <p:nvSpPr>
          <p:cNvPr id="38" name="Shape 36"/>
          <p:cNvSpPr/>
          <p:nvPr/>
        </p:nvSpPr>
        <p:spPr>
          <a:xfrm>
            <a:off x="6336792" y="4251960"/>
            <a:ext cx="146304" cy="146304"/>
          </a:xfrm>
          <a:prstGeom prst="ellipse">
            <a:avLst/>
          </a:prstGeom>
          <a:solidFill>
            <a:srgbClr val="C8734E"/>
          </a:solidFill>
          <a:ln w="12700">
            <a:solidFill>
              <a:srgbClr val="C8734E">
                <a:alpha val="0"/>
              </a:srgbClr>
            </a:solidFill>
            <a:prstDash val="solid"/>
          </a:ln>
        </p:spPr>
      </p:sp>
      <p:sp>
        <p:nvSpPr>
          <p:cNvPr id="39" name="Text 37"/>
          <p:cNvSpPr/>
          <p:nvPr/>
        </p:nvSpPr>
        <p:spPr>
          <a:xfrm>
            <a:off x="6629400" y="4224528"/>
            <a:ext cx="1051560" cy="201168"/>
          </a:xfrm>
          <a:prstGeom prst="rect">
            <a:avLst/>
          </a:prstGeom>
          <a:noFill/>
          <a:ln/>
        </p:spPr>
        <p:txBody>
          <a:bodyPr wrap="square" lIns="0" tIns="0" rIns="0" bIns="0" rtlCol="0" anchor="ctr">
            <a:normAutofit/>
          </a:bodyPr>
          <a:lstStyle/>
          <a:p>
            <a:pPr algn="l" indent="0" marL="0">
              <a:buNone/>
            </a:pPr>
            <a:r>
              <a:rPr lang="en-US" sz="1250" b="1" dirty="0">
                <a:solidFill>
                  <a:srgbClr val="182D2A"/>
                </a:solidFill>
                <a:latin typeface="Aptos" pitchFamily="34" charset="0"/>
                <a:ea typeface="Aptos" pitchFamily="34" charset="-122"/>
                <a:cs typeface="Aptos" pitchFamily="34" charset="-120"/>
              </a:rPr>
              <a:t>Differences</a:t>
            </a:r>
            <a:endParaRPr lang="en-US" sz="1250" dirty="0"/>
          </a:p>
        </p:txBody>
      </p:sp>
      <p:sp>
        <p:nvSpPr>
          <p:cNvPr id="40" name="Text 38"/>
          <p:cNvSpPr/>
          <p:nvPr/>
        </p:nvSpPr>
        <p:spPr>
          <a:xfrm>
            <a:off x="7790688" y="4224528"/>
            <a:ext cx="3163824" cy="256032"/>
          </a:xfrm>
          <a:prstGeom prst="rect">
            <a:avLst/>
          </a:prstGeom>
          <a:noFill/>
          <a:ln/>
        </p:spPr>
        <p:txBody>
          <a:bodyPr wrap="square" lIns="0" tIns="0" rIns="0" bIns="0" rtlCol="0" anchor="ctr">
            <a:normAutofit/>
          </a:bodyPr>
          <a:lstStyle/>
          <a:p>
            <a:pPr algn="l" indent="0" marL="0">
              <a:buNone/>
            </a:pPr>
            <a:r>
              <a:rPr lang="en-US" sz="1150" dirty="0">
                <a:solidFill>
                  <a:srgbClr val="64766E"/>
                </a:solidFill>
                <a:latin typeface="Aptos" pitchFamily="34" charset="0"/>
                <a:ea typeface="Aptos" pitchFamily="34" charset="-122"/>
                <a:cs typeface="Aptos" pitchFamily="34" charset="-120"/>
              </a:rPr>
              <a:t>Observed topic emphasis and group counts</a:t>
            </a:r>
            <a:endParaRPr lang="en-US" sz="1150" dirty="0"/>
          </a:p>
        </p:txBody>
      </p:sp>
      <p:sp>
        <p:nvSpPr>
          <p:cNvPr id="41" name="Shape 39"/>
          <p:cNvSpPr/>
          <p:nvPr/>
        </p:nvSpPr>
        <p:spPr>
          <a:xfrm>
            <a:off x="731520" y="5330952"/>
            <a:ext cx="10789920" cy="566928"/>
          </a:xfrm>
          <a:prstGeom prst="roundRect">
            <a:avLst>
              <a:gd name="adj" fmla="val 20968"/>
            </a:avLst>
          </a:prstGeom>
          <a:solidFill>
            <a:srgbClr val="F7EBD7"/>
          </a:solidFill>
          <a:ln w="10160">
            <a:solidFill>
              <a:srgbClr val="F7EBD7">
                <a:alpha val="0"/>
              </a:srgbClr>
            </a:solidFill>
            <a:prstDash val="solid"/>
          </a:ln>
        </p:spPr>
      </p:sp>
      <p:sp>
        <p:nvSpPr>
          <p:cNvPr id="42" name="Shape 40"/>
          <p:cNvSpPr/>
          <p:nvPr/>
        </p:nvSpPr>
        <p:spPr>
          <a:xfrm>
            <a:off x="731520" y="5477256"/>
            <a:ext cx="50292" cy="274320"/>
          </a:xfrm>
          <a:prstGeom prst="roundRect">
            <a:avLst>
              <a:gd name="adj" fmla="val 36364"/>
            </a:avLst>
          </a:prstGeom>
          <a:solidFill>
            <a:srgbClr val="E7A54A"/>
          </a:solidFill>
          <a:ln w="10160">
            <a:solidFill>
              <a:srgbClr val="E7A54A">
                <a:alpha val="0"/>
              </a:srgbClr>
            </a:solidFill>
            <a:prstDash val="solid"/>
          </a:ln>
        </p:spPr>
      </p:sp>
      <p:sp>
        <p:nvSpPr>
          <p:cNvPr id="43" name="Text 41"/>
          <p:cNvSpPr/>
          <p:nvPr/>
        </p:nvSpPr>
        <p:spPr>
          <a:xfrm>
            <a:off x="1024128" y="5504688"/>
            <a:ext cx="1874520" cy="210312"/>
          </a:xfrm>
          <a:prstGeom prst="rect">
            <a:avLst/>
          </a:prstGeom>
          <a:noFill/>
          <a:ln/>
        </p:spPr>
        <p:txBody>
          <a:bodyPr wrap="square" lIns="0" tIns="0" rIns="0" bIns="0" rtlCol="0" anchor="ctr">
            <a:normAutofit/>
          </a:bodyPr>
          <a:lstStyle/>
          <a:p>
            <a:pPr algn="l" indent="0" marL="0">
              <a:buNone/>
            </a:pPr>
            <a:r>
              <a:rPr lang="en-US" sz="1200" b="1" dirty="0">
                <a:solidFill>
                  <a:srgbClr val="C8734E"/>
                </a:solidFill>
                <a:latin typeface="Aptos" pitchFamily="34" charset="0"/>
                <a:ea typeface="Aptos" pitchFamily="34" charset="-122"/>
                <a:cs typeface="Aptos" pitchFamily="34" charset="-120"/>
              </a:rPr>
              <a:t>Read with sample sizes</a:t>
            </a:r>
            <a:endParaRPr lang="en-US" sz="1200" dirty="0"/>
          </a:p>
        </p:txBody>
      </p:sp>
      <p:sp>
        <p:nvSpPr>
          <p:cNvPr id="44" name="Text 42"/>
          <p:cNvSpPr/>
          <p:nvPr/>
        </p:nvSpPr>
        <p:spPr>
          <a:xfrm>
            <a:off x="2898648" y="5504688"/>
            <a:ext cx="8046720" cy="210312"/>
          </a:xfrm>
          <a:prstGeom prst="rect">
            <a:avLst/>
          </a:prstGeom>
          <a:noFill/>
          <a:ln/>
        </p:spPr>
        <p:txBody>
          <a:bodyPr wrap="square" lIns="0" tIns="0" rIns="0" bIns="0" rtlCol="0" anchor="ctr">
            <a:normAutofit/>
          </a:bodyPr>
          <a:lstStyle/>
          <a:p>
            <a:pPr algn="l" indent="0" marL="0">
              <a:buNone/>
            </a:pPr>
            <a:r>
              <a:rPr lang="en-US" sz="1200" dirty="0">
                <a:solidFill>
                  <a:srgbClr val="182D2A"/>
                </a:solidFill>
                <a:latin typeface="Aptos" pitchFamily="34" charset="0"/>
                <a:ea typeface="Aptos" pitchFamily="34" charset="-122"/>
                <a:cs typeface="Aptos" pitchFamily="34" charset="-120"/>
              </a:rPr>
              <a:t>Language or outlet differences may reflect what was retrieved—not only what was reported.</a:t>
            </a:r>
            <a:endParaRPr lang="en-US" sz="120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13 / PRODUCT WALKTHROUGH</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A student can follow one question all the way to evidence</a:t>
            </a:r>
            <a:endParaRPr lang="en-US" sz="3000" dirty="0"/>
          </a:p>
        </p:txBody>
      </p:sp>
      <p:sp>
        <p:nvSpPr>
          <p:cNvPr id="4" name="Shape 2"/>
          <p:cNvSpPr/>
          <p:nvPr/>
        </p:nvSpPr>
        <p:spPr>
          <a:xfrm>
            <a:off x="640080" y="1847088"/>
            <a:ext cx="3438144" cy="3611880"/>
          </a:xfrm>
          <a:prstGeom prst="roundRect">
            <a:avLst>
              <a:gd name="adj" fmla="val 3457"/>
            </a:avLst>
          </a:prstGeom>
          <a:solidFill>
            <a:srgbClr val="E5EFE8"/>
          </a:solidFill>
          <a:ln w="10160">
            <a:solidFill>
              <a:srgbClr val="E5EFE8">
                <a:alpha val="0"/>
              </a:srgbClr>
            </a:solidFill>
            <a:prstDash val="solid"/>
          </a:ln>
        </p:spPr>
      </p:sp>
      <p:sp>
        <p:nvSpPr>
          <p:cNvPr id="5" name="Shape 3"/>
          <p:cNvSpPr/>
          <p:nvPr/>
        </p:nvSpPr>
        <p:spPr>
          <a:xfrm>
            <a:off x="640080" y="1993392"/>
            <a:ext cx="50292" cy="3319272"/>
          </a:xfrm>
          <a:prstGeom prst="roundRect">
            <a:avLst>
              <a:gd name="adj" fmla="val 36364"/>
            </a:avLst>
          </a:prstGeom>
          <a:solidFill>
            <a:srgbClr val="2E8069"/>
          </a:solidFill>
          <a:ln w="10160">
            <a:solidFill>
              <a:srgbClr val="2E8069">
                <a:alpha val="0"/>
              </a:srgbClr>
            </a:solidFill>
            <a:prstDash val="solid"/>
          </a:ln>
        </p:spPr>
      </p:sp>
      <p:sp>
        <p:nvSpPr>
          <p:cNvPr id="6" name="Text 4"/>
          <p:cNvSpPr/>
          <p:nvPr/>
        </p:nvSpPr>
        <p:spPr>
          <a:xfrm>
            <a:off x="877824" y="2112264"/>
            <a:ext cx="2651760" cy="201168"/>
          </a:xfrm>
          <a:prstGeom prst="rect">
            <a:avLst/>
          </a:prstGeom>
          <a:noFill/>
          <a:ln/>
        </p:spPr>
        <p:txBody>
          <a:bodyPr wrap="square" lIns="0" tIns="0" rIns="0" bIns="0" rtlCol="0" anchor="ctr">
            <a:normAutofit/>
          </a:bodyPr>
          <a:lstStyle/>
          <a:p>
            <a:pPr algn="l" indent="0" marL="0">
              <a:buNone/>
            </a:pPr>
            <a:r>
              <a:rPr lang="en-US" sz="900" b="1" spc="80" kern="0" dirty="0">
                <a:solidFill>
                  <a:srgbClr val="2E8069"/>
                </a:solidFill>
                <a:latin typeface="Aptos" pitchFamily="34" charset="0"/>
                <a:ea typeface="Aptos" pitchFamily="34" charset="-122"/>
                <a:cs typeface="Aptos" pitchFamily="34" charset="-120"/>
              </a:rPr>
              <a:t>01  OVERVIEW</a:t>
            </a:r>
            <a:endParaRPr lang="en-US" sz="900" dirty="0"/>
          </a:p>
        </p:txBody>
      </p:sp>
      <p:sp>
        <p:nvSpPr>
          <p:cNvPr id="7" name="Text 5"/>
          <p:cNvSpPr/>
          <p:nvPr/>
        </p:nvSpPr>
        <p:spPr>
          <a:xfrm>
            <a:off x="877824" y="2478024"/>
            <a:ext cx="2807208" cy="502920"/>
          </a:xfrm>
          <a:prstGeom prst="rect">
            <a:avLst/>
          </a:prstGeom>
          <a:noFill/>
          <a:ln/>
        </p:spPr>
        <p:txBody>
          <a:bodyPr wrap="square" lIns="0" tIns="0" rIns="0" bIns="0" rtlCol="0" anchor="t">
            <a:normAutofit/>
          </a:bodyPr>
          <a:lstStyle/>
          <a:p>
            <a:pPr algn="l" indent="0" marL="0">
              <a:buNone/>
            </a:pPr>
            <a:r>
              <a:rPr lang="en-US" sz="1800" b="1" dirty="0">
                <a:solidFill>
                  <a:srgbClr val="182D2A"/>
                </a:solidFill>
                <a:latin typeface="Georgia" pitchFamily="34" charset="0"/>
                <a:ea typeface="Georgia" pitchFamily="34" charset="-122"/>
                <a:cs typeface="Georgia" pitchFamily="34" charset="-120"/>
              </a:rPr>
              <a:t>Start with the stored sample</a:t>
            </a:r>
            <a:endParaRPr lang="en-US" sz="1800" dirty="0"/>
          </a:p>
        </p:txBody>
      </p:sp>
      <p:sp>
        <p:nvSpPr>
          <p:cNvPr id="8" name="Shape 6"/>
          <p:cNvSpPr/>
          <p:nvPr/>
        </p:nvSpPr>
        <p:spPr>
          <a:xfrm>
            <a:off x="896112" y="3182112"/>
            <a:ext cx="786384" cy="530352"/>
          </a:xfrm>
          <a:prstGeom prst="roundRect">
            <a:avLst>
              <a:gd name="adj" fmla="val 12069"/>
            </a:avLst>
          </a:prstGeom>
          <a:solidFill>
            <a:srgbClr val="FFFFFF"/>
          </a:solidFill>
          <a:ln w="10160">
            <a:solidFill>
              <a:srgbClr val="FFFFFF">
                <a:alpha val="0"/>
              </a:srgbClr>
            </a:solidFill>
            <a:prstDash val="solid"/>
          </a:ln>
        </p:spPr>
      </p:sp>
      <p:sp>
        <p:nvSpPr>
          <p:cNvPr id="9" name="Shape 7"/>
          <p:cNvSpPr/>
          <p:nvPr/>
        </p:nvSpPr>
        <p:spPr>
          <a:xfrm>
            <a:off x="987552" y="3310128"/>
            <a:ext cx="438912" cy="82296"/>
          </a:xfrm>
          <a:prstGeom prst="roundRect">
            <a:avLst>
              <a:gd name="adj" fmla="val 44444"/>
            </a:avLst>
          </a:prstGeom>
          <a:solidFill>
            <a:srgbClr val="2E8069"/>
          </a:solidFill>
          <a:ln w="10160">
            <a:solidFill>
              <a:srgbClr val="2E8069">
                <a:alpha val="0"/>
              </a:srgbClr>
            </a:solidFill>
            <a:prstDash val="solid"/>
          </a:ln>
        </p:spPr>
      </p:sp>
      <p:sp>
        <p:nvSpPr>
          <p:cNvPr id="10" name="Shape 8"/>
          <p:cNvSpPr/>
          <p:nvPr/>
        </p:nvSpPr>
        <p:spPr>
          <a:xfrm>
            <a:off x="987552" y="3493008"/>
            <a:ext cx="576072" cy="64008"/>
          </a:xfrm>
          <a:prstGeom prst="roundRect">
            <a:avLst>
              <a:gd name="adj" fmla="val 57143"/>
            </a:avLst>
          </a:prstGeom>
          <a:solidFill>
            <a:srgbClr val="E8E9E1"/>
          </a:solidFill>
          <a:ln w="10160">
            <a:solidFill>
              <a:srgbClr val="E8E9E1">
                <a:alpha val="0"/>
              </a:srgbClr>
            </a:solidFill>
            <a:prstDash val="solid"/>
          </a:ln>
        </p:spPr>
      </p:sp>
      <p:sp>
        <p:nvSpPr>
          <p:cNvPr id="11" name="Shape 9"/>
          <p:cNvSpPr/>
          <p:nvPr/>
        </p:nvSpPr>
        <p:spPr>
          <a:xfrm>
            <a:off x="1828800" y="3182112"/>
            <a:ext cx="786384" cy="530352"/>
          </a:xfrm>
          <a:prstGeom prst="roundRect">
            <a:avLst>
              <a:gd name="adj" fmla="val 12069"/>
            </a:avLst>
          </a:prstGeom>
          <a:solidFill>
            <a:srgbClr val="FFFFFF"/>
          </a:solidFill>
          <a:ln w="10160">
            <a:solidFill>
              <a:srgbClr val="FFFFFF">
                <a:alpha val="0"/>
              </a:srgbClr>
            </a:solidFill>
            <a:prstDash val="solid"/>
          </a:ln>
        </p:spPr>
      </p:sp>
      <p:sp>
        <p:nvSpPr>
          <p:cNvPr id="12" name="Shape 10"/>
          <p:cNvSpPr/>
          <p:nvPr/>
        </p:nvSpPr>
        <p:spPr>
          <a:xfrm>
            <a:off x="1920240" y="3310128"/>
            <a:ext cx="438912" cy="82296"/>
          </a:xfrm>
          <a:prstGeom prst="roundRect">
            <a:avLst>
              <a:gd name="adj" fmla="val 44444"/>
            </a:avLst>
          </a:prstGeom>
          <a:solidFill>
            <a:srgbClr val="E7A54A"/>
          </a:solidFill>
          <a:ln w="10160">
            <a:solidFill>
              <a:srgbClr val="E7A54A">
                <a:alpha val="0"/>
              </a:srgbClr>
            </a:solidFill>
            <a:prstDash val="solid"/>
          </a:ln>
        </p:spPr>
      </p:sp>
      <p:sp>
        <p:nvSpPr>
          <p:cNvPr id="13" name="Shape 11"/>
          <p:cNvSpPr/>
          <p:nvPr/>
        </p:nvSpPr>
        <p:spPr>
          <a:xfrm>
            <a:off x="1920240" y="3493008"/>
            <a:ext cx="576072" cy="64008"/>
          </a:xfrm>
          <a:prstGeom prst="roundRect">
            <a:avLst>
              <a:gd name="adj" fmla="val 57143"/>
            </a:avLst>
          </a:prstGeom>
          <a:solidFill>
            <a:srgbClr val="E8E9E1"/>
          </a:solidFill>
          <a:ln w="10160">
            <a:solidFill>
              <a:srgbClr val="E8E9E1">
                <a:alpha val="0"/>
              </a:srgbClr>
            </a:solidFill>
            <a:prstDash val="solid"/>
          </a:ln>
        </p:spPr>
      </p:sp>
      <p:sp>
        <p:nvSpPr>
          <p:cNvPr id="14" name="Shape 12"/>
          <p:cNvSpPr/>
          <p:nvPr/>
        </p:nvSpPr>
        <p:spPr>
          <a:xfrm>
            <a:off x="2761488" y="3182112"/>
            <a:ext cx="786384" cy="530352"/>
          </a:xfrm>
          <a:prstGeom prst="roundRect">
            <a:avLst>
              <a:gd name="adj" fmla="val 12069"/>
            </a:avLst>
          </a:prstGeom>
          <a:solidFill>
            <a:srgbClr val="FFFFFF"/>
          </a:solidFill>
          <a:ln w="10160">
            <a:solidFill>
              <a:srgbClr val="FFFFFF">
                <a:alpha val="0"/>
              </a:srgbClr>
            </a:solidFill>
            <a:prstDash val="solid"/>
          </a:ln>
        </p:spPr>
      </p:sp>
      <p:sp>
        <p:nvSpPr>
          <p:cNvPr id="15" name="Shape 13"/>
          <p:cNvSpPr/>
          <p:nvPr/>
        </p:nvSpPr>
        <p:spPr>
          <a:xfrm>
            <a:off x="2852928" y="3310128"/>
            <a:ext cx="438912" cy="82296"/>
          </a:xfrm>
          <a:prstGeom prst="roundRect">
            <a:avLst>
              <a:gd name="adj" fmla="val 44444"/>
            </a:avLst>
          </a:prstGeom>
          <a:solidFill>
            <a:srgbClr val="2E8069"/>
          </a:solidFill>
          <a:ln w="10160">
            <a:solidFill>
              <a:srgbClr val="2E8069">
                <a:alpha val="0"/>
              </a:srgbClr>
            </a:solidFill>
            <a:prstDash val="solid"/>
          </a:ln>
        </p:spPr>
      </p:sp>
      <p:sp>
        <p:nvSpPr>
          <p:cNvPr id="16" name="Shape 14"/>
          <p:cNvSpPr/>
          <p:nvPr/>
        </p:nvSpPr>
        <p:spPr>
          <a:xfrm>
            <a:off x="2852928" y="3493008"/>
            <a:ext cx="576072" cy="64008"/>
          </a:xfrm>
          <a:prstGeom prst="roundRect">
            <a:avLst>
              <a:gd name="adj" fmla="val 57143"/>
            </a:avLst>
          </a:prstGeom>
          <a:solidFill>
            <a:srgbClr val="E8E9E1"/>
          </a:solidFill>
          <a:ln w="10160">
            <a:solidFill>
              <a:srgbClr val="E8E9E1">
                <a:alpha val="0"/>
              </a:srgbClr>
            </a:solidFill>
            <a:prstDash val="solid"/>
          </a:ln>
        </p:spPr>
      </p:sp>
      <p:sp>
        <p:nvSpPr>
          <p:cNvPr id="17" name="Shape 15"/>
          <p:cNvSpPr/>
          <p:nvPr/>
        </p:nvSpPr>
        <p:spPr>
          <a:xfrm>
            <a:off x="896112" y="3913632"/>
            <a:ext cx="2880360" cy="804672"/>
          </a:xfrm>
          <a:prstGeom prst="roundRect">
            <a:avLst>
              <a:gd name="adj" fmla="val 9091"/>
            </a:avLst>
          </a:prstGeom>
          <a:solidFill>
            <a:srgbClr val="FFFFFF"/>
          </a:solidFill>
          <a:ln w="10160">
            <a:solidFill>
              <a:srgbClr val="FFFFFF">
                <a:alpha val="0"/>
              </a:srgbClr>
            </a:solidFill>
            <a:prstDash val="solid"/>
          </a:ln>
        </p:spPr>
      </p:sp>
      <p:sp>
        <p:nvSpPr>
          <p:cNvPr id="18" name="Shape 16"/>
          <p:cNvSpPr/>
          <p:nvPr/>
        </p:nvSpPr>
        <p:spPr>
          <a:xfrm>
            <a:off x="1051560" y="4133088"/>
            <a:ext cx="310896" cy="329184"/>
          </a:xfrm>
          <a:prstGeom prst="roundRect">
            <a:avLst>
              <a:gd name="adj" fmla="val 17647"/>
            </a:avLst>
          </a:prstGeom>
          <a:solidFill>
            <a:srgbClr val="2E8069"/>
          </a:solidFill>
          <a:ln w="10160">
            <a:solidFill>
              <a:srgbClr val="2E8069">
                <a:alpha val="0"/>
              </a:srgbClr>
            </a:solidFill>
            <a:prstDash val="solid"/>
          </a:ln>
        </p:spPr>
      </p:sp>
      <p:sp>
        <p:nvSpPr>
          <p:cNvPr id="19" name="Shape 17"/>
          <p:cNvSpPr/>
          <p:nvPr/>
        </p:nvSpPr>
        <p:spPr>
          <a:xfrm>
            <a:off x="1600200" y="4133088"/>
            <a:ext cx="310896" cy="493776"/>
          </a:xfrm>
          <a:prstGeom prst="roundRect">
            <a:avLst>
              <a:gd name="adj" fmla="val 17647"/>
            </a:avLst>
          </a:prstGeom>
          <a:solidFill>
            <a:srgbClr val="E7A54A"/>
          </a:solidFill>
          <a:ln w="10160">
            <a:solidFill>
              <a:srgbClr val="E7A54A">
                <a:alpha val="0"/>
              </a:srgbClr>
            </a:solidFill>
            <a:prstDash val="solid"/>
          </a:ln>
        </p:spPr>
      </p:sp>
      <p:sp>
        <p:nvSpPr>
          <p:cNvPr id="20" name="Shape 18"/>
          <p:cNvSpPr/>
          <p:nvPr/>
        </p:nvSpPr>
        <p:spPr>
          <a:xfrm>
            <a:off x="2148840" y="4133088"/>
            <a:ext cx="310896" cy="329184"/>
          </a:xfrm>
          <a:prstGeom prst="roundRect">
            <a:avLst>
              <a:gd name="adj" fmla="val 17647"/>
            </a:avLst>
          </a:prstGeom>
          <a:solidFill>
            <a:srgbClr val="5B88A0"/>
          </a:solidFill>
          <a:ln w="10160">
            <a:solidFill>
              <a:srgbClr val="5B88A0">
                <a:alpha val="0"/>
              </a:srgbClr>
            </a:solidFill>
            <a:prstDash val="solid"/>
          </a:ln>
        </p:spPr>
      </p:sp>
      <p:sp>
        <p:nvSpPr>
          <p:cNvPr id="21" name="Shape 19"/>
          <p:cNvSpPr/>
          <p:nvPr/>
        </p:nvSpPr>
        <p:spPr>
          <a:xfrm>
            <a:off x="2697480" y="4133088"/>
            <a:ext cx="310896" cy="493776"/>
          </a:xfrm>
          <a:prstGeom prst="roundRect">
            <a:avLst>
              <a:gd name="adj" fmla="val 17647"/>
            </a:avLst>
          </a:prstGeom>
          <a:solidFill>
            <a:srgbClr val="8A7EAA"/>
          </a:solidFill>
          <a:ln w="10160">
            <a:solidFill>
              <a:srgbClr val="8A7EAA">
                <a:alpha val="0"/>
              </a:srgbClr>
            </a:solidFill>
            <a:prstDash val="solid"/>
          </a:ln>
        </p:spPr>
      </p:sp>
      <p:sp>
        <p:nvSpPr>
          <p:cNvPr id="22" name="Shape 20"/>
          <p:cNvSpPr/>
          <p:nvPr/>
        </p:nvSpPr>
        <p:spPr>
          <a:xfrm>
            <a:off x="4370832" y="1847088"/>
            <a:ext cx="3438144" cy="3611880"/>
          </a:xfrm>
          <a:prstGeom prst="roundRect">
            <a:avLst>
              <a:gd name="adj" fmla="val 3457"/>
            </a:avLst>
          </a:prstGeom>
          <a:solidFill>
            <a:srgbClr val="E7EEF1"/>
          </a:solidFill>
          <a:ln w="10160">
            <a:solidFill>
              <a:srgbClr val="E7EEF1">
                <a:alpha val="0"/>
              </a:srgbClr>
            </a:solidFill>
            <a:prstDash val="solid"/>
          </a:ln>
        </p:spPr>
      </p:sp>
      <p:sp>
        <p:nvSpPr>
          <p:cNvPr id="23" name="Shape 21"/>
          <p:cNvSpPr/>
          <p:nvPr/>
        </p:nvSpPr>
        <p:spPr>
          <a:xfrm>
            <a:off x="4370832" y="1993392"/>
            <a:ext cx="50292" cy="3319272"/>
          </a:xfrm>
          <a:prstGeom prst="roundRect">
            <a:avLst>
              <a:gd name="adj" fmla="val 36364"/>
            </a:avLst>
          </a:prstGeom>
          <a:solidFill>
            <a:srgbClr val="5B88A0"/>
          </a:solidFill>
          <a:ln w="10160">
            <a:solidFill>
              <a:srgbClr val="5B88A0">
                <a:alpha val="0"/>
              </a:srgbClr>
            </a:solidFill>
            <a:prstDash val="solid"/>
          </a:ln>
        </p:spPr>
      </p:sp>
      <p:sp>
        <p:nvSpPr>
          <p:cNvPr id="24" name="Text 22"/>
          <p:cNvSpPr/>
          <p:nvPr/>
        </p:nvSpPr>
        <p:spPr>
          <a:xfrm>
            <a:off x="4608576" y="2112264"/>
            <a:ext cx="2651760" cy="201168"/>
          </a:xfrm>
          <a:prstGeom prst="rect">
            <a:avLst/>
          </a:prstGeom>
          <a:noFill/>
          <a:ln/>
        </p:spPr>
        <p:txBody>
          <a:bodyPr wrap="square" lIns="0" tIns="0" rIns="0" bIns="0" rtlCol="0" anchor="ctr">
            <a:normAutofit/>
          </a:bodyPr>
          <a:lstStyle/>
          <a:p>
            <a:pPr algn="l" indent="0" marL="0">
              <a:buNone/>
            </a:pPr>
            <a:r>
              <a:rPr lang="en-US" sz="900" b="1" spc="80" kern="0" dirty="0">
                <a:solidFill>
                  <a:srgbClr val="5B88A0"/>
                </a:solidFill>
                <a:latin typeface="Aptos" pitchFamily="34" charset="0"/>
                <a:ea typeface="Aptos" pitchFamily="34" charset="-122"/>
                <a:cs typeface="Aptos" pitchFamily="34" charset="-120"/>
              </a:rPr>
              <a:t>02  RESEARCH</a:t>
            </a:r>
            <a:endParaRPr lang="en-US" sz="900" dirty="0"/>
          </a:p>
        </p:txBody>
      </p:sp>
      <p:sp>
        <p:nvSpPr>
          <p:cNvPr id="25" name="Text 23"/>
          <p:cNvSpPr/>
          <p:nvPr/>
        </p:nvSpPr>
        <p:spPr>
          <a:xfrm>
            <a:off x="4608576" y="2478024"/>
            <a:ext cx="2807208" cy="502920"/>
          </a:xfrm>
          <a:prstGeom prst="rect">
            <a:avLst/>
          </a:prstGeom>
          <a:noFill/>
          <a:ln/>
        </p:spPr>
        <p:txBody>
          <a:bodyPr wrap="square" lIns="0" tIns="0" rIns="0" bIns="0" rtlCol="0" anchor="t">
            <a:normAutofit/>
          </a:bodyPr>
          <a:lstStyle/>
          <a:p>
            <a:pPr algn="l" indent="0" marL="0">
              <a:buNone/>
            </a:pPr>
            <a:r>
              <a:rPr lang="en-US" sz="1800" b="1" dirty="0">
                <a:solidFill>
                  <a:srgbClr val="182D2A"/>
                </a:solidFill>
                <a:latin typeface="Georgia" pitchFamily="34" charset="0"/>
                <a:ea typeface="Georgia" pitchFamily="34" charset="-122"/>
                <a:cs typeface="Georgia" pitchFamily="34" charset="-120"/>
              </a:rPr>
              <a:t>Define the query</a:t>
            </a:r>
            <a:endParaRPr lang="en-US" sz="1800" dirty="0"/>
          </a:p>
        </p:txBody>
      </p:sp>
      <p:sp>
        <p:nvSpPr>
          <p:cNvPr id="26" name="Text 24"/>
          <p:cNvSpPr/>
          <p:nvPr/>
        </p:nvSpPr>
        <p:spPr>
          <a:xfrm>
            <a:off x="4654296" y="3127248"/>
            <a:ext cx="1508760" cy="155448"/>
          </a:xfrm>
          <a:prstGeom prst="rect">
            <a:avLst/>
          </a:prstGeom>
          <a:noFill/>
          <a:ln/>
        </p:spPr>
        <p:txBody>
          <a:bodyPr wrap="square" lIns="0" tIns="0" rIns="0" bIns="0" rtlCol="0" anchor="ctr">
            <a:normAutofit/>
          </a:bodyPr>
          <a:lstStyle/>
          <a:p>
            <a:pPr algn="l" indent="0" marL="0">
              <a:buNone/>
            </a:pPr>
            <a:r>
              <a:rPr lang="en-US" sz="800" b="1" spc="50" kern="0" dirty="0">
                <a:solidFill>
                  <a:srgbClr val="64766E"/>
                </a:solidFill>
                <a:latin typeface="Aptos" pitchFamily="34" charset="0"/>
                <a:ea typeface="Aptos" pitchFamily="34" charset="-122"/>
                <a:cs typeface="Aptos" pitchFamily="34" charset="-120"/>
              </a:rPr>
              <a:t>TOPIC / INITIATIVE</a:t>
            </a:r>
            <a:endParaRPr lang="en-US" sz="800" dirty="0"/>
          </a:p>
        </p:txBody>
      </p:sp>
      <p:sp>
        <p:nvSpPr>
          <p:cNvPr id="27" name="Shape 25"/>
          <p:cNvSpPr/>
          <p:nvPr/>
        </p:nvSpPr>
        <p:spPr>
          <a:xfrm>
            <a:off x="6062472" y="3108960"/>
            <a:ext cx="1243584" cy="219456"/>
          </a:xfrm>
          <a:prstGeom prst="roundRect">
            <a:avLst>
              <a:gd name="adj" fmla="val 20833"/>
            </a:avLst>
          </a:prstGeom>
          <a:solidFill>
            <a:srgbClr val="FFFFFF"/>
          </a:solidFill>
          <a:ln w="10160">
            <a:solidFill>
              <a:srgbClr val="FFFFFF">
                <a:alpha val="0"/>
              </a:srgbClr>
            </a:solidFill>
            <a:prstDash val="solid"/>
          </a:ln>
        </p:spPr>
      </p:sp>
      <p:sp>
        <p:nvSpPr>
          <p:cNvPr id="28" name="Text 26"/>
          <p:cNvSpPr/>
          <p:nvPr/>
        </p:nvSpPr>
        <p:spPr>
          <a:xfrm>
            <a:off x="4654296" y="3557016"/>
            <a:ext cx="1508760" cy="155448"/>
          </a:xfrm>
          <a:prstGeom prst="rect">
            <a:avLst/>
          </a:prstGeom>
          <a:noFill/>
          <a:ln/>
        </p:spPr>
        <p:txBody>
          <a:bodyPr wrap="square" lIns="0" tIns="0" rIns="0" bIns="0" rtlCol="0" anchor="ctr">
            <a:normAutofit/>
          </a:bodyPr>
          <a:lstStyle/>
          <a:p>
            <a:pPr algn="l" indent="0" marL="0">
              <a:buNone/>
            </a:pPr>
            <a:r>
              <a:rPr lang="en-US" sz="800" b="1" spc="50" kern="0" dirty="0">
                <a:solidFill>
                  <a:srgbClr val="64766E"/>
                </a:solidFill>
                <a:latin typeface="Aptos" pitchFamily="34" charset="0"/>
                <a:ea typeface="Aptos" pitchFamily="34" charset="-122"/>
                <a:cs typeface="Aptos" pitchFamily="34" charset="-120"/>
              </a:rPr>
              <a:t>DATE RANGE</a:t>
            </a:r>
            <a:endParaRPr lang="en-US" sz="800" dirty="0"/>
          </a:p>
        </p:txBody>
      </p:sp>
      <p:sp>
        <p:nvSpPr>
          <p:cNvPr id="29" name="Shape 27"/>
          <p:cNvSpPr/>
          <p:nvPr/>
        </p:nvSpPr>
        <p:spPr>
          <a:xfrm>
            <a:off x="6062472" y="3538728"/>
            <a:ext cx="1243584" cy="219456"/>
          </a:xfrm>
          <a:prstGeom prst="roundRect">
            <a:avLst>
              <a:gd name="adj" fmla="val 20833"/>
            </a:avLst>
          </a:prstGeom>
          <a:solidFill>
            <a:srgbClr val="FFFFFF"/>
          </a:solidFill>
          <a:ln w="10160">
            <a:solidFill>
              <a:srgbClr val="FFFFFF">
                <a:alpha val="0"/>
              </a:srgbClr>
            </a:solidFill>
            <a:prstDash val="solid"/>
          </a:ln>
        </p:spPr>
      </p:sp>
      <p:sp>
        <p:nvSpPr>
          <p:cNvPr id="30" name="Text 28"/>
          <p:cNvSpPr/>
          <p:nvPr/>
        </p:nvSpPr>
        <p:spPr>
          <a:xfrm>
            <a:off x="4654296" y="3986784"/>
            <a:ext cx="1508760" cy="155448"/>
          </a:xfrm>
          <a:prstGeom prst="rect">
            <a:avLst/>
          </a:prstGeom>
          <a:noFill/>
          <a:ln/>
        </p:spPr>
        <p:txBody>
          <a:bodyPr wrap="square" lIns="0" tIns="0" rIns="0" bIns="0" rtlCol="0" anchor="ctr">
            <a:normAutofit/>
          </a:bodyPr>
          <a:lstStyle/>
          <a:p>
            <a:pPr algn="l" indent="0" marL="0">
              <a:buNone/>
            </a:pPr>
            <a:r>
              <a:rPr lang="en-US" sz="800" b="1" spc="50" kern="0" dirty="0">
                <a:solidFill>
                  <a:srgbClr val="64766E"/>
                </a:solidFill>
                <a:latin typeface="Aptos" pitchFamily="34" charset="0"/>
                <a:ea typeface="Aptos" pitchFamily="34" charset="-122"/>
                <a:cs typeface="Aptos" pitchFamily="34" charset="-120"/>
              </a:rPr>
              <a:t>LANGUAGE SAMPLE</a:t>
            </a:r>
            <a:endParaRPr lang="en-US" sz="800" dirty="0"/>
          </a:p>
        </p:txBody>
      </p:sp>
      <p:sp>
        <p:nvSpPr>
          <p:cNvPr id="31" name="Shape 29"/>
          <p:cNvSpPr/>
          <p:nvPr/>
        </p:nvSpPr>
        <p:spPr>
          <a:xfrm>
            <a:off x="6062472" y="3968496"/>
            <a:ext cx="1243584" cy="219456"/>
          </a:xfrm>
          <a:prstGeom prst="roundRect">
            <a:avLst>
              <a:gd name="adj" fmla="val 20833"/>
            </a:avLst>
          </a:prstGeom>
          <a:solidFill>
            <a:srgbClr val="FFFFFF"/>
          </a:solidFill>
          <a:ln w="10160">
            <a:solidFill>
              <a:srgbClr val="FFFFFF">
                <a:alpha val="0"/>
              </a:srgbClr>
            </a:solidFill>
            <a:prstDash val="solid"/>
          </a:ln>
        </p:spPr>
      </p:sp>
      <p:sp>
        <p:nvSpPr>
          <p:cNvPr id="32" name="Text 30"/>
          <p:cNvSpPr/>
          <p:nvPr/>
        </p:nvSpPr>
        <p:spPr>
          <a:xfrm>
            <a:off x="4654296" y="4416552"/>
            <a:ext cx="1508760" cy="155448"/>
          </a:xfrm>
          <a:prstGeom prst="rect">
            <a:avLst/>
          </a:prstGeom>
          <a:noFill/>
          <a:ln/>
        </p:spPr>
        <p:txBody>
          <a:bodyPr wrap="square" lIns="0" tIns="0" rIns="0" bIns="0" rtlCol="0" anchor="ctr">
            <a:normAutofit/>
          </a:bodyPr>
          <a:lstStyle/>
          <a:p>
            <a:pPr algn="l" indent="0" marL="0">
              <a:buNone/>
            </a:pPr>
            <a:r>
              <a:rPr lang="en-US" sz="800" b="1" spc="50" kern="0" dirty="0">
                <a:solidFill>
                  <a:srgbClr val="64766E"/>
                </a:solidFill>
                <a:latin typeface="Aptos" pitchFamily="34" charset="0"/>
                <a:ea typeface="Aptos" pitchFamily="34" charset="-122"/>
                <a:cs typeface="Aptos" pitchFamily="34" charset="-120"/>
              </a:rPr>
              <a:t>OPTIONAL OUTLETS</a:t>
            </a:r>
            <a:endParaRPr lang="en-US" sz="800" dirty="0"/>
          </a:p>
        </p:txBody>
      </p:sp>
      <p:sp>
        <p:nvSpPr>
          <p:cNvPr id="33" name="Shape 31"/>
          <p:cNvSpPr/>
          <p:nvPr/>
        </p:nvSpPr>
        <p:spPr>
          <a:xfrm>
            <a:off x="6062472" y="4398264"/>
            <a:ext cx="1243584" cy="219456"/>
          </a:xfrm>
          <a:prstGeom prst="roundRect">
            <a:avLst>
              <a:gd name="adj" fmla="val 20833"/>
            </a:avLst>
          </a:prstGeom>
          <a:solidFill>
            <a:srgbClr val="FFFFFF"/>
          </a:solidFill>
          <a:ln w="10160">
            <a:solidFill>
              <a:srgbClr val="FFFFFF">
                <a:alpha val="0"/>
              </a:srgbClr>
            </a:solidFill>
            <a:prstDash val="solid"/>
          </a:ln>
        </p:spPr>
      </p:sp>
      <p:sp>
        <p:nvSpPr>
          <p:cNvPr id="34" name="Shape 32"/>
          <p:cNvSpPr/>
          <p:nvPr/>
        </p:nvSpPr>
        <p:spPr>
          <a:xfrm>
            <a:off x="4672584" y="4965192"/>
            <a:ext cx="1554480" cy="301752"/>
          </a:xfrm>
          <a:prstGeom prst="roundRect">
            <a:avLst>
              <a:gd name="adj" fmla="val 39394"/>
            </a:avLst>
          </a:prstGeom>
          <a:solidFill>
            <a:srgbClr val="173D35"/>
          </a:solidFill>
          <a:ln w="10160">
            <a:solidFill>
              <a:srgbClr val="173D35">
                <a:alpha val="0"/>
              </a:srgbClr>
            </a:solidFill>
            <a:prstDash val="solid"/>
          </a:ln>
        </p:spPr>
      </p:sp>
      <p:sp>
        <p:nvSpPr>
          <p:cNvPr id="35" name="Text 33"/>
          <p:cNvSpPr/>
          <p:nvPr/>
        </p:nvSpPr>
        <p:spPr>
          <a:xfrm>
            <a:off x="4764024" y="4974336"/>
            <a:ext cx="1371600" cy="283464"/>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Aptos" pitchFamily="34" charset="0"/>
                <a:ea typeface="Aptos" pitchFamily="34" charset="-122"/>
                <a:cs typeface="Aptos" pitchFamily="34" charset="-120"/>
              </a:rPr>
              <a:t>SEARCH + ANALYZE</a:t>
            </a:r>
            <a:endParaRPr lang="en-US" sz="900" dirty="0"/>
          </a:p>
        </p:txBody>
      </p:sp>
      <p:sp>
        <p:nvSpPr>
          <p:cNvPr id="36" name="Shape 34"/>
          <p:cNvSpPr/>
          <p:nvPr/>
        </p:nvSpPr>
        <p:spPr>
          <a:xfrm>
            <a:off x="8101584" y="1847088"/>
            <a:ext cx="3438144" cy="3611880"/>
          </a:xfrm>
          <a:prstGeom prst="roundRect">
            <a:avLst>
              <a:gd name="adj" fmla="val 3457"/>
            </a:avLst>
          </a:prstGeom>
          <a:solidFill>
            <a:srgbClr val="F7EBD7"/>
          </a:solidFill>
          <a:ln w="10160">
            <a:solidFill>
              <a:srgbClr val="F7EBD7">
                <a:alpha val="0"/>
              </a:srgbClr>
            </a:solidFill>
            <a:prstDash val="solid"/>
          </a:ln>
        </p:spPr>
      </p:sp>
      <p:sp>
        <p:nvSpPr>
          <p:cNvPr id="37" name="Shape 35"/>
          <p:cNvSpPr/>
          <p:nvPr/>
        </p:nvSpPr>
        <p:spPr>
          <a:xfrm>
            <a:off x="8101584" y="1993392"/>
            <a:ext cx="50292" cy="3319272"/>
          </a:xfrm>
          <a:prstGeom prst="roundRect">
            <a:avLst>
              <a:gd name="adj" fmla="val 36364"/>
            </a:avLst>
          </a:prstGeom>
          <a:solidFill>
            <a:srgbClr val="E7A54A"/>
          </a:solidFill>
          <a:ln w="10160">
            <a:solidFill>
              <a:srgbClr val="E7A54A">
                <a:alpha val="0"/>
              </a:srgbClr>
            </a:solidFill>
            <a:prstDash val="solid"/>
          </a:ln>
        </p:spPr>
      </p:sp>
      <p:sp>
        <p:nvSpPr>
          <p:cNvPr id="38" name="Text 36"/>
          <p:cNvSpPr/>
          <p:nvPr/>
        </p:nvSpPr>
        <p:spPr>
          <a:xfrm>
            <a:off x="8339328" y="2112264"/>
            <a:ext cx="2651760" cy="201168"/>
          </a:xfrm>
          <a:prstGeom prst="rect">
            <a:avLst/>
          </a:prstGeom>
          <a:noFill/>
          <a:ln/>
        </p:spPr>
        <p:txBody>
          <a:bodyPr wrap="square" lIns="0" tIns="0" rIns="0" bIns="0" rtlCol="0" anchor="ctr">
            <a:normAutofit/>
          </a:bodyPr>
          <a:lstStyle/>
          <a:p>
            <a:pPr algn="l" indent="0" marL="0">
              <a:buNone/>
            </a:pPr>
            <a:r>
              <a:rPr lang="en-US" sz="900" b="1" spc="80" kern="0" dirty="0">
                <a:solidFill>
                  <a:srgbClr val="E7A54A"/>
                </a:solidFill>
                <a:latin typeface="Aptos" pitchFamily="34" charset="0"/>
                <a:ea typeface="Aptos" pitchFamily="34" charset="-122"/>
                <a:cs typeface="Aptos" pitchFamily="34" charset="-120"/>
              </a:rPr>
              <a:t>03  ARTICLE</a:t>
            </a:r>
            <a:endParaRPr lang="en-US" sz="900" dirty="0"/>
          </a:p>
        </p:txBody>
      </p:sp>
      <p:sp>
        <p:nvSpPr>
          <p:cNvPr id="39" name="Text 37"/>
          <p:cNvSpPr/>
          <p:nvPr/>
        </p:nvSpPr>
        <p:spPr>
          <a:xfrm>
            <a:off x="8339328" y="2478024"/>
            <a:ext cx="2807208" cy="502920"/>
          </a:xfrm>
          <a:prstGeom prst="rect">
            <a:avLst/>
          </a:prstGeom>
          <a:noFill/>
          <a:ln/>
        </p:spPr>
        <p:txBody>
          <a:bodyPr wrap="square" lIns="0" tIns="0" rIns="0" bIns="0" rtlCol="0" anchor="t">
            <a:normAutofit/>
          </a:bodyPr>
          <a:lstStyle/>
          <a:p>
            <a:pPr algn="l" indent="0" marL="0">
              <a:buNone/>
            </a:pPr>
            <a:r>
              <a:rPr lang="en-US" sz="1800" b="1" dirty="0">
                <a:solidFill>
                  <a:srgbClr val="182D2A"/>
                </a:solidFill>
                <a:latin typeface="Georgia" pitchFamily="34" charset="0"/>
                <a:ea typeface="Georgia" pitchFamily="34" charset="-122"/>
                <a:cs typeface="Georgia" pitchFamily="34" charset="-120"/>
              </a:rPr>
              <a:t>Inspect the record</a:t>
            </a:r>
            <a:endParaRPr lang="en-US" sz="1800" dirty="0"/>
          </a:p>
        </p:txBody>
      </p:sp>
      <p:sp>
        <p:nvSpPr>
          <p:cNvPr id="40" name="Text 38"/>
          <p:cNvSpPr/>
          <p:nvPr/>
        </p:nvSpPr>
        <p:spPr>
          <a:xfrm>
            <a:off x="8375904" y="3163824"/>
            <a:ext cx="2468880" cy="182880"/>
          </a:xfrm>
          <a:prstGeom prst="rect">
            <a:avLst/>
          </a:prstGeom>
          <a:noFill/>
          <a:ln/>
        </p:spPr>
        <p:txBody>
          <a:bodyPr wrap="square" lIns="0" tIns="0" rIns="0" bIns="0" rtlCol="0" anchor="ctr">
            <a:normAutofit/>
          </a:bodyPr>
          <a:lstStyle/>
          <a:p>
            <a:pPr algn="l" indent="0" marL="0">
              <a:buNone/>
            </a:pPr>
            <a:r>
              <a:rPr lang="en-US" sz="900" b="1" dirty="0">
                <a:solidFill>
                  <a:srgbClr val="C8734E"/>
                </a:solidFill>
                <a:latin typeface="Aptos" pitchFamily="34" charset="0"/>
                <a:ea typeface="Aptos" pitchFamily="34" charset="-122"/>
                <a:cs typeface="Aptos" pitchFamily="34" charset="-120"/>
              </a:rPr>
              <a:t>Synthetic article</a:t>
            </a:r>
            <a:endParaRPr lang="en-US" sz="900" dirty="0"/>
          </a:p>
        </p:txBody>
      </p:sp>
      <p:sp>
        <p:nvSpPr>
          <p:cNvPr id="41" name="Text 39"/>
          <p:cNvSpPr/>
          <p:nvPr/>
        </p:nvSpPr>
        <p:spPr>
          <a:xfrm>
            <a:off x="8375904" y="3474720"/>
            <a:ext cx="2788920" cy="201168"/>
          </a:xfrm>
          <a:prstGeom prst="rect">
            <a:avLst/>
          </a:prstGeom>
          <a:noFill/>
          <a:ln/>
        </p:spPr>
        <p:txBody>
          <a:bodyPr wrap="square" lIns="0" tIns="0" rIns="0" bIns="0" rtlCol="0" anchor="ctr">
            <a:normAutofit/>
          </a:bodyPr>
          <a:lstStyle/>
          <a:p>
            <a:pPr algn="l" indent="0" marL="0">
              <a:buNone/>
            </a:pPr>
            <a:r>
              <a:rPr lang="en-US" sz="1000" dirty="0">
                <a:solidFill>
                  <a:srgbClr val="64766E"/>
                </a:solidFill>
                <a:latin typeface="Aptos" pitchFamily="34" charset="0"/>
                <a:ea typeface="Aptos" pitchFamily="34" charset="-122"/>
                <a:cs typeface="Aptos" pitchFamily="34" charset="-120"/>
              </a:rPr>
              <a:t>Source, published date, language</a:t>
            </a:r>
            <a:endParaRPr lang="en-US" sz="1000" dirty="0"/>
          </a:p>
        </p:txBody>
      </p:sp>
      <p:sp>
        <p:nvSpPr>
          <p:cNvPr id="42" name="Shape 40"/>
          <p:cNvSpPr/>
          <p:nvPr/>
        </p:nvSpPr>
        <p:spPr>
          <a:xfrm>
            <a:off x="8375904" y="3803904"/>
            <a:ext cx="2862072" cy="530352"/>
          </a:xfrm>
          <a:prstGeom prst="roundRect">
            <a:avLst>
              <a:gd name="adj" fmla="val 12069"/>
            </a:avLst>
          </a:prstGeom>
          <a:solidFill>
            <a:srgbClr val="FFFFFF"/>
          </a:solidFill>
          <a:ln w="10160">
            <a:solidFill>
              <a:srgbClr val="FFFFFF">
                <a:alpha val="0"/>
              </a:srgbClr>
            </a:solidFill>
            <a:prstDash val="solid"/>
          </a:ln>
        </p:spPr>
      </p:sp>
      <p:sp>
        <p:nvSpPr>
          <p:cNvPr id="43" name="Text 41"/>
          <p:cNvSpPr/>
          <p:nvPr/>
        </p:nvSpPr>
        <p:spPr>
          <a:xfrm>
            <a:off x="8531352" y="3950208"/>
            <a:ext cx="2587752" cy="201168"/>
          </a:xfrm>
          <a:prstGeom prst="rect">
            <a:avLst/>
          </a:prstGeom>
          <a:noFill/>
          <a:ln/>
        </p:spPr>
        <p:txBody>
          <a:bodyPr wrap="square" lIns="0" tIns="0" rIns="0" bIns="0" rtlCol="0" anchor="ctr">
            <a:normAutofit/>
          </a:bodyPr>
          <a:lstStyle/>
          <a:p>
            <a:pPr algn="l" indent="0" marL="0">
              <a:buNone/>
            </a:pPr>
            <a:r>
              <a:rPr lang="en-US" sz="1000" i="1" dirty="0">
                <a:solidFill>
                  <a:srgbClr val="182D2A"/>
                </a:solidFill>
                <a:latin typeface="Aptos" pitchFamily="34" charset="0"/>
                <a:ea typeface="Aptos" pitchFamily="34" charset="-122"/>
                <a:cs typeface="Aptos" pitchFamily="34" charset="-120"/>
              </a:rPr>
              <a:t>Evidence snippet from stored text…</a:t>
            </a:r>
            <a:endParaRPr lang="en-US" sz="1000" dirty="0"/>
          </a:p>
        </p:txBody>
      </p:sp>
      <p:sp>
        <p:nvSpPr>
          <p:cNvPr id="44" name="Shape 42"/>
          <p:cNvSpPr/>
          <p:nvPr/>
        </p:nvSpPr>
        <p:spPr>
          <a:xfrm>
            <a:off x="8375904" y="4727448"/>
            <a:ext cx="1499616" cy="292608"/>
          </a:xfrm>
          <a:prstGeom prst="roundRect">
            <a:avLst>
              <a:gd name="adj" fmla="val 40625"/>
            </a:avLst>
          </a:prstGeom>
          <a:solidFill>
            <a:srgbClr val="FFFFFF"/>
          </a:solidFill>
          <a:ln w="10160">
            <a:solidFill>
              <a:srgbClr val="FFFFFF">
                <a:alpha val="0"/>
              </a:srgbClr>
            </a:solidFill>
            <a:prstDash val="solid"/>
          </a:ln>
        </p:spPr>
      </p:sp>
      <p:sp>
        <p:nvSpPr>
          <p:cNvPr id="45" name="Text 43"/>
          <p:cNvSpPr/>
          <p:nvPr/>
        </p:nvSpPr>
        <p:spPr>
          <a:xfrm>
            <a:off x="8467344" y="4736592"/>
            <a:ext cx="1316736" cy="274320"/>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OPEN SOURCE URL</a:t>
            </a:r>
            <a:endParaRPr lang="en-US" sz="900" dirty="0"/>
          </a:p>
        </p:txBody>
      </p:sp>
      <p:sp>
        <p:nvSpPr>
          <p:cNvPr id="46" name="Shape 44"/>
          <p:cNvSpPr/>
          <p:nvPr/>
        </p:nvSpPr>
        <p:spPr>
          <a:xfrm>
            <a:off x="4096512" y="3593592"/>
            <a:ext cx="173736" cy="0"/>
          </a:xfrm>
          <a:prstGeom prst="line">
            <a:avLst/>
          </a:prstGeom>
          <a:noFill/>
          <a:ln w="25400">
            <a:solidFill>
              <a:srgbClr val="173D35"/>
            </a:solidFill>
            <a:prstDash val="solid"/>
            <a:headEnd type="none"/>
            <a:tailEnd type="none"/>
          </a:ln>
        </p:spPr>
      </p:sp>
      <p:sp>
        <p:nvSpPr>
          <p:cNvPr id="47" name="Text 45"/>
          <p:cNvSpPr/>
          <p:nvPr/>
        </p:nvSpPr>
        <p:spPr>
          <a:xfrm>
            <a:off x="4050792" y="3429000"/>
            <a:ext cx="256032" cy="274320"/>
          </a:xfrm>
          <a:prstGeom prst="rect">
            <a:avLst/>
          </a:prstGeom>
          <a:noFill/>
          <a:ln/>
        </p:spPr>
        <p:txBody>
          <a:bodyPr wrap="square" lIns="0" tIns="0" rIns="0" bIns="0" rtlCol="0" anchor="ctr">
            <a:normAutofit/>
          </a:bodyPr>
          <a:lstStyle/>
          <a:p>
            <a:pPr algn="ctr" indent="0" marL="0">
              <a:buNone/>
            </a:pPr>
            <a:r>
              <a:rPr lang="en-US" sz="2000" b="1" dirty="0">
                <a:solidFill>
                  <a:srgbClr val="173D35"/>
                </a:solidFill>
                <a:latin typeface="Aptos" pitchFamily="34" charset="0"/>
                <a:ea typeface="Aptos" pitchFamily="34" charset="-122"/>
                <a:cs typeface="Aptos" pitchFamily="34" charset="-120"/>
              </a:rPr>
              <a:t>→</a:t>
            </a:r>
            <a:endParaRPr lang="en-US" sz="2000" dirty="0"/>
          </a:p>
        </p:txBody>
      </p:sp>
      <p:sp>
        <p:nvSpPr>
          <p:cNvPr id="48" name="Shape 46"/>
          <p:cNvSpPr/>
          <p:nvPr/>
        </p:nvSpPr>
        <p:spPr>
          <a:xfrm>
            <a:off x="7827264" y="3593592"/>
            <a:ext cx="173736" cy="0"/>
          </a:xfrm>
          <a:prstGeom prst="line">
            <a:avLst/>
          </a:prstGeom>
          <a:noFill/>
          <a:ln w="25400">
            <a:solidFill>
              <a:srgbClr val="173D35"/>
            </a:solidFill>
            <a:prstDash val="solid"/>
            <a:headEnd type="none"/>
            <a:tailEnd type="none"/>
          </a:ln>
        </p:spPr>
      </p:sp>
      <p:sp>
        <p:nvSpPr>
          <p:cNvPr id="49" name="Text 47"/>
          <p:cNvSpPr/>
          <p:nvPr/>
        </p:nvSpPr>
        <p:spPr>
          <a:xfrm>
            <a:off x="7772400" y="3429000"/>
            <a:ext cx="256032" cy="274320"/>
          </a:xfrm>
          <a:prstGeom prst="rect">
            <a:avLst/>
          </a:prstGeom>
          <a:noFill/>
          <a:ln/>
        </p:spPr>
        <p:txBody>
          <a:bodyPr wrap="square" lIns="0" tIns="0" rIns="0" bIns="0" rtlCol="0" anchor="ctr">
            <a:normAutofit/>
          </a:bodyPr>
          <a:lstStyle/>
          <a:p>
            <a:pPr algn="ctr" indent="0" marL="0">
              <a:buNone/>
            </a:pPr>
            <a:r>
              <a:rPr lang="en-US" sz="2000" b="1" dirty="0">
                <a:solidFill>
                  <a:srgbClr val="173D35"/>
                </a:solidFill>
                <a:latin typeface="Aptos" pitchFamily="34" charset="0"/>
                <a:ea typeface="Aptos" pitchFamily="34" charset="-122"/>
                <a:cs typeface="Aptos" pitchFamily="34" charset="-120"/>
              </a:rPr>
              <a:t>→</a:t>
            </a:r>
            <a:endParaRPr lang="en-US" sz="2000" dirty="0"/>
          </a:p>
        </p:txBody>
      </p:sp>
      <p:sp>
        <p:nvSpPr>
          <p:cNvPr id="50" name="Text 48"/>
          <p:cNvSpPr/>
          <p:nvPr/>
        </p:nvSpPr>
        <p:spPr>
          <a:xfrm>
            <a:off x="731520" y="5779008"/>
            <a:ext cx="8961120" cy="246888"/>
          </a:xfrm>
          <a:prstGeom prst="rect">
            <a:avLst/>
          </a:prstGeom>
          <a:noFill/>
          <a:ln/>
        </p:spPr>
        <p:txBody>
          <a:bodyPr wrap="square" lIns="0" tIns="0" rIns="0" bIns="0" rtlCol="0" anchor="ctr">
            <a:normAutofit/>
          </a:bodyPr>
          <a:lstStyle/>
          <a:p>
            <a:pPr algn="l" indent="0" marL="0">
              <a:buNone/>
            </a:pPr>
            <a:r>
              <a:rPr lang="en-US" sz="1200" i="1" dirty="0">
                <a:solidFill>
                  <a:srgbClr val="64766E"/>
                </a:solidFill>
                <a:latin typeface="Aptos" pitchFamily="34" charset="0"/>
                <a:ea typeface="Aptos" pitchFamily="34" charset="-122"/>
                <a:cs typeface="Aptos" pitchFamily="34" charset="-120"/>
              </a:rPr>
              <a:t>Also reachable via Stories → comparison → linked article</a:t>
            </a:r>
            <a:endParaRPr lang="en-US" sz="120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14 / CLOUD DEPLOYMENT</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Hosted as a small Workers + D1 prototype</a:t>
            </a:r>
            <a:endParaRPr lang="en-US" sz="3000" dirty="0"/>
          </a:p>
        </p:txBody>
      </p:sp>
      <p:sp>
        <p:nvSpPr>
          <p:cNvPr id="4" name="Shape 2"/>
          <p:cNvSpPr/>
          <p:nvPr/>
        </p:nvSpPr>
        <p:spPr>
          <a:xfrm>
            <a:off x="777240" y="2276856"/>
            <a:ext cx="1572768" cy="1426464"/>
          </a:xfrm>
          <a:prstGeom prst="roundRect">
            <a:avLst>
              <a:gd name="adj" fmla="val 8333"/>
            </a:avLst>
          </a:prstGeom>
          <a:solidFill>
            <a:srgbClr val="E7EEF1"/>
          </a:solidFill>
          <a:ln w="10160">
            <a:solidFill>
              <a:srgbClr val="E7EEF1">
                <a:alpha val="0"/>
              </a:srgbClr>
            </a:solidFill>
            <a:prstDash val="solid"/>
          </a:ln>
        </p:spPr>
      </p:sp>
      <p:sp>
        <p:nvSpPr>
          <p:cNvPr id="5" name="Shape 3"/>
          <p:cNvSpPr/>
          <p:nvPr/>
        </p:nvSpPr>
        <p:spPr>
          <a:xfrm>
            <a:off x="777240" y="2423160"/>
            <a:ext cx="50292" cy="1133856"/>
          </a:xfrm>
          <a:prstGeom prst="roundRect">
            <a:avLst>
              <a:gd name="adj" fmla="val 36364"/>
            </a:avLst>
          </a:prstGeom>
          <a:solidFill>
            <a:srgbClr val="5B88A0"/>
          </a:solidFill>
          <a:ln w="10160">
            <a:solidFill>
              <a:srgbClr val="5B88A0">
                <a:alpha val="0"/>
              </a:srgbClr>
            </a:solidFill>
            <a:prstDash val="solid"/>
          </a:ln>
        </p:spPr>
      </p:sp>
      <p:sp>
        <p:nvSpPr>
          <p:cNvPr id="6" name="Text 4"/>
          <p:cNvSpPr/>
          <p:nvPr/>
        </p:nvSpPr>
        <p:spPr>
          <a:xfrm>
            <a:off x="978408" y="2478024"/>
            <a:ext cx="118872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5B88A0"/>
                </a:solidFill>
                <a:latin typeface="Aptos" pitchFamily="34" charset="0"/>
                <a:ea typeface="Aptos" pitchFamily="34" charset="-122"/>
                <a:cs typeface="Aptos" pitchFamily="34" charset="-120"/>
              </a:rPr>
              <a:t>VISITOR</a:t>
            </a:r>
            <a:endParaRPr lang="en-US" sz="900" dirty="0"/>
          </a:p>
        </p:txBody>
      </p:sp>
      <p:sp>
        <p:nvSpPr>
          <p:cNvPr id="7" name="Text 5"/>
          <p:cNvSpPr/>
          <p:nvPr/>
        </p:nvSpPr>
        <p:spPr>
          <a:xfrm>
            <a:off x="978408" y="2843784"/>
            <a:ext cx="1188720" cy="530352"/>
          </a:xfrm>
          <a:prstGeom prst="rect">
            <a:avLst/>
          </a:prstGeom>
          <a:noFill/>
          <a:ln/>
        </p:spPr>
        <p:txBody>
          <a:bodyPr wrap="square" lIns="0" tIns="0" rIns="0" bIns="0" rtlCol="0" anchor="t">
            <a:normAutofit/>
          </a:bodyPr>
          <a:lstStyle/>
          <a:p>
            <a:pPr algn="l" indent="0" marL="0">
              <a:buNone/>
            </a:pPr>
            <a:r>
              <a:rPr lang="en-US" sz="1700" b="1" dirty="0">
                <a:solidFill>
                  <a:srgbClr val="182D2A"/>
                </a:solidFill>
                <a:latin typeface="Georgia" pitchFamily="34" charset="0"/>
                <a:ea typeface="Georgia" pitchFamily="34" charset="-122"/>
                <a:cs typeface="Georgia" pitchFamily="34" charset="-120"/>
              </a:rPr>
              <a:t>Browser</a:t>
            </a:r>
            <a:endParaRPr lang="en-US" sz="1700" dirty="0"/>
          </a:p>
        </p:txBody>
      </p:sp>
      <p:sp>
        <p:nvSpPr>
          <p:cNvPr id="8" name="Shape 6"/>
          <p:cNvSpPr/>
          <p:nvPr/>
        </p:nvSpPr>
        <p:spPr>
          <a:xfrm>
            <a:off x="2880360" y="2276856"/>
            <a:ext cx="1993392" cy="1426464"/>
          </a:xfrm>
          <a:prstGeom prst="roundRect">
            <a:avLst>
              <a:gd name="adj" fmla="val 8333"/>
            </a:avLst>
          </a:prstGeom>
          <a:solidFill>
            <a:srgbClr val="E5EFE8"/>
          </a:solidFill>
          <a:ln w="10160">
            <a:solidFill>
              <a:srgbClr val="E5EFE8">
                <a:alpha val="0"/>
              </a:srgbClr>
            </a:solidFill>
            <a:prstDash val="solid"/>
          </a:ln>
        </p:spPr>
      </p:sp>
      <p:sp>
        <p:nvSpPr>
          <p:cNvPr id="9" name="Shape 7"/>
          <p:cNvSpPr/>
          <p:nvPr/>
        </p:nvSpPr>
        <p:spPr>
          <a:xfrm>
            <a:off x="2880360" y="2423160"/>
            <a:ext cx="50292" cy="1133856"/>
          </a:xfrm>
          <a:prstGeom prst="roundRect">
            <a:avLst>
              <a:gd name="adj" fmla="val 36364"/>
            </a:avLst>
          </a:prstGeom>
          <a:solidFill>
            <a:srgbClr val="2E8069"/>
          </a:solidFill>
          <a:ln w="10160">
            <a:solidFill>
              <a:srgbClr val="2E8069">
                <a:alpha val="0"/>
              </a:srgbClr>
            </a:solidFill>
            <a:prstDash val="solid"/>
          </a:ln>
        </p:spPr>
      </p:sp>
      <p:sp>
        <p:nvSpPr>
          <p:cNvPr id="10" name="Text 8"/>
          <p:cNvSpPr/>
          <p:nvPr/>
        </p:nvSpPr>
        <p:spPr>
          <a:xfrm>
            <a:off x="3081528" y="2478024"/>
            <a:ext cx="1609344"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E8069"/>
                </a:solidFill>
                <a:latin typeface="Aptos" pitchFamily="34" charset="0"/>
                <a:ea typeface="Aptos" pitchFamily="34" charset="-122"/>
                <a:cs typeface="Aptos" pitchFamily="34" charset="-120"/>
              </a:rPr>
              <a:t>WEB</a:t>
            </a:r>
            <a:endParaRPr lang="en-US" sz="900" dirty="0"/>
          </a:p>
        </p:txBody>
      </p:sp>
      <p:sp>
        <p:nvSpPr>
          <p:cNvPr id="11" name="Text 9"/>
          <p:cNvSpPr/>
          <p:nvPr/>
        </p:nvSpPr>
        <p:spPr>
          <a:xfrm>
            <a:off x="3081528" y="2843784"/>
            <a:ext cx="1609344" cy="530352"/>
          </a:xfrm>
          <a:prstGeom prst="rect">
            <a:avLst/>
          </a:prstGeom>
          <a:noFill/>
          <a:ln/>
        </p:spPr>
        <p:txBody>
          <a:bodyPr wrap="square" lIns="0" tIns="0" rIns="0" bIns="0" rtlCol="0" anchor="t">
            <a:normAutofit/>
          </a:bodyPr>
          <a:lstStyle/>
          <a:p>
            <a:pPr algn="l" indent="0" marL="0">
              <a:buNone/>
            </a:pPr>
            <a:r>
              <a:rPr lang="en-US" sz="1700" b="1" dirty="0">
                <a:solidFill>
                  <a:srgbClr val="182D2A"/>
                </a:solidFill>
                <a:latin typeface="Georgia" pitchFamily="34" charset="0"/>
                <a:ea typeface="Georgia" pitchFamily="34" charset="-122"/>
                <a:cs typeface="Georgia" pitchFamily="34" charset="-120"/>
              </a:rPr>
              <a:t>Next.js</a:t>
            </a:r>
            <a:endParaRPr lang="en-US" sz="1700" dirty="0"/>
          </a:p>
          <a:p>
            <a:pPr algn="l" indent="0" marL="0">
              <a:buNone/>
            </a:pPr>
            <a:r>
              <a:rPr lang="en-US" sz="1700" b="1" dirty="0">
                <a:solidFill>
                  <a:srgbClr val="182D2A"/>
                </a:solidFill>
                <a:latin typeface="Georgia" pitchFamily="34" charset="0"/>
                <a:ea typeface="Georgia" pitchFamily="34" charset="-122"/>
                <a:cs typeface="Georgia" pitchFamily="34" charset="-120"/>
              </a:rPr>
              <a:t>OpenNext</a:t>
            </a:r>
            <a:endParaRPr lang="en-US" sz="1700" dirty="0"/>
          </a:p>
        </p:txBody>
      </p:sp>
      <p:sp>
        <p:nvSpPr>
          <p:cNvPr id="12" name="Shape 10"/>
          <p:cNvSpPr/>
          <p:nvPr/>
        </p:nvSpPr>
        <p:spPr>
          <a:xfrm>
            <a:off x="5614416" y="2276856"/>
            <a:ext cx="1993392" cy="1426464"/>
          </a:xfrm>
          <a:prstGeom prst="roundRect">
            <a:avLst>
              <a:gd name="adj" fmla="val 8333"/>
            </a:avLst>
          </a:prstGeom>
          <a:solidFill>
            <a:srgbClr val="F7EBD7"/>
          </a:solidFill>
          <a:ln w="10160">
            <a:solidFill>
              <a:srgbClr val="F7EBD7">
                <a:alpha val="0"/>
              </a:srgbClr>
            </a:solidFill>
            <a:prstDash val="solid"/>
          </a:ln>
        </p:spPr>
      </p:sp>
      <p:sp>
        <p:nvSpPr>
          <p:cNvPr id="13" name="Shape 11"/>
          <p:cNvSpPr/>
          <p:nvPr/>
        </p:nvSpPr>
        <p:spPr>
          <a:xfrm>
            <a:off x="5614416" y="2423160"/>
            <a:ext cx="50292" cy="1133856"/>
          </a:xfrm>
          <a:prstGeom prst="roundRect">
            <a:avLst>
              <a:gd name="adj" fmla="val 36364"/>
            </a:avLst>
          </a:prstGeom>
          <a:solidFill>
            <a:srgbClr val="C8734E"/>
          </a:solidFill>
          <a:ln w="10160">
            <a:solidFill>
              <a:srgbClr val="C8734E">
                <a:alpha val="0"/>
              </a:srgbClr>
            </a:solidFill>
            <a:prstDash val="solid"/>
          </a:ln>
        </p:spPr>
      </p:sp>
      <p:sp>
        <p:nvSpPr>
          <p:cNvPr id="14" name="Text 12"/>
          <p:cNvSpPr/>
          <p:nvPr/>
        </p:nvSpPr>
        <p:spPr>
          <a:xfrm>
            <a:off x="5815584" y="2478024"/>
            <a:ext cx="1609344"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C8734E"/>
                </a:solidFill>
                <a:latin typeface="Aptos" pitchFamily="34" charset="0"/>
                <a:ea typeface="Aptos" pitchFamily="34" charset="-122"/>
                <a:cs typeface="Aptos" pitchFamily="34" charset="-120"/>
              </a:rPr>
              <a:t>API</a:t>
            </a:r>
            <a:endParaRPr lang="en-US" sz="900" dirty="0"/>
          </a:p>
        </p:txBody>
      </p:sp>
      <p:sp>
        <p:nvSpPr>
          <p:cNvPr id="15" name="Text 13"/>
          <p:cNvSpPr/>
          <p:nvPr/>
        </p:nvSpPr>
        <p:spPr>
          <a:xfrm>
            <a:off x="5815584" y="2843784"/>
            <a:ext cx="1609344" cy="530352"/>
          </a:xfrm>
          <a:prstGeom prst="rect">
            <a:avLst/>
          </a:prstGeom>
          <a:noFill/>
          <a:ln/>
        </p:spPr>
        <p:txBody>
          <a:bodyPr wrap="square" lIns="0" tIns="0" rIns="0" bIns="0" rtlCol="0" anchor="t">
            <a:normAutofit/>
          </a:bodyPr>
          <a:lstStyle/>
          <a:p>
            <a:pPr algn="l" indent="0" marL="0">
              <a:buNone/>
            </a:pPr>
            <a:r>
              <a:rPr lang="en-US" sz="1700" b="1" dirty="0">
                <a:solidFill>
                  <a:srgbClr val="182D2A"/>
                </a:solidFill>
                <a:latin typeface="Georgia" pitchFamily="34" charset="0"/>
                <a:ea typeface="Georgia" pitchFamily="34" charset="-122"/>
                <a:cs typeface="Georgia" pitchFamily="34" charset="-120"/>
              </a:rPr>
              <a:t>Worker route</a:t>
            </a:r>
            <a:endParaRPr lang="en-US" sz="1700" dirty="0"/>
          </a:p>
          <a:p>
            <a:pPr algn="l" indent="0" marL="0">
              <a:buNone/>
            </a:pPr>
            <a:r>
              <a:rPr lang="en-US" sz="1700" b="1" dirty="0">
                <a:solidFill>
                  <a:srgbClr val="182D2A"/>
                </a:solidFill>
                <a:latin typeface="Georgia" pitchFamily="34" charset="0"/>
                <a:ea typeface="Georgia" pitchFamily="34" charset="-122"/>
                <a:cs typeface="Georgia" pitchFamily="34" charset="-120"/>
              </a:rPr>
              <a:t>/ api/*</a:t>
            </a:r>
            <a:endParaRPr lang="en-US" sz="1700" dirty="0"/>
          </a:p>
        </p:txBody>
      </p:sp>
      <p:sp>
        <p:nvSpPr>
          <p:cNvPr id="16" name="Shape 14"/>
          <p:cNvSpPr/>
          <p:nvPr/>
        </p:nvSpPr>
        <p:spPr>
          <a:xfrm>
            <a:off x="8375904" y="2276856"/>
            <a:ext cx="1993392" cy="1426464"/>
          </a:xfrm>
          <a:prstGeom prst="roundRect">
            <a:avLst>
              <a:gd name="adj" fmla="val 8333"/>
            </a:avLst>
          </a:prstGeom>
          <a:solidFill>
            <a:srgbClr val="173D35"/>
          </a:solidFill>
          <a:ln w="10160">
            <a:solidFill>
              <a:srgbClr val="173D35">
                <a:alpha val="0"/>
              </a:srgbClr>
            </a:solidFill>
            <a:prstDash val="solid"/>
          </a:ln>
        </p:spPr>
      </p:sp>
      <p:sp>
        <p:nvSpPr>
          <p:cNvPr id="17" name="Shape 15"/>
          <p:cNvSpPr/>
          <p:nvPr/>
        </p:nvSpPr>
        <p:spPr>
          <a:xfrm>
            <a:off x="8375904" y="2423160"/>
            <a:ext cx="50292" cy="1133856"/>
          </a:xfrm>
          <a:prstGeom prst="roundRect">
            <a:avLst>
              <a:gd name="adj" fmla="val 36364"/>
            </a:avLst>
          </a:prstGeom>
          <a:solidFill>
            <a:srgbClr val="E7A54A"/>
          </a:solidFill>
          <a:ln w="10160">
            <a:solidFill>
              <a:srgbClr val="E7A54A">
                <a:alpha val="0"/>
              </a:srgbClr>
            </a:solidFill>
            <a:prstDash val="solid"/>
          </a:ln>
        </p:spPr>
      </p:sp>
      <p:sp>
        <p:nvSpPr>
          <p:cNvPr id="18" name="Text 16"/>
          <p:cNvSpPr/>
          <p:nvPr/>
        </p:nvSpPr>
        <p:spPr>
          <a:xfrm>
            <a:off x="8577072" y="2478024"/>
            <a:ext cx="1609344"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FFF0D4"/>
                </a:solidFill>
                <a:latin typeface="Aptos" pitchFamily="34" charset="0"/>
                <a:ea typeface="Aptos" pitchFamily="34" charset="-122"/>
                <a:cs typeface="Aptos" pitchFamily="34" charset="-120"/>
              </a:rPr>
              <a:t>STORE</a:t>
            </a:r>
            <a:endParaRPr lang="en-US" sz="900" dirty="0"/>
          </a:p>
        </p:txBody>
      </p:sp>
      <p:sp>
        <p:nvSpPr>
          <p:cNvPr id="19" name="Text 17"/>
          <p:cNvSpPr/>
          <p:nvPr/>
        </p:nvSpPr>
        <p:spPr>
          <a:xfrm>
            <a:off x="8577072" y="2843784"/>
            <a:ext cx="1609344" cy="530352"/>
          </a:xfrm>
          <a:prstGeom prst="rect">
            <a:avLst/>
          </a:prstGeom>
          <a:noFill/>
          <a:ln/>
        </p:spPr>
        <p:txBody>
          <a:bodyPr wrap="square" lIns="0" tIns="0" rIns="0" bIns="0" rtlCol="0" anchor="t">
            <a:normAutofit/>
          </a:bodyPr>
          <a:lstStyle/>
          <a:p>
            <a:pPr algn="l" indent="0" marL="0">
              <a:buNone/>
            </a:pPr>
            <a:r>
              <a:rPr lang="en-US" sz="1700" b="1" dirty="0">
                <a:solidFill>
                  <a:srgbClr val="FFFFFF"/>
                </a:solidFill>
                <a:latin typeface="Georgia" pitchFamily="34" charset="0"/>
                <a:ea typeface="Georgia" pitchFamily="34" charset="-122"/>
                <a:cs typeface="Georgia" pitchFamily="34" charset="-120"/>
              </a:rPr>
              <a:t>Cloudflare</a:t>
            </a:r>
            <a:endParaRPr lang="en-US" sz="1700" dirty="0"/>
          </a:p>
          <a:p>
            <a:pPr algn="l" indent="0" marL="0">
              <a:buNone/>
            </a:pPr>
            <a:r>
              <a:rPr lang="en-US" sz="1700" b="1" dirty="0">
                <a:solidFill>
                  <a:srgbClr val="FFFFFF"/>
                </a:solidFill>
                <a:latin typeface="Georgia" pitchFamily="34" charset="0"/>
                <a:ea typeface="Georgia" pitchFamily="34" charset="-122"/>
                <a:cs typeface="Georgia" pitchFamily="34" charset="-120"/>
              </a:rPr>
              <a:t>D1</a:t>
            </a:r>
            <a:endParaRPr lang="en-US" sz="1700" dirty="0"/>
          </a:p>
        </p:txBody>
      </p:sp>
      <p:sp>
        <p:nvSpPr>
          <p:cNvPr id="20" name="Shape 18"/>
          <p:cNvSpPr/>
          <p:nvPr/>
        </p:nvSpPr>
        <p:spPr>
          <a:xfrm>
            <a:off x="2377440" y="2971800"/>
            <a:ext cx="365760" cy="0"/>
          </a:xfrm>
          <a:prstGeom prst="line">
            <a:avLst/>
          </a:prstGeom>
          <a:noFill/>
          <a:ln w="29210">
            <a:solidFill>
              <a:srgbClr val="173D35"/>
            </a:solidFill>
            <a:prstDash val="solid"/>
            <a:headEnd type="none"/>
            <a:tailEnd type="none"/>
          </a:ln>
        </p:spPr>
      </p:sp>
      <p:sp>
        <p:nvSpPr>
          <p:cNvPr id="21" name="Text 19"/>
          <p:cNvSpPr/>
          <p:nvPr/>
        </p:nvSpPr>
        <p:spPr>
          <a:xfrm>
            <a:off x="2587752" y="2798064"/>
            <a:ext cx="301752" cy="292608"/>
          </a:xfrm>
          <a:prstGeom prst="rect">
            <a:avLst/>
          </a:prstGeom>
          <a:noFill/>
          <a:ln/>
        </p:spPr>
        <p:txBody>
          <a:bodyPr wrap="square" lIns="0" tIns="0" rIns="0" bIns="0" rtlCol="0" anchor="ctr">
            <a:normAutofit/>
          </a:bodyPr>
          <a:lstStyle/>
          <a:p>
            <a:pPr algn="ctr" indent="0" marL="0">
              <a:buNone/>
            </a:pPr>
            <a:r>
              <a:rPr lang="en-US" sz="2000" b="1" dirty="0">
                <a:solidFill>
                  <a:srgbClr val="173D35"/>
                </a:solidFill>
                <a:latin typeface="Aptos" pitchFamily="34" charset="0"/>
                <a:ea typeface="Aptos" pitchFamily="34" charset="-122"/>
                <a:cs typeface="Aptos" pitchFamily="34" charset="-120"/>
              </a:rPr>
              <a:t>→</a:t>
            </a:r>
            <a:endParaRPr lang="en-US" sz="2000" dirty="0"/>
          </a:p>
        </p:txBody>
      </p:sp>
      <p:sp>
        <p:nvSpPr>
          <p:cNvPr id="22" name="Shape 20"/>
          <p:cNvSpPr/>
          <p:nvPr/>
        </p:nvSpPr>
        <p:spPr>
          <a:xfrm>
            <a:off x="4919472" y="2971800"/>
            <a:ext cx="566928" cy="0"/>
          </a:xfrm>
          <a:prstGeom prst="line">
            <a:avLst/>
          </a:prstGeom>
          <a:noFill/>
          <a:ln w="29210">
            <a:solidFill>
              <a:srgbClr val="173D35"/>
            </a:solidFill>
            <a:prstDash val="solid"/>
            <a:headEnd type="none"/>
            <a:tailEnd type="none"/>
          </a:ln>
        </p:spPr>
      </p:sp>
      <p:sp>
        <p:nvSpPr>
          <p:cNvPr id="23" name="Text 21"/>
          <p:cNvSpPr/>
          <p:nvPr/>
        </p:nvSpPr>
        <p:spPr>
          <a:xfrm>
            <a:off x="5330952" y="2798064"/>
            <a:ext cx="301752" cy="292608"/>
          </a:xfrm>
          <a:prstGeom prst="rect">
            <a:avLst/>
          </a:prstGeom>
          <a:noFill/>
          <a:ln/>
        </p:spPr>
        <p:txBody>
          <a:bodyPr wrap="square" lIns="0" tIns="0" rIns="0" bIns="0" rtlCol="0" anchor="ctr">
            <a:normAutofit/>
          </a:bodyPr>
          <a:lstStyle/>
          <a:p>
            <a:pPr algn="ctr" indent="0" marL="0">
              <a:buNone/>
            </a:pPr>
            <a:r>
              <a:rPr lang="en-US" sz="2000" b="1" dirty="0">
                <a:solidFill>
                  <a:srgbClr val="173D35"/>
                </a:solidFill>
                <a:latin typeface="Aptos" pitchFamily="34" charset="0"/>
                <a:ea typeface="Aptos" pitchFamily="34" charset="-122"/>
                <a:cs typeface="Aptos" pitchFamily="34" charset="-120"/>
              </a:rPr>
              <a:t>→</a:t>
            </a:r>
            <a:endParaRPr lang="en-US" sz="2000" dirty="0"/>
          </a:p>
        </p:txBody>
      </p:sp>
      <p:sp>
        <p:nvSpPr>
          <p:cNvPr id="24" name="Shape 22"/>
          <p:cNvSpPr/>
          <p:nvPr/>
        </p:nvSpPr>
        <p:spPr>
          <a:xfrm>
            <a:off x="7644384" y="2971800"/>
            <a:ext cx="585216" cy="0"/>
          </a:xfrm>
          <a:prstGeom prst="line">
            <a:avLst/>
          </a:prstGeom>
          <a:noFill/>
          <a:ln w="29210">
            <a:solidFill>
              <a:srgbClr val="173D35"/>
            </a:solidFill>
            <a:prstDash val="solid"/>
            <a:headEnd type="none"/>
            <a:tailEnd type="none"/>
          </a:ln>
        </p:spPr>
      </p:sp>
      <p:sp>
        <p:nvSpPr>
          <p:cNvPr id="25" name="Text 23"/>
          <p:cNvSpPr/>
          <p:nvPr/>
        </p:nvSpPr>
        <p:spPr>
          <a:xfrm>
            <a:off x="8074152" y="2798064"/>
            <a:ext cx="301752" cy="292608"/>
          </a:xfrm>
          <a:prstGeom prst="rect">
            <a:avLst/>
          </a:prstGeom>
          <a:noFill/>
          <a:ln/>
        </p:spPr>
        <p:txBody>
          <a:bodyPr wrap="square" lIns="0" tIns="0" rIns="0" bIns="0" rtlCol="0" anchor="ctr">
            <a:normAutofit/>
          </a:bodyPr>
          <a:lstStyle/>
          <a:p>
            <a:pPr algn="ctr" indent="0" marL="0">
              <a:buNone/>
            </a:pPr>
            <a:r>
              <a:rPr lang="en-US" sz="2000" b="1" dirty="0">
                <a:solidFill>
                  <a:srgbClr val="173D35"/>
                </a:solidFill>
                <a:latin typeface="Aptos" pitchFamily="34" charset="0"/>
                <a:ea typeface="Aptos" pitchFamily="34" charset="-122"/>
                <a:cs typeface="Aptos" pitchFamily="34" charset="-120"/>
              </a:rPr>
              <a:t>→</a:t>
            </a:r>
            <a:endParaRPr lang="en-US" sz="2000" dirty="0"/>
          </a:p>
        </p:txBody>
      </p:sp>
      <p:sp>
        <p:nvSpPr>
          <p:cNvPr id="26" name="Shape 24"/>
          <p:cNvSpPr/>
          <p:nvPr/>
        </p:nvSpPr>
        <p:spPr>
          <a:xfrm>
            <a:off x="777240" y="4233672"/>
            <a:ext cx="4992624" cy="1152144"/>
          </a:xfrm>
          <a:prstGeom prst="roundRect">
            <a:avLst>
              <a:gd name="adj" fmla="val 10317"/>
            </a:avLst>
          </a:prstGeom>
          <a:solidFill>
            <a:srgbClr val="FFFFFF"/>
          </a:solidFill>
          <a:ln w="10160">
            <a:solidFill>
              <a:srgbClr val="D9DFD7"/>
            </a:solidFill>
            <a:prstDash val="solid"/>
          </a:ln>
        </p:spPr>
      </p:sp>
      <p:sp>
        <p:nvSpPr>
          <p:cNvPr id="27" name="Text 25"/>
          <p:cNvSpPr/>
          <p:nvPr/>
        </p:nvSpPr>
        <p:spPr>
          <a:xfrm>
            <a:off x="1060704" y="4471416"/>
            <a:ext cx="1261872" cy="228600"/>
          </a:xfrm>
          <a:prstGeom prst="rect">
            <a:avLst/>
          </a:prstGeom>
          <a:noFill/>
          <a:ln/>
        </p:spPr>
        <p:txBody>
          <a:bodyPr wrap="square" lIns="0" tIns="0" rIns="0" bIns="0" rtlCol="0" anchor="ctr">
            <a:normAutofit/>
          </a:bodyPr>
          <a:lstStyle/>
          <a:p>
            <a:pPr algn="l" indent="0" marL="0">
              <a:buNone/>
            </a:pPr>
            <a:r>
              <a:rPr lang="en-US" sz="1300" b="1" dirty="0">
                <a:solidFill>
                  <a:srgbClr val="182D2A"/>
                </a:solidFill>
                <a:latin typeface="Aptos" pitchFamily="34" charset="0"/>
                <a:ea typeface="Aptos" pitchFamily="34" charset="-122"/>
                <a:cs typeface="Aptos" pitchFamily="34" charset="-120"/>
              </a:rPr>
              <a:t>Demo corpus</a:t>
            </a:r>
            <a:endParaRPr lang="en-US" sz="1300" dirty="0"/>
          </a:p>
        </p:txBody>
      </p:sp>
      <p:sp>
        <p:nvSpPr>
          <p:cNvPr id="28" name="Text 26"/>
          <p:cNvSpPr/>
          <p:nvPr/>
        </p:nvSpPr>
        <p:spPr>
          <a:xfrm>
            <a:off x="2450592" y="4434840"/>
            <a:ext cx="2980944" cy="502920"/>
          </a:xfrm>
          <a:prstGeom prst="rect">
            <a:avLst/>
          </a:prstGeom>
          <a:noFill/>
          <a:ln/>
        </p:spPr>
        <p:txBody>
          <a:bodyPr wrap="square" lIns="0" tIns="0" rIns="0" bIns="0" rtlCol="0" anchor="t">
            <a:normAutofit/>
          </a:bodyPr>
          <a:lstStyle/>
          <a:p>
            <a:pPr algn="l" indent="0" marL="0">
              <a:buNone/>
            </a:pPr>
            <a:r>
              <a:rPr lang="en-US" sz="1200" dirty="0">
                <a:solidFill>
                  <a:srgbClr val="64766E"/>
                </a:solidFill>
                <a:latin typeface="Aptos" pitchFamily="34" charset="0"/>
                <a:ea typeface="Aptos" pitchFamily="34" charset="-122"/>
                <a:cs typeface="Aptos" pitchFamily="34" charset="-120"/>
              </a:rPr>
              <a:t>100 synthetic records preloaded in D1; no paid model credentials required.</a:t>
            </a:r>
            <a:endParaRPr lang="en-US" sz="1200" dirty="0"/>
          </a:p>
        </p:txBody>
      </p:sp>
      <p:sp>
        <p:nvSpPr>
          <p:cNvPr id="29" name="Shape 27"/>
          <p:cNvSpPr/>
          <p:nvPr/>
        </p:nvSpPr>
        <p:spPr>
          <a:xfrm>
            <a:off x="6144768" y="4233672"/>
            <a:ext cx="5212080" cy="1152144"/>
          </a:xfrm>
          <a:prstGeom prst="roundRect">
            <a:avLst>
              <a:gd name="adj" fmla="val 10317"/>
            </a:avLst>
          </a:prstGeom>
          <a:solidFill>
            <a:srgbClr val="F7EBD7"/>
          </a:solidFill>
          <a:ln w="10160">
            <a:solidFill>
              <a:srgbClr val="F7EBD7">
                <a:alpha val="0"/>
              </a:srgbClr>
            </a:solidFill>
            <a:prstDash val="solid"/>
          </a:ln>
        </p:spPr>
      </p:sp>
      <p:sp>
        <p:nvSpPr>
          <p:cNvPr id="30" name="Shape 28"/>
          <p:cNvSpPr/>
          <p:nvPr/>
        </p:nvSpPr>
        <p:spPr>
          <a:xfrm>
            <a:off x="6144768" y="4379976"/>
            <a:ext cx="50292" cy="859536"/>
          </a:xfrm>
          <a:prstGeom prst="roundRect">
            <a:avLst>
              <a:gd name="adj" fmla="val 36364"/>
            </a:avLst>
          </a:prstGeom>
          <a:solidFill>
            <a:srgbClr val="E7A54A"/>
          </a:solidFill>
          <a:ln w="10160">
            <a:solidFill>
              <a:srgbClr val="E7A54A">
                <a:alpha val="0"/>
              </a:srgbClr>
            </a:solidFill>
            <a:prstDash val="solid"/>
          </a:ln>
        </p:spPr>
      </p:sp>
      <p:sp>
        <p:nvSpPr>
          <p:cNvPr id="31" name="Text 29"/>
          <p:cNvSpPr/>
          <p:nvPr/>
        </p:nvSpPr>
        <p:spPr>
          <a:xfrm>
            <a:off x="6446520" y="4471416"/>
            <a:ext cx="1572768" cy="228600"/>
          </a:xfrm>
          <a:prstGeom prst="rect">
            <a:avLst/>
          </a:prstGeom>
          <a:noFill/>
          <a:ln/>
        </p:spPr>
        <p:txBody>
          <a:bodyPr wrap="square" lIns="0" tIns="0" rIns="0" bIns="0" rtlCol="0" anchor="ctr">
            <a:normAutofit/>
          </a:bodyPr>
          <a:lstStyle/>
          <a:p>
            <a:pPr algn="l" indent="0" marL="0">
              <a:buNone/>
            </a:pPr>
            <a:r>
              <a:rPr lang="en-US" sz="1300" b="1" dirty="0">
                <a:solidFill>
                  <a:srgbClr val="182D2A"/>
                </a:solidFill>
                <a:latin typeface="Aptos" pitchFamily="34" charset="0"/>
                <a:ea typeface="Aptos" pitchFamily="34" charset="-122"/>
                <a:cs typeface="Aptos" pitchFamily="34" charset="-120"/>
              </a:rPr>
              <a:t>Optional live JEV</a:t>
            </a:r>
            <a:endParaRPr lang="en-US" sz="1300" dirty="0"/>
          </a:p>
        </p:txBody>
      </p:sp>
      <p:sp>
        <p:nvSpPr>
          <p:cNvPr id="32" name="Text 30"/>
          <p:cNvSpPr/>
          <p:nvPr/>
        </p:nvSpPr>
        <p:spPr>
          <a:xfrm>
            <a:off x="8065008" y="4434840"/>
            <a:ext cx="2944368" cy="521208"/>
          </a:xfrm>
          <a:prstGeom prst="rect">
            <a:avLst/>
          </a:prstGeom>
          <a:noFill/>
          <a:ln/>
        </p:spPr>
        <p:txBody>
          <a:bodyPr wrap="square" lIns="0" tIns="0" rIns="0" bIns="0" rtlCol="0" anchor="t">
            <a:normAutofit/>
          </a:bodyPr>
          <a:lstStyle/>
          <a:p>
            <a:pPr algn="l" indent="0" marL="0">
              <a:buNone/>
            </a:pPr>
            <a:r>
              <a:rPr lang="en-US" sz="1150" dirty="0">
                <a:solidFill>
                  <a:srgbClr val="64766E"/>
                </a:solidFill>
                <a:latin typeface="Aptos" pitchFamily="34" charset="0"/>
                <a:ea typeface="Aptos" pitchFamily="34" charset="-122"/>
                <a:cs typeface="Aptos" pitchFamily="34" charset="-120"/>
              </a:rPr>
              <a:t>Set a TypeSafe API key as a Worker secret to enable model decisions on real collected articles.</a:t>
            </a:r>
            <a:endParaRPr lang="en-US" sz="1150" dirty="0"/>
          </a:p>
        </p:txBody>
      </p:sp>
      <p:sp>
        <p:nvSpPr>
          <p:cNvPr id="33" name="Text 31"/>
          <p:cNvSpPr/>
          <p:nvPr/>
        </p:nvSpPr>
        <p:spPr>
          <a:xfrm>
            <a:off x="804672" y="5687568"/>
            <a:ext cx="9692640" cy="219456"/>
          </a:xfrm>
          <a:prstGeom prst="rect">
            <a:avLst/>
          </a:prstGeom>
          <a:noFill/>
          <a:ln/>
        </p:spPr>
        <p:txBody>
          <a:bodyPr wrap="square" lIns="0" tIns="0" rIns="0" bIns="0" rtlCol="0" anchor="ctr">
            <a:normAutofit/>
          </a:bodyPr>
          <a:lstStyle/>
          <a:p>
            <a:pPr algn="l" indent="0" marL="0">
              <a:buNone/>
            </a:pPr>
            <a:r>
              <a:rPr lang="en-US" sz="1150" i="1" dirty="0">
                <a:solidFill>
                  <a:srgbClr val="64766E"/>
                </a:solidFill>
                <a:latin typeface="Aptos" pitchFamily="34" charset="0"/>
                <a:ea typeface="Aptos" pitchFamily="34" charset="-122"/>
                <a:cs typeface="Aptos" pitchFamily="34" charset="-120"/>
              </a:rPr>
              <a:t>A custom domain is optional; the default workers.dev host is sufficient for a class demo.</a:t>
            </a:r>
            <a:endParaRPr lang="en-US" sz="115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15 / VERIFICATION</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Show the artifacts and checks—not only the diagrams</a:t>
            </a:r>
            <a:endParaRPr lang="en-US" sz="3000" dirty="0"/>
          </a:p>
        </p:txBody>
      </p:sp>
      <p:sp>
        <p:nvSpPr>
          <p:cNvPr id="4" name="Shape 2"/>
          <p:cNvSpPr/>
          <p:nvPr/>
        </p:nvSpPr>
        <p:spPr>
          <a:xfrm>
            <a:off x="685800" y="1755648"/>
            <a:ext cx="2542032" cy="1307592"/>
          </a:xfrm>
          <a:prstGeom prst="roundRect">
            <a:avLst>
              <a:gd name="adj" fmla="val 9091"/>
            </a:avLst>
          </a:prstGeom>
          <a:solidFill>
            <a:srgbClr val="FFFFFF"/>
          </a:solidFill>
          <a:ln w="10160">
            <a:solidFill>
              <a:srgbClr val="FFFFFF">
                <a:alpha val="0"/>
              </a:srgbClr>
            </a:solidFill>
            <a:prstDash val="solid"/>
          </a:ln>
        </p:spPr>
      </p:sp>
      <p:sp>
        <p:nvSpPr>
          <p:cNvPr id="5" name="Shape 3"/>
          <p:cNvSpPr/>
          <p:nvPr/>
        </p:nvSpPr>
        <p:spPr>
          <a:xfrm>
            <a:off x="685800" y="1901952"/>
            <a:ext cx="50292" cy="1014984"/>
          </a:xfrm>
          <a:prstGeom prst="roundRect">
            <a:avLst>
              <a:gd name="adj" fmla="val 36364"/>
            </a:avLst>
          </a:prstGeom>
          <a:solidFill>
            <a:srgbClr val="173D35"/>
          </a:solidFill>
          <a:ln w="10160">
            <a:solidFill>
              <a:srgbClr val="173D35">
                <a:alpha val="0"/>
              </a:srgbClr>
            </a:solidFill>
            <a:prstDash val="solid"/>
          </a:ln>
        </p:spPr>
      </p:sp>
      <p:sp>
        <p:nvSpPr>
          <p:cNvPr id="6" name="Text 4"/>
          <p:cNvSpPr/>
          <p:nvPr/>
        </p:nvSpPr>
        <p:spPr>
          <a:xfrm>
            <a:off x="914400" y="1920240"/>
            <a:ext cx="2011680" cy="457200"/>
          </a:xfrm>
          <a:prstGeom prst="rect">
            <a:avLst/>
          </a:prstGeom>
          <a:noFill/>
          <a:ln/>
        </p:spPr>
        <p:txBody>
          <a:bodyPr wrap="square" lIns="0" tIns="0" rIns="0" bIns="0" rtlCol="0" anchor="ctr">
            <a:normAutofit/>
          </a:bodyPr>
          <a:lstStyle/>
          <a:p>
            <a:pPr algn="l" indent="0" marL="0">
              <a:buNone/>
            </a:pPr>
            <a:r>
              <a:rPr lang="en-US" sz="2800" b="1" dirty="0">
                <a:solidFill>
                  <a:srgbClr val="173D35"/>
                </a:solidFill>
                <a:latin typeface="Georgia" pitchFamily="34" charset="0"/>
                <a:ea typeface="Georgia" pitchFamily="34" charset="-122"/>
                <a:cs typeface="Georgia" pitchFamily="34" charset="-120"/>
              </a:rPr>
              <a:t>100</a:t>
            </a:r>
            <a:endParaRPr lang="en-US" sz="2800" dirty="0"/>
          </a:p>
        </p:txBody>
      </p:sp>
      <p:sp>
        <p:nvSpPr>
          <p:cNvPr id="7" name="Text 5"/>
          <p:cNvSpPr/>
          <p:nvPr/>
        </p:nvSpPr>
        <p:spPr>
          <a:xfrm>
            <a:off x="914400" y="2487168"/>
            <a:ext cx="2039112" cy="320040"/>
          </a:xfrm>
          <a:prstGeom prst="rect">
            <a:avLst/>
          </a:prstGeom>
          <a:noFill/>
          <a:ln/>
        </p:spPr>
        <p:txBody>
          <a:bodyPr wrap="square" lIns="0" tIns="0" rIns="0" bIns="0" rtlCol="0" anchor="ctr">
            <a:normAutofit/>
          </a:bodyPr>
          <a:lstStyle/>
          <a:p>
            <a:pPr algn="l" indent="0" marL="0">
              <a:buNone/>
            </a:pPr>
            <a:r>
              <a:rPr lang="en-US" sz="1140" b="1" dirty="0">
                <a:solidFill>
                  <a:srgbClr val="64766E"/>
                </a:solidFill>
                <a:latin typeface="Aptos" pitchFamily="34" charset="0"/>
                <a:ea typeface="Aptos" pitchFamily="34" charset="-122"/>
                <a:cs typeface="Aptos" pitchFamily="34" charset="-120"/>
              </a:rPr>
              <a:t>synthetic seed articles in D1</a:t>
            </a:r>
            <a:endParaRPr lang="en-US" sz="1140" dirty="0"/>
          </a:p>
        </p:txBody>
      </p:sp>
      <p:sp>
        <p:nvSpPr>
          <p:cNvPr id="8" name="Shape 6"/>
          <p:cNvSpPr/>
          <p:nvPr/>
        </p:nvSpPr>
        <p:spPr>
          <a:xfrm>
            <a:off x="3520440" y="1755648"/>
            <a:ext cx="2542032" cy="1307592"/>
          </a:xfrm>
          <a:prstGeom prst="roundRect">
            <a:avLst>
              <a:gd name="adj" fmla="val 9091"/>
            </a:avLst>
          </a:prstGeom>
          <a:solidFill>
            <a:srgbClr val="FFFFFF"/>
          </a:solidFill>
          <a:ln w="10160">
            <a:solidFill>
              <a:srgbClr val="FFFFFF">
                <a:alpha val="0"/>
              </a:srgbClr>
            </a:solidFill>
            <a:prstDash val="solid"/>
          </a:ln>
        </p:spPr>
      </p:sp>
      <p:sp>
        <p:nvSpPr>
          <p:cNvPr id="9" name="Shape 7"/>
          <p:cNvSpPr/>
          <p:nvPr/>
        </p:nvSpPr>
        <p:spPr>
          <a:xfrm>
            <a:off x="3520440" y="1901952"/>
            <a:ext cx="50292" cy="1014984"/>
          </a:xfrm>
          <a:prstGeom prst="roundRect">
            <a:avLst>
              <a:gd name="adj" fmla="val 36364"/>
            </a:avLst>
          </a:prstGeom>
          <a:solidFill>
            <a:srgbClr val="2E8069"/>
          </a:solidFill>
          <a:ln w="10160">
            <a:solidFill>
              <a:srgbClr val="2E8069">
                <a:alpha val="0"/>
              </a:srgbClr>
            </a:solidFill>
            <a:prstDash val="solid"/>
          </a:ln>
        </p:spPr>
      </p:sp>
      <p:sp>
        <p:nvSpPr>
          <p:cNvPr id="10" name="Text 8"/>
          <p:cNvSpPr/>
          <p:nvPr/>
        </p:nvSpPr>
        <p:spPr>
          <a:xfrm>
            <a:off x="3749040" y="1920240"/>
            <a:ext cx="2011680" cy="457200"/>
          </a:xfrm>
          <a:prstGeom prst="rect">
            <a:avLst/>
          </a:prstGeom>
          <a:noFill/>
          <a:ln/>
        </p:spPr>
        <p:txBody>
          <a:bodyPr wrap="square" lIns="0" tIns="0" rIns="0" bIns="0" rtlCol="0" anchor="ctr">
            <a:normAutofit/>
          </a:bodyPr>
          <a:lstStyle/>
          <a:p>
            <a:pPr algn="l" indent="0" marL="0">
              <a:buNone/>
            </a:pPr>
            <a:r>
              <a:rPr lang="en-US" sz="2800" b="1" dirty="0">
                <a:solidFill>
                  <a:srgbClr val="2E8069"/>
                </a:solidFill>
                <a:latin typeface="Georgia" pitchFamily="34" charset="0"/>
                <a:ea typeface="Georgia" pitchFamily="34" charset="-122"/>
                <a:cs typeface="Georgia" pitchFamily="34" charset="-120"/>
              </a:rPr>
              <a:t>101</a:t>
            </a:r>
            <a:endParaRPr lang="en-US" sz="2800" dirty="0"/>
          </a:p>
        </p:txBody>
      </p:sp>
      <p:sp>
        <p:nvSpPr>
          <p:cNvPr id="11" name="Text 9"/>
          <p:cNvSpPr/>
          <p:nvPr/>
        </p:nvSpPr>
        <p:spPr>
          <a:xfrm>
            <a:off x="3749040" y="2487168"/>
            <a:ext cx="2039112" cy="320040"/>
          </a:xfrm>
          <a:prstGeom prst="rect">
            <a:avLst/>
          </a:prstGeom>
          <a:noFill/>
          <a:ln/>
        </p:spPr>
        <p:txBody>
          <a:bodyPr wrap="square" lIns="0" tIns="0" rIns="0" bIns="0" rtlCol="0" anchor="ctr">
            <a:normAutofit/>
          </a:bodyPr>
          <a:lstStyle/>
          <a:p>
            <a:pPr algn="l" indent="0" marL="0">
              <a:buNone/>
            </a:pPr>
            <a:r>
              <a:rPr lang="en-US" sz="1140" b="1" dirty="0">
                <a:solidFill>
                  <a:srgbClr val="64766E"/>
                </a:solidFill>
                <a:latin typeface="Aptos" pitchFamily="34" charset="0"/>
                <a:ea typeface="Aptos" pitchFamily="34" charset="-122"/>
                <a:cs typeface="Aptos" pitchFamily="34" charset="-120"/>
              </a:rPr>
              <a:t>stored article analyses</a:t>
            </a:r>
            <a:endParaRPr lang="en-US" sz="1140" dirty="0"/>
          </a:p>
        </p:txBody>
      </p:sp>
      <p:sp>
        <p:nvSpPr>
          <p:cNvPr id="12" name="Shape 10"/>
          <p:cNvSpPr/>
          <p:nvPr/>
        </p:nvSpPr>
        <p:spPr>
          <a:xfrm>
            <a:off x="6355080" y="1755648"/>
            <a:ext cx="2542032" cy="1307592"/>
          </a:xfrm>
          <a:prstGeom prst="roundRect">
            <a:avLst>
              <a:gd name="adj" fmla="val 9091"/>
            </a:avLst>
          </a:prstGeom>
          <a:solidFill>
            <a:srgbClr val="FFFFFF"/>
          </a:solidFill>
          <a:ln w="10160">
            <a:solidFill>
              <a:srgbClr val="FFFFFF">
                <a:alpha val="0"/>
              </a:srgbClr>
            </a:solidFill>
            <a:prstDash val="solid"/>
          </a:ln>
        </p:spPr>
      </p:sp>
      <p:sp>
        <p:nvSpPr>
          <p:cNvPr id="13" name="Shape 11"/>
          <p:cNvSpPr/>
          <p:nvPr/>
        </p:nvSpPr>
        <p:spPr>
          <a:xfrm>
            <a:off x="6355080" y="1901952"/>
            <a:ext cx="50292" cy="1014984"/>
          </a:xfrm>
          <a:prstGeom prst="roundRect">
            <a:avLst>
              <a:gd name="adj" fmla="val 36364"/>
            </a:avLst>
          </a:prstGeom>
          <a:solidFill>
            <a:srgbClr val="5B88A0"/>
          </a:solidFill>
          <a:ln w="10160">
            <a:solidFill>
              <a:srgbClr val="5B88A0">
                <a:alpha val="0"/>
              </a:srgbClr>
            </a:solidFill>
            <a:prstDash val="solid"/>
          </a:ln>
        </p:spPr>
      </p:sp>
      <p:sp>
        <p:nvSpPr>
          <p:cNvPr id="14" name="Text 12"/>
          <p:cNvSpPr/>
          <p:nvPr/>
        </p:nvSpPr>
        <p:spPr>
          <a:xfrm>
            <a:off x="6583680" y="1920240"/>
            <a:ext cx="2011680" cy="457200"/>
          </a:xfrm>
          <a:prstGeom prst="rect">
            <a:avLst/>
          </a:prstGeom>
          <a:noFill/>
          <a:ln/>
        </p:spPr>
        <p:txBody>
          <a:bodyPr wrap="square" lIns="0" tIns="0" rIns="0" bIns="0" rtlCol="0" anchor="ctr">
            <a:normAutofit/>
          </a:bodyPr>
          <a:lstStyle/>
          <a:p>
            <a:pPr algn="l" indent="0" marL="0">
              <a:buNone/>
            </a:pPr>
            <a:r>
              <a:rPr lang="en-US" sz="2800" b="1" dirty="0">
                <a:solidFill>
                  <a:srgbClr val="5B88A0"/>
                </a:solidFill>
                <a:latin typeface="Georgia" pitchFamily="34" charset="0"/>
                <a:ea typeface="Georgia" pitchFamily="34" charset="-122"/>
                <a:cs typeface="Georgia" pitchFamily="34" charset="-120"/>
              </a:rPr>
              <a:t>11</a:t>
            </a:r>
            <a:endParaRPr lang="en-US" sz="2800" dirty="0"/>
          </a:p>
        </p:txBody>
      </p:sp>
      <p:sp>
        <p:nvSpPr>
          <p:cNvPr id="15" name="Text 13"/>
          <p:cNvSpPr/>
          <p:nvPr/>
        </p:nvSpPr>
        <p:spPr>
          <a:xfrm>
            <a:off x="6583680" y="2487168"/>
            <a:ext cx="2039112" cy="320040"/>
          </a:xfrm>
          <a:prstGeom prst="rect">
            <a:avLst/>
          </a:prstGeom>
          <a:noFill/>
          <a:ln/>
        </p:spPr>
        <p:txBody>
          <a:bodyPr wrap="square" lIns="0" tIns="0" rIns="0" bIns="0" rtlCol="0" anchor="ctr">
            <a:normAutofit/>
          </a:bodyPr>
          <a:lstStyle/>
          <a:p>
            <a:pPr algn="l" indent="0" marL="0">
              <a:buNone/>
            </a:pPr>
            <a:r>
              <a:rPr lang="en-US" sz="1140" b="1" dirty="0">
                <a:solidFill>
                  <a:srgbClr val="64766E"/>
                </a:solidFill>
                <a:latin typeface="Aptos" pitchFamily="34" charset="0"/>
                <a:ea typeface="Aptos" pitchFamily="34" charset="-122"/>
                <a:cs typeface="Aptos" pitchFamily="34" charset="-120"/>
              </a:rPr>
              <a:t>candidate story groups incl. live search</a:t>
            </a:r>
            <a:endParaRPr lang="en-US" sz="1140" dirty="0"/>
          </a:p>
        </p:txBody>
      </p:sp>
      <p:sp>
        <p:nvSpPr>
          <p:cNvPr id="16" name="Shape 14"/>
          <p:cNvSpPr/>
          <p:nvPr/>
        </p:nvSpPr>
        <p:spPr>
          <a:xfrm>
            <a:off x="9189720" y="1755648"/>
            <a:ext cx="2542032" cy="1307592"/>
          </a:xfrm>
          <a:prstGeom prst="roundRect">
            <a:avLst>
              <a:gd name="adj" fmla="val 9091"/>
            </a:avLst>
          </a:prstGeom>
          <a:solidFill>
            <a:srgbClr val="FFFFFF"/>
          </a:solidFill>
          <a:ln w="10160">
            <a:solidFill>
              <a:srgbClr val="FFFFFF">
                <a:alpha val="0"/>
              </a:srgbClr>
            </a:solidFill>
            <a:prstDash val="solid"/>
          </a:ln>
        </p:spPr>
      </p:sp>
      <p:sp>
        <p:nvSpPr>
          <p:cNvPr id="17" name="Shape 15"/>
          <p:cNvSpPr/>
          <p:nvPr/>
        </p:nvSpPr>
        <p:spPr>
          <a:xfrm>
            <a:off x="9189720" y="1901952"/>
            <a:ext cx="50292" cy="1014984"/>
          </a:xfrm>
          <a:prstGeom prst="roundRect">
            <a:avLst>
              <a:gd name="adj" fmla="val 36364"/>
            </a:avLst>
          </a:prstGeom>
          <a:solidFill>
            <a:srgbClr val="C8734E"/>
          </a:solidFill>
          <a:ln w="10160">
            <a:solidFill>
              <a:srgbClr val="C8734E">
                <a:alpha val="0"/>
              </a:srgbClr>
            </a:solidFill>
            <a:prstDash val="solid"/>
          </a:ln>
        </p:spPr>
      </p:sp>
      <p:sp>
        <p:nvSpPr>
          <p:cNvPr id="18" name="Text 16"/>
          <p:cNvSpPr/>
          <p:nvPr/>
        </p:nvSpPr>
        <p:spPr>
          <a:xfrm>
            <a:off x="9418320" y="1920240"/>
            <a:ext cx="2011680" cy="457200"/>
          </a:xfrm>
          <a:prstGeom prst="rect">
            <a:avLst/>
          </a:prstGeom>
          <a:noFill/>
          <a:ln/>
        </p:spPr>
        <p:txBody>
          <a:bodyPr wrap="square" lIns="0" tIns="0" rIns="0" bIns="0" rtlCol="0" anchor="ctr">
            <a:normAutofit/>
          </a:bodyPr>
          <a:lstStyle/>
          <a:p>
            <a:pPr algn="l" indent="0" marL="0">
              <a:buNone/>
            </a:pPr>
            <a:r>
              <a:rPr lang="en-US" sz="2800" b="1" dirty="0">
                <a:solidFill>
                  <a:srgbClr val="C8734E"/>
                </a:solidFill>
                <a:latin typeface="Georgia" pitchFamily="34" charset="0"/>
                <a:ea typeface="Georgia" pitchFamily="34" charset="-122"/>
                <a:cs typeface="Georgia" pitchFamily="34" charset="-120"/>
              </a:rPr>
              <a:t>5 × 20</a:t>
            </a:r>
            <a:endParaRPr lang="en-US" sz="2800" dirty="0"/>
          </a:p>
        </p:txBody>
      </p:sp>
      <p:sp>
        <p:nvSpPr>
          <p:cNvPr id="19" name="Text 17"/>
          <p:cNvSpPr/>
          <p:nvPr/>
        </p:nvSpPr>
        <p:spPr>
          <a:xfrm>
            <a:off x="9418320" y="2487168"/>
            <a:ext cx="2039112" cy="320040"/>
          </a:xfrm>
          <a:prstGeom prst="rect">
            <a:avLst/>
          </a:prstGeom>
          <a:noFill/>
          <a:ln/>
        </p:spPr>
        <p:txBody>
          <a:bodyPr wrap="square" lIns="0" tIns="0" rIns="0" bIns="0" rtlCol="0" anchor="ctr">
            <a:normAutofit/>
          </a:bodyPr>
          <a:lstStyle/>
          <a:p>
            <a:pPr algn="l" indent="0" marL="0">
              <a:buNone/>
            </a:pPr>
            <a:r>
              <a:rPr lang="en-US" sz="1140" b="1" dirty="0">
                <a:solidFill>
                  <a:srgbClr val="64766E"/>
                </a:solidFill>
                <a:latin typeface="Aptos" pitchFamily="34" charset="0"/>
                <a:ea typeface="Aptos" pitchFamily="34" charset="-122"/>
                <a:cs typeface="Aptos" pitchFamily="34" charset="-120"/>
              </a:rPr>
              <a:t>language-balanced demo corpus</a:t>
            </a:r>
            <a:endParaRPr lang="en-US" sz="1140" dirty="0"/>
          </a:p>
        </p:txBody>
      </p:sp>
      <p:sp>
        <p:nvSpPr>
          <p:cNvPr id="20" name="Shape 18"/>
          <p:cNvSpPr/>
          <p:nvPr/>
        </p:nvSpPr>
        <p:spPr>
          <a:xfrm>
            <a:off x="713232" y="3493008"/>
            <a:ext cx="6629400" cy="2084832"/>
          </a:xfrm>
          <a:prstGeom prst="roundRect">
            <a:avLst>
              <a:gd name="adj" fmla="val 5702"/>
            </a:avLst>
          </a:prstGeom>
          <a:solidFill>
            <a:srgbClr val="E5EFE8"/>
          </a:solidFill>
          <a:ln w="10160">
            <a:solidFill>
              <a:srgbClr val="E5EFE8">
                <a:alpha val="0"/>
              </a:srgbClr>
            </a:solidFill>
            <a:prstDash val="solid"/>
          </a:ln>
        </p:spPr>
      </p:sp>
      <p:sp>
        <p:nvSpPr>
          <p:cNvPr id="21" name="Shape 19"/>
          <p:cNvSpPr/>
          <p:nvPr/>
        </p:nvSpPr>
        <p:spPr>
          <a:xfrm>
            <a:off x="713232" y="3639312"/>
            <a:ext cx="50292" cy="1792224"/>
          </a:xfrm>
          <a:prstGeom prst="roundRect">
            <a:avLst>
              <a:gd name="adj" fmla="val 36364"/>
            </a:avLst>
          </a:prstGeom>
          <a:solidFill>
            <a:srgbClr val="2E8069"/>
          </a:solidFill>
          <a:ln w="10160">
            <a:solidFill>
              <a:srgbClr val="2E8069">
                <a:alpha val="0"/>
              </a:srgbClr>
            </a:solidFill>
            <a:prstDash val="solid"/>
          </a:ln>
        </p:spPr>
      </p:sp>
      <p:sp>
        <p:nvSpPr>
          <p:cNvPr id="22" name="Text 20"/>
          <p:cNvSpPr/>
          <p:nvPr/>
        </p:nvSpPr>
        <p:spPr>
          <a:xfrm>
            <a:off x="1024128" y="3767328"/>
            <a:ext cx="3108960" cy="292608"/>
          </a:xfrm>
          <a:prstGeom prst="rect">
            <a:avLst/>
          </a:prstGeom>
          <a:noFill/>
          <a:ln/>
        </p:spPr>
        <p:txBody>
          <a:bodyPr wrap="square" lIns="0" tIns="0" rIns="0" bIns="0" rtlCol="0" anchor="ctr">
            <a:normAutofit/>
          </a:bodyPr>
          <a:lstStyle/>
          <a:p>
            <a:pPr algn="l" indent="0" marL="0">
              <a:buNone/>
            </a:pPr>
            <a:r>
              <a:rPr lang="en-US" sz="1900" b="1" dirty="0">
                <a:solidFill>
                  <a:srgbClr val="182D2A"/>
                </a:solidFill>
                <a:latin typeface="Georgia" pitchFamily="34" charset="0"/>
                <a:ea typeface="Georgia" pitchFamily="34" charset="-122"/>
                <a:cs typeface="Georgia" pitchFamily="34" charset="-120"/>
              </a:rPr>
              <a:t>Acceptance evidence</a:t>
            </a:r>
            <a:endParaRPr lang="en-US" sz="1900" dirty="0"/>
          </a:p>
        </p:txBody>
      </p:sp>
      <p:sp>
        <p:nvSpPr>
          <p:cNvPr id="23" name="Shape 21"/>
          <p:cNvSpPr/>
          <p:nvPr/>
        </p:nvSpPr>
        <p:spPr>
          <a:xfrm>
            <a:off x="1051560" y="4297680"/>
            <a:ext cx="118872" cy="118872"/>
          </a:xfrm>
          <a:prstGeom prst="ellipse">
            <a:avLst/>
          </a:prstGeom>
          <a:solidFill>
            <a:srgbClr val="2E8069"/>
          </a:solidFill>
          <a:ln w="12700">
            <a:solidFill>
              <a:srgbClr val="2E8069">
                <a:alpha val="0"/>
              </a:srgbClr>
            </a:solidFill>
            <a:prstDash val="solid"/>
          </a:ln>
        </p:spPr>
      </p:sp>
      <p:sp>
        <p:nvSpPr>
          <p:cNvPr id="24" name="Text 22"/>
          <p:cNvSpPr/>
          <p:nvPr/>
        </p:nvSpPr>
        <p:spPr>
          <a:xfrm>
            <a:off x="1307592" y="4270248"/>
            <a:ext cx="5577840" cy="256032"/>
          </a:xfrm>
          <a:prstGeom prst="rect">
            <a:avLst/>
          </a:prstGeom>
          <a:noFill/>
          <a:ln/>
        </p:spPr>
        <p:txBody>
          <a:bodyPr wrap="square" lIns="0" tIns="0" rIns="0" bIns="0" rtlCol="0" anchor="ctr">
            <a:normAutofit/>
          </a:bodyPr>
          <a:lstStyle/>
          <a:p>
            <a:pPr algn="l" indent="0" marL="0">
              <a:buNone/>
            </a:pPr>
            <a:r>
              <a:rPr lang="en-US" sz="1120" dirty="0">
                <a:solidFill>
                  <a:srgbClr val="182D2A"/>
                </a:solidFill>
                <a:latin typeface="Aptos" pitchFamily="34" charset="0"/>
                <a:ea typeface="Aptos" pitchFamily="34" charset="-122"/>
                <a:cs typeface="Aptos" pitchFamily="34" charset="-120"/>
              </a:rPr>
              <a:t>API tests cover ingestion, normalization, Unicode, relevance and evidence.</a:t>
            </a:r>
            <a:endParaRPr lang="en-US" sz="1120" dirty="0"/>
          </a:p>
        </p:txBody>
      </p:sp>
      <p:sp>
        <p:nvSpPr>
          <p:cNvPr id="25" name="Shape 23"/>
          <p:cNvSpPr/>
          <p:nvPr/>
        </p:nvSpPr>
        <p:spPr>
          <a:xfrm>
            <a:off x="1051560" y="4654296"/>
            <a:ext cx="118872" cy="118872"/>
          </a:xfrm>
          <a:prstGeom prst="ellipse">
            <a:avLst/>
          </a:prstGeom>
          <a:solidFill>
            <a:srgbClr val="2E8069"/>
          </a:solidFill>
          <a:ln w="12700">
            <a:solidFill>
              <a:srgbClr val="2E8069">
                <a:alpha val="0"/>
              </a:srgbClr>
            </a:solidFill>
            <a:prstDash val="solid"/>
          </a:ln>
        </p:spPr>
      </p:sp>
      <p:sp>
        <p:nvSpPr>
          <p:cNvPr id="26" name="Text 24"/>
          <p:cNvSpPr/>
          <p:nvPr/>
        </p:nvSpPr>
        <p:spPr>
          <a:xfrm>
            <a:off x="1307592" y="4626864"/>
            <a:ext cx="5577840" cy="256032"/>
          </a:xfrm>
          <a:prstGeom prst="rect">
            <a:avLst/>
          </a:prstGeom>
          <a:noFill/>
          <a:ln/>
        </p:spPr>
        <p:txBody>
          <a:bodyPr wrap="square" lIns="0" tIns="0" rIns="0" bIns="0" rtlCol="0" anchor="ctr">
            <a:normAutofit/>
          </a:bodyPr>
          <a:lstStyle/>
          <a:p>
            <a:pPr algn="l" indent="0" marL="0">
              <a:buNone/>
            </a:pPr>
            <a:r>
              <a:rPr lang="en-US" sz="1120" dirty="0">
                <a:solidFill>
                  <a:srgbClr val="182D2A"/>
                </a:solidFill>
                <a:latin typeface="Aptos" pitchFamily="34" charset="0"/>
                <a:ea typeface="Aptos" pitchFamily="34" charset="-122"/>
                <a:cs typeface="Aptos" pitchFamily="34" charset="-120"/>
              </a:rPr>
              <a:t>Live Cloudflare search stored a publisher page with discovery provenance.</a:t>
            </a:r>
            <a:endParaRPr lang="en-US" sz="1120" dirty="0"/>
          </a:p>
        </p:txBody>
      </p:sp>
      <p:sp>
        <p:nvSpPr>
          <p:cNvPr id="27" name="Shape 25"/>
          <p:cNvSpPr/>
          <p:nvPr/>
        </p:nvSpPr>
        <p:spPr>
          <a:xfrm>
            <a:off x="1051560" y="5010912"/>
            <a:ext cx="118872" cy="118872"/>
          </a:xfrm>
          <a:prstGeom prst="ellipse">
            <a:avLst/>
          </a:prstGeom>
          <a:solidFill>
            <a:srgbClr val="2E8069"/>
          </a:solidFill>
          <a:ln w="12700">
            <a:solidFill>
              <a:srgbClr val="2E8069">
                <a:alpha val="0"/>
              </a:srgbClr>
            </a:solidFill>
            <a:prstDash val="solid"/>
          </a:ln>
        </p:spPr>
      </p:sp>
      <p:sp>
        <p:nvSpPr>
          <p:cNvPr id="28" name="Text 26"/>
          <p:cNvSpPr/>
          <p:nvPr/>
        </p:nvSpPr>
        <p:spPr>
          <a:xfrm>
            <a:off x="1307592" y="4983480"/>
            <a:ext cx="5577840" cy="256032"/>
          </a:xfrm>
          <a:prstGeom prst="rect">
            <a:avLst/>
          </a:prstGeom>
          <a:noFill/>
          <a:ln/>
        </p:spPr>
        <p:txBody>
          <a:bodyPr wrap="square" lIns="0" tIns="0" rIns="0" bIns="0" rtlCol="0" anchor="ctr">
            <a:normAutofit/>
          </a:bodyPr>
          <a:lstStyle/>
          <a:p>
            <a:pPr algn="l" indent="0" marL="0">
              <a:buNone/>
            </a:pPr>
            <a:r>
              <a:rPr lang="en-US" sz="1120" dirty="0">
                <a:solidFill>
                  <a:srgbClr val="182D2A"/>
                </a:solidFill>
                <a:latin typeface="Aptos" pitchFamily="34" charset="0"/>
                <a:ea typeface="Aptos" pitchFamily="34" charset="-122"/>
                <a:cs typeface="Aptos" pitchFamily="34" charset="-120"/>
              </a:rPr>
              <a:t>Story and article views expose comparison, evidence and source links.</a:t>
            </a:r>
            <a:endParaRPr lang="en-US" sz="1120" dirty="0"/>
          </a:p>
        </p:txBody>
      </p:sp>
      <p:sp>
        <p:nvSpPr>
          <p:cNvPr id="29" name="Shape 27"/>
          <p:cNvSpPr/>
          <p:nvPr/>
        </p:nvSpPr>
        <p:spPr>
          <a:xfrm>
            <a:off x="7726680" y="3493008"/>
            <a:ext cx="3767328" cy="2084832"/>
          </a:xfrm>
          <a:prstGeom prst="roundRect">
            <a:avLst>
              <a:gd name="adj" fmla="val 5702"/>
            </a:avLst>
          </a:prstGeom>
          <a:solidFill>
            <a:srgbClr val="F7EBD7"/>
          </a:solidFill>
          <a:ln w="10160">
            <a:solidFill>
              <a:srgbClr val="F7EBD7">
                <a:alpha val="0"/>
              </a:srgbClr>
            </a:solidFill>
            <a:prstDash val="solid"/>
          </a:ln>
        </p:spPr>
      </p:sp>
      <p:sp>
        <p:nvSpPr>
          <p:cNvPr id="30" name="Shape 28"/>
          <p:cNvSpPr/>
          <p:nvPr/>
        </p:nvSpPr>
        <p:spPr>
          <a:xfrm>
            <a:off x="7726680" y="3639312"/>
            <a:ext cx="50292" cy="1792224"/>
          </a:xfrm>
          <a:prstGeom prst="roundRect">
            <a:avLst>
              <a:gd name="adj" fmla="val 36364"/>
            </a:avLst>
          </a:prstGeom>
          <a:solidFill>
            <a:srgbClr val="E7A54A"/>
          </a:solidFill>
          <a:ln w="10160">
            <a:solidFill>
              <a:srgbClr val="E7A54A">
                <a:alpha val="0"/>
              </a:srgbClr>
            </a:solidFill>
            <a:prstDash val="solid"/>
          </a:ln>
        </p:spPr>
      </p:sp>
      <p:sp>
        <p:nvSpPr>
          <p:cNvPr id="31" name="Text 29"/>
          <p:cNvSpPr/>
          <p:nvPr/>
        </p:nvSpPr>
        <p:spPr>
          <a:xfrm>
            <a:off x="8046720" y="3767328"/>
            <a:ext cx="2971800" cy="292608"/>
          </a:xfrm>
          <a:prstGeom prst="rect">
            <a:avLst/>
          </a:prstGeom>
          <a:noFill/>
          <a:ln/>
        </p:spPr>
        <p:txBody>
          <a:bodyPr wrap="square" lIns="0" tIns="0" rIns="0" bIns="0" rtlCol="0" anchor="ctr">
            <a:normAutofit/>
          </a:bodyPr>
          <a:lstStyle/>
          <a:p>
            <a:pPr algn="l" indent="0" marL="0">
              <a:buNone/>
            </a:pPr>
            <a:r>
              <a:rPr lang="en-US" sz="1800" b="1" dirty="0">
                <a:solidFill>
                  <a:srgbClr val="182D2A"/>
                </a:solidFill>
                <a:latin typeface="Georgia" pitchFamily="34" charset="0"/>
                <a:ea typeface="Georgia" pitchFamily="34" charset="-122"/>
                <a:cs typeface="Georgia" pitchFamily="34" charset="-120"/>
              </a:rPr>
              <a:t>What is not verified</a:t>
            </a:r>
            <a:endParaRPr lang="en-US" sz="1800" dirty="0"/>
          </a:p>
        </p:txBody>
      </p:sp>
      <p:sp>
        <p:nvSpPr>
          <p:cNvPr id="32" name="Text 30"/>
          <p:cNvSpPr/>
          <p:nvPr/>
        </p:nvSpPr>
        <p:spPr>
          <a:xfrm>
            <a:off x="8046720" y="4279392"/>
            <a:ext cx="2834640" cy="758952"/>
          </a:xfrm>
          <a:prstGeom prst="rect">
            <a:avLst/>
          </a:prstGeom>
          <a:noFill/>
          <a:ln/>
        </p:spPr>
        <p:txBody>
          <a:bodyPr wrap="square" lIns="0" tIns="0" rIns="0" bIns="0" rtlCol="0" anchor="t">
            <a:normAutofit/>
          </a:bodyPr>
          <a:lstStyle/>
          <a:p>
            <a:pPr algn="l" indent="0" marL="0">
              <a:buNone/>
            </a:pPr>
            <a:r>
              <a:rPr lang="en-US" sz="1220" dirty="0">
                <a:solidFill>
                  <a:srgbClr val="64766E"/>
                </a:solidFill>
                <a:latin typeface="Aptos" pitchFamily="34" charset="0"/>
                <a:ea typeface="Aptos" pitchFamily="34" charset="-122"/>
                <a:cs typeface="Aptos" pitchFamily="34" charset="-120"/>
              </a:rPr>
              <a:t>No human-labeled multilingual benchmark; no validation of JEV with a supplied key; no claim of production-grade security or scale.</a:t>
            </a:r>
            <a:endParaRPr lang="en-US" sz="1220" dirty="0"/>
          </a:p>
        </p:txBody>
      </p:sp>
      <p:sp>
        <p:nvSpPr>
          <p:cNvPr id="33" name="Shape 31"/>
          <p:cNvSpPr/>
          <p:nvPr/>
        </p:nvSpPr>
        <p:spPr>
          <a:xfrm>
            <a:off x="8046720" y="5074920"/>
            <a:ext cx="1792224" cy="274320"/>
          </a:xfrm>
          <a:prstGeom prst="roundRect">
            <a:avLst>
              <a:gd name="adj" fmla="val 43333"/>
            </a:avLst>
          </a:prstGeom>
          <a:solidFill>
            <a:srgbClr val="FFFFFF"/>
          </a:solidFill>
          <a:ln w="10160">
            <a:solidFill>
              <a:srgbClr val="FFFFFF">
                <a:alpha val="0"/>
              </a:srgbClr>
            </a:solidFill>
            <a:prstDash val="solid"/>
          </a:ln>
        </p:spPr>
      </p:sp>
      <p:sp>
        <p:nvSpPr>
          <p:cNvPr id="34" name="Text 32"/>
          <p:cNvSpPr/>
          <p:nvPr/>
        </p:nvSpPr>
        <p:spPr>
          <a:xfrm>
            <a:off x="8138160" y="5084064"/>
            <a:ext cx="1609344"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C8734E"/>
                </a:solidFill>
                <a:latin typeface="Aptos" pitchFamily="34" charset="0"/>
                <a:ea typeface="Aptos" pitchFamily="34" charset="-122"/>
                <a:cs typeface="Aptos" pitchFamily="34" charset="-120"/>
              </a:rPr>
              <a:t>CHECK AT PRESENTATION</a:t>
            </a:r>
            <a:endParaRPr lang="en-US" sz="90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16 / LIMITS AND RESPONSIBLE INTERPRETATION</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Do not confuse a useful workflow with a verified conclusion</a:t>
            </a:r>
            <a:endParaRPr lang="en-US" sz="3000" dirty="0"/>
          </a:p>
        </p:txBody>
      </p:sp>
      <p:sp>
        <p:nvSpPr>
          <p:cNvPr id="4" name="Shape 2"/>
          <p:cNvSpPr/>
          <p:nvPr/>
        </p:nvSpPr>
        <p:spPr>
          <a:xfrm>
            <a:off x="749808" y="1783080"/>
            <a:ext cx="1207008" cy="292608"/>
          </a:xfrm>
          <a:prstGeom prst="roundRect">
            <a:avLst>
              <a:gd name="adj" fmla="val 40625"/>
            </a:avLst>
          </a:prstGeom>
          <a:solidFill>
            <a:srgbClr val="F7EBD7"/>
          </a:solidFill>
          <a:ln w="10160">
            <a:solidFill>
              <a:srgbClr val="F7EBD7">
                <a:alpha val="0"/>
              </a:srgbClr>
            </a:solidFill>
            <a:prstDash val="solid"/>
          </a:ln>
        </p:spPr>
      </p:sp>
      <p:sp>
        <p:nvSpPr>
          <p:cNvPr id="5" name="Text 3"/>
          <p:cNvSpPr/>
          <p:nvPr/>
        </p:nvSpPr>
        <p:spPr>
          <a:xfrm>
            <a:off x="841248" y="1792224"/>
            <a:ext cx="1024128" cy="274320"/>
          </a:xfrm>
          <a:prstGeom prst="rect">
            <a:avLst/>
          </a:prstGeom>
          <a:noFill/>
          <a:ln/>
        </p:spPr>
        <p:txBody>
          <a:bodyPr wrap="square" lIns="0" tIns="0" rIns="0" bIns="0" rtlCol="0" anchor="ctr">
            <a:normAutofit/>
          </a:bodyPr>
          <a:lstStyle/>
          <a:p>
            <a:pPr algn="ctr" indent="0" marL="0">
              <a:buNone/>
            </a:pPr>
            <a:r>
              <a:rPr lang="en-US" sz="900" b="1" spc="40" kern="0" dirty="0">
                <a:solidFill>
                  <a:srgbClr val="C8734E"/>
                </a:solidFill>
                <a:latin typeface="Aptos" pitchFamily="34" charset="0"/>
                <a:ea typeface="Aptos" pitchFamily="34" charset="-122"/>
                <a:cs typeface="Aptos" pitchFamily="34" charset="-120"/>
              </a:rPr>
              <a:t>SAMPLE</a:t>
            </a:r>
            <a:endParaRPr lang="en-US" sz="900" dirty="0"/>
          </a:p>
        </p:txBody>
      </p:sp>
      <p:sp>
        <p:nvSpPr>
          <p:cNvPr id="6" name="Text 4"/>
          <p:cNvSpPr/>
          <p:nvPr/>
        </p:nvSpPr>
        <p:spPr>
          <a:xfrm>
            <a:off x="2231136" y="1810512"/>
            <a:ext cx="8732520" cy="301752"/>
          </a:xfrm>
          <a:prstGeom prst="rect">
            <a:avLst/>
          </a:prstGeom>
          <a:noFill/>
          <a:ln/>
        </p:spPr>
        <p:txBody>
          <a:bodyPr wrap="square" lIns="0" tIns="0" rIns="0" bIns="0" rtlCol="0" anchor="ctr">
            <a:normAutofit/>
          </a:bodyPr>
          <a:lstStyle/>
          <a:p>
            <a:pPr algn="l" indent="0" marL="0">
              <a:buNone/>
            </a:pPr>
            <a:r>
              <a:rPr lang="en-US" sz="1300" dirty="0">
                <a:solidFill>
                  <a:srgbClr val="182D2A"/>
                </a:solidFill>
                <a:latin typeface="Aptos" pitchFamily="34" charset="0"/>
                <a:ea typeface="Aptos" pitchFamily="34" charset="-122"/>
                <a:cs typeface="Aptos" pitchFamily="34" charset="-120"/>
              </a:rPr>
              <a:t>Feed discovery is incomplete; publishers may block pages. Excerpts are labeled.</a:t>
            </a:r>
            <a:endParaRPr lang="en-US" sz="1300" dirty="0"/>
          </a:p>
        </p:txBody>
      </p:sp>
      <p:sp>
        <p:nvSpPr>
          <p:cNvPr id="7" name="Shape 5"/>
          <p:cNvSpPr/>
          <p:nvPr/>
        </p:nvSpPr>
        <p:spPr>
          <a:xfrm>
            <a:off x="2231136" y="2313432"/>
            <a:ext cx="8769096" cy="0"/>
          </a:xfrm>
          <a:prstGeom prst="line">
            <a:avLst/>
          </a:prstGeom>
          <a:noFill/>
          <a:ln w="8255">
            <a:solidFill>
              <a:srgbClr val="D9DFD7"/>
            </a:solidFill>
            <a:prstDash val="solid"/>
            <a:headEnd type="none"/>
            <a:tailEnd type="none"/>
          </a:ln>
        </p:spPr>
      </p:sp>
      <p:sp>
        <p:nvSpPr>
          <p:cNvPr id="8" name="Shape 6"/>
          <p:cNvSpPr/>
          <p:nvPr/>
        </p:nvSpPr>
        <p:spPr>
          <a:xfrm>
            <a:off x="749808" y="2542032"/>
            <a:ext cx="1207008" cy="292608"/>
          </a:xfrm>
          <a:prstGeom prst="roundRect">
            <a:avLst>
              <a:gd name="adj" fmla="val 40625"/>
            </a:avLst>
          </a:prstGeom>
          <a:solidFill>
            <a:srgbClr val="E5EFE8"/>
          </a:solidFill>
          <a:ln w="10160">
            <a:solidFill>
              <a:srgbClr val="E5EFE8">
                <a:alpha val="0"/>
              </a:srgbClr>
            </a:solidFill>
            <a:prstDash val="solid"/>
          </a:ln>
        </p:spPr>
      </p:sp>
      <p:sp>
        <p:nvSpPr>
          <p:cNvPr id="9" name="Text 7"/>
          <p:cNvSpPr/>
          <p:nvPr/>
        </p:nvSpPr>
        <p:spPr>
          <a:xfrm>
            <a:off x="841248" y="2551176"/>
            <a:ext cx="1024128" cy="274320"/>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LANGUAGE</a:t>
            </a:r>
            <a:endParaRPr lang="en-US" sz="900" dirty="0"/>
          </a:p>
        </p:txBody>
      </p:sp>
      <p:sp>
        <p:nvSpPr>
          <p:cNvPr id="10" name="Text 8"/>
          <p:cNvSpPr/>
          <p:nvPr/>
        </p:nvSpPr>
        <p:spPr>
          <a:xfrm>
            <a:off x="2231136" y="2569464"/>
            <a:ext cx="8732520" cy="301752"/>
          </a:xfrm>
          <a:prstGeom prst="rect">
            <a:avLst/>
          </a:prstGeom>
          <a:noFill/>
          <a:ln/>
        </p:spPr>
        <p:txBody>
          <a:bodyPr wrap="square" lIns="0" tIns="0" rIns="0" bIns="0" rtlCol="0" anchor="ctr">
            <a:normAutofit/>
          </a:bodyPr>
          <a:lstStyle/>
          <a:p>
            <a:pPr algn="l" indent="0" marL="0">
              <a:buNone/>
            </a:pPr>
            <a:r>
              <a:rPr lang="en-US" sz="1300" dirty="0">
                <a:solidFill>
                  <a:srgbClr val="182D2A"/>
                </a:solidFill>
                <a:latin typeface="Aptos" pitchFamily="34" charset="0"/>
                <a:ea typeface="Aptos" pitchFamily="34" charset="-122"/>
                <a:cs typeface="Aptos" pitchFamily="34" charset="-120"/>
              </a:rPr>
              <a:t>Script detection can miss transliteration, code-switching and short text.</a:t>
            </a:r>
            <a:endParaRPr lang="en-US" sz="1300" dirty="0"/>
          </a:p>
        </p:txBody>
      </p:sp>
      <p:sp>
        <p:nvSpPr>
          <p:cNvPr id="11" name="Shape 9"/>
          <p:cNvSpPr/>
          <p:nvPr/>
        </p:nvSpPr>
        <p:spPr>
          <a:xfrm>
            <a:off x="2231136" y="3072384"/>
            <a:ext cx="8769096" cy="0"/>
          </a:xfrm>
          <a:prstGeom prst="line">
            <a:avLst/>
          </a:prstGeom>
          <a:noFill/>
          <a:ln w="8255">
            <a:solidFill>
              <a:srgbClr val="D9DFD7"/>
            </a:solidFill>
            <a:prstDash val="solid"/>
            <a:headEnd type="none"/>
            <a:tailEnd type="none"/>
          </a:ln>
        </p:spPr>
      </p:sp>
      <p:sp>
        <p:nvSpPr>
          <p:cNvPr id="12" name="Shape 10"/>
          <p:cNvSpPr/>
          <p:nvPr/>
        </p:nvSpPr>
        <p:spPr>
          <a:xfrm>
            <a:off x="749808" y="3300984"/>
            <a:ext cx="1207008" cy="292608"/>
          </a:xfrm>
          <a:prstGeom prst="roundRect">
            <a:avLst>
              <a:gd name="adj" fmla="val 40625"/>
            </a:avLst>
          </a:prstGeom>
          <a:solidFill>
            <a:srgbClr val="E5EFE8"/>
          </a:solidFill>
          <a:ln w="10160">
            <a:solidFill>
              <a:srgbClr val="E5EFE8">
                <a:alpha val="0"/>
              </a:srgbClr>
            </a:solidFill>
            <a:prstDash val="solid"/>
          </a:ln>
        </p:spPr>
      </p:sp>
      <p:sp>
        <p:nvSpPr>
          <p:cNvPr id="13" name="Text 11"/>
          <p:cNvSpPr/>
          <p:nvPr/>
        </p:nvSpPr>
        <p:spPr>
          <a:xfrm>
            <a:off x="841248" y="3310128"/>
            <a:ext cx="1024128" cy="274320"/>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MODEL</a:t>
            </a:r>
            <a:endParaRPr lang="en-US" sz="900" dirty="0"/>
          </a:p>
        </p:txBody>
      </p:sp>
      <p:sp>
        <p:nvSpPr>
          <p:cNvPr id="14" name="Text 12"/>
          <p:cNvSpPr/>
          <p:nvPr/>
        </p:nvSpPr>
        <p:spPr>
          <a:xfrm>
            <a:off x="2231136" y="3328416"/>
            <a:ext cx="8732520" cy="301752"/>
          </a:xfrm>
          <a:prstGeom prst="rect">
            <a:avLst/>
          </a:prstGeom>
          <a:noFill/>
          <a:ln/>
        </p:spPr>
        <p:txBody>
          <a:bodyPr wrap="square" lIns="0" tIns="0" rIns="0" bIns="0" rtlCol="0" anchor="ctr">
            <a:normAutofit/>
          </a:bodyPr>
          <a:lstStyle/>
          <a:p>
            <a:pPr algn="l" indent="0" marL="0">
              <a:buNone/>
            </a:pPr>
            <a:r>
              <a:rPr lang="en-US" sz="1300" dirty="0">
                <a:solidFill>
                  <a:srgbClr val="182D2A"/>
                </a:solidFill>
                <a:latin typeface="Aptos" pitchFamily="34" charset="0"/>
                <a:ea typeface="Aptos" pitchFamily="34" charset="-122"/>
                <a:cs typeface="Aptos" pitchFamily="34" charset="-120"/>
              </a:rPr>
              <a:t>Tone, stance, relevance and topic labels can be wrong; confidence is not correctness.</a:t>
            </a:r>
            <a:endParaRPr lang="en-US" sz="1300" dirty="0"/>
          </a:p>
        </p:txBody>
      </p:sp>
      <p:sp>
        <p:nvSpPr>
          <p:cNvPr id="15" name="Shape 13"/>
          <p:cNvSpPr/>
          <p:nvPr/>
        </p:nvSpPr>
        <p:spPr>
          <a:xfrm>
            <a:off x="2231136" y="3831336"/>
            <a:ext cx="8769096" cy="0"/>
          </a:xfrm>
          <a:prstGeom prst="line">
            <a:avLst/>
          </a:prstGeom>
          <a:noFill/>
          <a:ln w="8255">
            <a:solidFill>
              <a:srgbClr val="D9DFD7"/>
            </a:solidFill>
            <a:prstDash val="solid"/>
            <a:headEnd type="none"/>
            <a:tailEnd type="none"/>
          </a:ln>
        </p:spPr>
      </p:sp>
      <p:sp>
        <p:nvSpPr>
          <p:cNvPr id="16" name="Shape 14"/>
          <p:cNvSpPr/>
          <p:nvPr/>
        </p:nvSpPr>
        <p:spPr>
          <a:xfrm>
            <a:off x="749808" y="4059936"/>
            <a:ext cx="1207008" cy="292608"/>
          </a:xfrm>
          <a:prstGeom prst="roundRect">
            <a:avLst>
              <a:gd name="adj" fmla="val 40625"/>
            </a:avLst>
          </a:prstGeom>
          <a:solidFill>
            <a:srgbClr val="E5EFE8"/>
          </a:solidFill>
          <a:ln w="10160">
            <a:solidFill>
              <a:srgbClr val="E5EFE8">
                <a:alpha val="0"/>
              </a:srgbClr>
            </a:solidFill>
            <a:prstDash val="solid"/>
          </a:ln>
        </p:spPr>
      </p:sp>
      <p:sp>
        <p:nvSpPr>
          <p:cNvPr id="17" name="Text 15"/>
          <p:cNvSpPr/>
          <p:nvPr/>
        </p:nvSpPr>
        <p:spPr>
          <a:xfrm>
            <a:off x="841248" y="4069080"/>
            <a:ext cx="1024128" cy="274320"/>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CLUSTER</a:t>
            </a:r>
            <a:endParaRPr lang="en-US" sz="900" dirty="0"/>
          </a:p>
        </p:txBody>
      </p:sp>
      <p:sp>
        <p:nvSpPr>
          <p:cNvPr id="18" name="Text 16"/>
          <p:cNvSpPr/>
          <p:nvPr/>
        </p:nvSpPr>
        <p:spPr>
          <a:xfrm>
            <a:off x="2231136" y="4087368"/>
            <a:ext cx="8732520" cy="301752"/>
          </a:xfrm>
          <a:prstGeom prst="rect">
            <a:avLst/>
          </a:prstGeom>
          <a:noFill/>
          <a:ln/>
        </p:spPr>
        <p:txBody>
          <a:bodyPr wrap="square" lIns="0" tIns="0" rIns="0" bIns="0" rtlCol="0" anchor="ctr">
            <a:normAutofit/>
          </a:bodyPr>
          <a:lstStyle/>
          <a:p>
            <a:pPr algn="l" indent="0" marL="0">
              <a:buNone/>
            </a:pPr>
            <a:r>
              <a:rPr lang="en-US" sz="1300" dirty="0">
                <a:solidFill>
                  <a:srgbClr val="182D2A"/>
                </a:solidFill>
                <a:latin typeface="Aptos" pitchFamily="34" charset="0"/>
                <a:ea typeface="Aptos" pitchFamily="34" charset="-122"/>
                <a:cs typeface="Aptos" pitchFamily="34" charset="-120"/>
              </a:rPr>
              <a:t>Local embeddings can split or merge stories; the hosted set is query-scoped.</a:t>
            </a:r>
            <a:endParaRPr lang="en-US" sz="1300" dirty="0"/>
          </a:p>
        </p:txBody>
      </p:sp>
      <p:sp>
        <p:nvSpPr>
          <p:cNvPr id="19" name="Shape 17"/>
          <p:cNvSpPr/>
          <p:nvPr/>
        </p:nvSpPr>
        <p:spPr>
          <a:xfrm>
            <a:off x="2231136" y="4590288"/>
            <a:ext cx="8769096" cy="0"/>
          </a:xfrm>
          <a:prstGeom prst="line">
            <a:avLst/>
          </a:prstGeom>
          <a:noFill/>
          <a:ln w="8255">
            <a:solidFill>
              <a:srgbClr val="D9DFD7"/>
            </a:solidFill>
            <a:prstDash val="solid"/>
            <a:headEnd type="none"/>
            <a:tailEnd type="none"/>
          </a:ln>
        </p:spPr>
      </p:sp>
      <p:sp>
        <p:nvSpPr>
          <p:cNvPr id="20" name="Shape 18"/>
          <p:cNvSpPr/>
          <p:nvPr/>
        </p:nvSpPr>
        <p:spPr>
          <a:xfrm>
            <a:off x="749808" y="4818888"/>
            <a:ext cx="1207008" cy="292608"/>
          </a:xfrm>
          <a:prstGeom prst="roundRect">
            <a:avLst>
              <a:gd name="adj" fmla="val 40625"/>
            </a:avLst>
          </a:prstGeom>
          <a:solidFill>
            <a:srgbClr val="E5EFE8"/>
          </a:solidFill>
          <a:ln w="10160">
            <a:solidFill>
              <a:srgbClr val="E5EFE8">
                <a:alpha val="0"/>
              </a:srgbClr>
            </a:solidFill>
            <a:prstDash val="solid"/>
          </a:ln>
        </p:spPr>
      </p:sp>
      <p:sp>
        <p:nvSpPr>
          <p:cNvPr id="21" name="Text 19"/>
          <p:cNvSpPr/>
          <p:nvPr/>
        </p:nvSpPr>
        <p:spPr>
          <a:xfrm>
            <a:off x="841248" y="4828032"/>
            <a:ext cx="1024128" cy="274320"/>
          </a:xfrm>
          <a:prstGeom prst="rect">
            <a:avLst/>
          </a:prstGeom>
          <a:noFill/>
          <a:ln/>
        </p:spPr>
        <p:txBody>
          <a:bodyPr wrap="square" lIns="0" tIns="0" rIns="0" bIns="0" rtlCol="0" anchor="ctr">
            <a:normAutofit/>
          </a:bodyPr>
          <a:lstStyle/>
          <a:p>
            <a:pPr algn="ctr" indent="0" marL="0">
              <a:buNone/>
            </a:pPr>
            <a:r>
              <a:rPr lang="en-US" sz="900" b="1" spc="40" kern="0" dirty="0">
                <a:solidFill>
                  <a:srgbClr val="173D35"/>
                </a:solidFill>
                <a:latin typeface="Aptos" pitchFamily="34" charset="0"/>
                <a:ea typeface="Aptos" pitchFamily="34" charset="-122"/>
                <a:cs typeface="Aptos" pitchFamily="34" charset="-120"/>
              </a:rPr>
              <a:t>COMPARISON</a:t>
            </a:r>
            <a:endParaRPr lang="en-US" sz="900" dirty="0"/>
          </a:p>
        </p:txBody>
      </p:sp>
      <p:sp>
        <p:nvSpPr>
          <p:cNvPr id="22" name="Text 20"/>
          <p:cNvSpPr/>
          <p:nvPr/>
        </p:nvSpPr>
        <p:spPr>
          <a:xfrm>
            <a:off x="2231136" y="4846320"/>
            <a:ext cx="8732520" cy="301752"/>
          </a:xfrm>
          <a:prstGeom prst="rect">
            <a:avLst/>
          </a:prstGeom>
          <a:noFill/>
          <a:ln/>
        </p:spPr>
        <p:txBody>
          <a:bodyPr wrap="square" lIns="0" tIns="0" rIns="0" bIns="0" rtlCol="0" anchor="ctr">
            <a:normAutofit/>
          </a:bodyPr>
          <a:lstStyle/>
          <a:p>
            <a:pPr algn="l" indent="0" marL="0">
              <a:buNone/>
            </a:pPr>
            <a:r>
              <a:rPr lang="en-US" sz="1300" dirty="0">
                <a:solidFill>
                  <a:srgbClr val="182D2A"/>
                </a:solidFill>
                <a:latin typeface="Aptos" pitchFamily="34" charset="0"/>
                <a:ea typeface="Aptos" pitchFamily="34" charset="-122"/>
                <a:cs typeface="Aptos" pitchFamily="34" charset="-120"/>
              </a:rPr>
              <a:t>Different counts may reflect retrieval and sample size, not a real outlet effect.</a:t>
            </a:r>
            <a:endParaRPr lang="en-US" sz="1300" dirty="0"/>
          </a:p>
        </p:txBody>
      </p:sp>
      <p:sp>
        <p:nvSpPr>
          <p:cNvPr id="23" name="Shape 21"/>
          <p:cNvSpPr/>
          <p:nvPr/>
        </p:nvSpPr>
        <p:spPr>
          <a:xfrm>
            <a:off x="768096" y="5687568"/>
            <a:ext cx="10616184" cy="502920"/>
          </a:xfrm>
          <a:prstGeom prst="roundRect">
            <a:avLst>
              <a:gd name="adj" fmla="val 23636"/>
            </a:avLst>
          </a:prstGeom>
          <a:solidFill>
            <a:srgbClr val="173D35"/>
          </a:solidFill>
          <a:ln w="10160">
            <a:solidFill>
              <a:srgbClr val="173D35">
                <a:alpha val="0"/>
              </a:srgbClr>
            </a:solidFill>
            <a:prstDash val="solid"/>
          </a:ln>
        </p:spPr>
      </p:sp>
      <p:sp>
        <p:nvSpPr>
          <p:cNvPr id="24" name="Shape 22"/>
          <p:cNvSpPr/>
          <p:nvPr/>
        </p:nvSpPr>
        <p:spPr>
          <a:xfrm>
            <a:off x="768096" y="5833872"/>
            <a:ext cx="50292" cy="210312"/>
          </a:xfrm>
          <a:prstGeom prst="roundRect">
            <a:avLst>
              <a:gd name="adj" fmla="val 36364"/>
            </a:avLst>
          </a:prstGeom>
          <a:solidFill>
            <a:srgbClr val="E7A54A"/>
          </a:solidFill>
          <a:ln w="10160">
            <a:solidFill>
              <a:srgbClr val="E7A54A">
                <a:alpha val="0"/>
              </a:srgbClr>
            </a:solidFill>
            <a:prstDash val="solid"/>
          </a:ln>
        </p:spPr>
      </p:sp>
      <p:sp>
        <p:nvSpPr>
          <p:cNvPr id="25" name="Text 23"/>
          <p:cNvSpPr/>
          <p:nvPr/>
        </p:nvSpPr>
        <p:spPr>
          <a:xfrm>
            <a:off x="1115568" y="5824728"/>
            <a:ext cx="9784080"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Never use this prototype alone to claim truth, intent, political bias or overall outlet quality.</a:t>
            </a:r>
            <a:endParaRPr lang="en-US" sz="125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30352" y="347472"/>
            <a:ext cx="7132320" cy="210312"/>
          </a:xfrm>
          <a:prstGeom prst="rect">
            <a:avLst/>
          </a:prstGeom>
          <a:noFill/>
          <a:ln/>
        </p:spPr>
        <p:txBody>
          <a:bodyPr wrap="square" lIns="0" tIns="0" rIns="0" bIns="0" rtlCol="0" anchor="ctr">
            <a:normAutofit/>
          </a:bodyPr>
          <a:lstStyle/>
          <a:p>
            <a:pPr algn="l" indent="0" marL="0">
              <a:buNone/>
            </a:pPr>
            <a:r>
              <a:rPr lang="en-US" sz="950" b="1" spc="160" kern="0" dirty="0">
                <a:solidFill>
                  <a:srgbClr val="2E8069"/>
                </a:solidFill>
                <a:latin typeface="Aptos" pitchFamily="34" charset="0"/>
                <a:ea typeface="Aptos" pitchFamily="34" charset="-122"/>
                <a:cs typeface="Aptos" pitchFamily="34" charset="-120"/>
              </a:rPr>
              <a:t>17 / SCOPE STATUS</a:t>
            </a:r>
            <a:endParaRPr lang="en-US" sz="950" dirty="0"/>
          </a:p>
        </p:txBody>
      </p:sp>
      <p:sp>
        <p:nvSpPr>
          <p:cNvPr id="3" name="Text 1"/>
          <p:cNvSpPr/>
          <p:nvPr/>
        </p:nvSpPr>
        <p:spPr>
          <a:xfrm>
            <a:off x="530352" y="676656"/>
            <a:ext cx="10972800" cy="566928"/>
          </a:xfrm>
          <a:prstGeom prst="rect">
            <a:avLst/>
          </a:prstGeom>
          <a:noFill/>
          <a:ln/>
        </p:spPr>
        <p:txBody>
          <a:bodyPr wrap="square" lIns="0" tIns="0" rIns="0" bIns="0" rtlCol="0" anchor="ctr">
            <a:normAutofit/>
          </a:bodyPr>
          <a:lstStyle/>
          <a:p>
            <a:pPr algn="l" indent="0" marL="0">
              <a:buNone/>
            </a:pPr>
            <a:r>
              <a:rPr lang="en-US" sz="3000" b="1" dirty="0">
                <a:solidFill>
                  <a:srgbClr val="182D2A"/>
                </a:solidFill>
                <a:latin typeface="Georgia" pitchFamily="34" charset="0"/>
                <a:ea typeface="Georgia" pitchFamily="34" charset="-122"/>
                <a:cs typeface="Georgia" pitchFamily="34" charset="-120"/>
              </a:rPr>
              <a:t>Six capability groups define the completed functional slice</a:t>
            </a:r>
            <a:endParaRPr lang="en-US" sz="3000" dirty="0"/>
          </a:p>
        </p:txBody>
      </p:sp>
      <p:sp>
        <p:nvSpPr>
          <p:cNvPr id="4" name="Shape 2"/>
          <p:cNvSpPr/>
          <p:nvPr/>
        </p:nvSpPr>
        <p:spPr>
          <a:xfrm>
            <a:off x="713232" y="1792224"/>
            <a:ext cx="256032" cy="256032"/>
          </a:xfrm>
          <a:prstGeom prst="ellipse">
            <a:avLst/>
          </a:prstGeom>
          <a:solidFill>
            <a:srgbClr val="2E8069"/>
          </a:solidFill>
          <a:ln w="12700">
            <a:solidFill>
              <a:srgbClr val="2E8069">
                <a:alpha val="0"/>
              </a:srgbClr>
            </a:solidFill>
            <a:prstDash val="solid"/>
          </a:ln>
        </p:spPr>
      </p:sp>
      <p:sp>
        <p:nvSpPr>
          <p:cNvPr id="5" name="Text 3"/>
          <p:cNvSpPr/>
          <p:nvPr/>
        </p:nvSpPr>
        <p:spPr>
          <a:xfrm>
            <a:off x="713232" y="1815084"/>
            <a:ext cx="256032"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6" name="Text 4"/>
          <p:cNvSpPr/>
          <p:nvPr/>
        </p:nvSpPr>
        <p:spPr>
          <a:xfrm>
            <a:off x="1097280" y="1755648"/>
            <a:ext cx="3136392" cy="320040"/>
          </a:xfrm>
          <a:prstGeom prst="rect">
            <a:avLst/>
          </a:prstGeom>
          <a:noFill/>
          <a:ln/>
        </p:spPr>
        <p:txBody>
          <a:bodyPr wrap="square" lIns="0" tIns="0" rIns="0" bIns="0" rtlCol="0" anchor="ctr">
            <a:normAutofit/>
          </a:bodyPr>
          <a:lstStyle/>
          <a:p>
            <a:pPr algn="l" indent="0" marL="0">
              <a:buNone/>
            </a:pPr>
            <a:r>
              <a:rPr lang="en-US" sz="1230" b="1" dirty="0">
                <a:solidFill>
                  <a:srgbClr val="182D2A"/>
                </a:solidFill>
                <a:latin typeface="Aptos" pitchFamily="34" charset="0"/>
                <a:ea typeface="Aptos" pitchFamily="34" charset="-122"/>
                <a:cs typeface="Aptos" pitchFamily="34" charset="-120"/>
              </a:rPr>
              <a:t>Local foundation + demo dataset</a:t>
            </a:r>
            <a:endParaRPr lang="en-US" sz="1230" dirty="0"/>
          </a:p>
        </p:txBody>
      </p:sp>
      <p:sp>
        <p:nvSpPr>
          <p:cNvPr id="7" name="Shape 5"/>
          <p:cNvSpPr/>
          <p:nvPr/>
        </p:nvSpPr>
        <p:spPr>
          <a:xfrm>
            <a:off x="713232" y="2468880"/>
            <a:ext cx="256032" cy="256032"/>
          </a:xfrm>
          <a:prstGeom prst="ellipse">
            <a:avLst/>
          </a:prstGeom>
          <a:solidFill>
            <a:srgbClr val="2E8069"/>
          </a:solidFill>
          <a:ln w="12700">
            <a:solidFill>
              <a:srgbClr val="2E8069">
                <a:alpha val="0"/>
              </a:srgbClr>
            </a:solidFill>
            <a:prstDash val="solid"/>
          </a:ln>
        </p:spPr>
      </p:sp>
      <p:sp>
        <p:nvSpPr>
          <p:cNvPr id="8" name="Text 6"/>
          <p:cNvSpPr/>
          <p:nvPr/>
        </p:nvSpPr>
        <p:spPr>
          <a:xfrm>
            <a:off x="713232" y="2491740"/>
            <a:ext cx="256032"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9" name="Text 7"/>
          <p:cNvSpPr/>
          <p:nvPr/>
        </p:nvSpPr>
        <p:spPr>
          <a:xfrm>
            <a:off x="1097280" y="2432304"/>
            <a:ext cx="3136392" cy="320040"/>
          </a:xfrm>
          <a:prstGeom prst="rect">
            <a:avLst/>
          </a:prstGeom>
          <a:noFill/>
          <a:ln/>
        </p:spPr>
        <p:txBody>
          <a:bodyPr wrap="square" lIns="0" tIns="0" rIns="0" bIns="0" rtlCol="0" anchor="ctr">
            <a:normAutofit/>
          </a:bodyPr>
          <a:lstStyle/>
          <a:p>
            <a:pPr algn="l" indent="0" marL="0">
              <a:buNone/>
            </a:pPr>
            <a:r>
              <a:rPr lang="en-US" sz="1230" b="1" dirty="0">
                <a:solidFill>
                  <a:srgbClr val="182D2A"/>
                </a:solidFill>
                <a:latin typeface="Aptos" pitchFamily="34" charset="0"/>
                <a:ea typeface="Aptos" pitchFamily="34" charset="-122"/>
                <a:cs typeface="Aptos" pitchFamily="34" charset="-120"/>
              </a:rPr>
              <a:t>Ingestion + cleaning + provenance</a:t>
            </a:r>
            <a:endParaRPr lang="en-US" sz="1230" dirty="0"/>
          </a:p>
        </p:txBody>
      </p:sp>
      <p:sp>
        <p:nvSpPr>
          <p:cNvPr id="10" name="Shape 8"/>
          <p:cNvSpPr/>
          <p:nvPr/>
        </p:nvSpPr>
        <p:spPr>
          <a:xfrm>
            <a:off x="713232" y="3145536"/>
            <a:ext cx="256032" cy="256032"/>
          </a:xfrm>
          <a:prstGeom prst="ellipse">
            <a:avLst/>
          </a:prstGeom>
          <a:solidFill>
            <a:srgbClr val="2E8069"/>
          </a:solidFill>
          <a:ln w="12700">
            <a:solidFill>
              <a:srgbClr val="2E8069">
                <a:alpha val="0"/>
              </a:srgbClr>
            </a:solidFill>
            <a:prstDash val="solid"/>
          </a:ln>
        </p:spPr>
      </p:sp>
      <p:sp>
        <p:nvSpPr>
          <p:cNvPr id="11" name="Text 9"/>
          <p:cNvSpPr/>
          <p:nvPr/>
        </p:nvSpPr>
        <p:spPr>
          <a:xfrm>
            <a:off x="713232" y="3168396"/>
            <a:ext cx="256032"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12" name="Text 10"/>
          <p:cNvSpPr/>
          <p:nvPr/>
        </p:nvSpPr>
        <p:spPr>
          <a:xfrm>
            <a:off x="1097280" y="3108960"/>
            <a:ext cx="3136392" cy="320040"/>
          </a:xfrm>
          <a:prstGeom prst="rect">
            <a:avLst/>
          </a:prstGeom>
          <a:noFill/>
          <a:ln/>
        </p:spPr>
        <p:txBody>
          <a:bodyPr wrap="square" lIns="0" tIns="0" rIns="0" bIns="0" rtlCol="0" anchor="ctr">
            <a:normAutofit/>
          </a:bodyPr>
          <a:lstStyle/>
          <a:p>
            <a:pPr algn="l" indent="0" marL="0">
              <a:buNone/>
            </a:pPr>
            <a:r>
              <a:rPr lang="en-US" sz="1230" b="1" dirty="0">
                <a:solidFill>
                  <a:srgbClr val="182D2A"/>
                </a:solidFill>
                <a:latin typeface="Aptos" pitchFamily="34" charset="0"/>
                <a:ea typeface="Aptos" pitchFamily="34" charset="-122"/>
                <a:cs typeface="Aptos" pitchFamily="34" charset="-120"/>
              </a:rPr>
              <a:t>Five-language detection + relevance</a:t>
            </a:r>
            <a:endParaRPr lang="en-US" sz="1230" dirty="0"/>
          </a:p>
        </p:txBody>
      </p:sp>
      <p:sp>
        <p:nvSpPr>
          <p:cNvPr id="13" name="Shape 11"/>
          <p:cNvSpPr/>
          <p:nvPr/>
        </p:nvSpPr>
        <p:spPr>
          <a:xfrm>
            <a:off x="4562856" y="1792224"/>
            <a:ext cx="256032" cy="256032"/>
          </a:xfrm>
          <a:prstGeom prst="ellipse">
            <a:avLst/>
          </a:prstGeom>
          <a:solidFill>
            <a:srgbClr val="2E8069"/>
          </a:solidFill>
          <a:ln w="12700">
            <a:solidFill>
              <a:srgbClr val="2E8069">
                <a:alpha val="0"/>
              </a:srgbClr>
            </a:solidFill>
            <a:prstDash val="solid"/>
          </a:ln>
        </p:spPr>
      </p:sp>
      <p:sp>
        <p:nvSpPr>
          <p:cNvPr id="14" name="Text 12"/>
          <p:cNvSpPr/>
          <p:nvPr/>
        </p:nvSpPr>
        <p:spPr>
          <a:xfrm>
            <a:off x="4562856" y="1815084"/>
            <a:ext cx="256032"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15" name="Text 13"/>
          <p:cNvSpPr/>
          <p:nvPr/>
        </p:nvSpPr>
        <p:spPr>
          <a:xfrm>
            <a:off x="4946904" y="1755648"/>
            <a:ext cx="3136392" cy="320040"/>
          </a:xfrm>
          <a:prstGeom prst="rect">
            <a:avLst/>
          </a:prstGeom>
          <a:noFill/>
          <a:ln/>
        </p:spPr>
        <p:txBody>
          <a:bodyPr wrap="square" lIns="0" tIns="0" rIns="0" bIns="0" rtlCol="0" anchor="ctr">
            <a:normAutofit/>
          </a:bodyPr>
          <a:lstStyle/>
          <a:p>
            <a:pPr algn="l" indent="0" marL="0">
              <a:buNone/>
            </a:pPr>
            <a:r>
              <a:rPr lang="en-US" sz="1230" b="1" dirty="0">
                <a:solidFill>
                  <a:srgbClr val="182D2A"/>
                </a:solidFill>
                <a:latin typeface="Aptos" pitchFamily="34" charset="0"/>
                <a:ea typeface="Aptos" pitchFamily="34" charset="-122"/>
                <a:cs typeface="Aptos" pitchFamily="34" charset="-120"/>
              </a:rPr>
              <a:t>Article analysis + evidence</a:t>
            </a:r>
            <a:endParaRPr lang="en-US" sz="1230" dirty="0"/>
          </a:p>
        </p:txBody>
      </p:sp>
      <p:sp>
        <p:nvSpPr>
          <p:cNvPr id="16" name="Shape 14"/>
          <p:cNvSpPr/>
          <p:nvPr/>
        </p:nvSpPr>
        <p:spPr>
          <a:xfrm>
            <a:off x="4562856" y="2468880"/>
            <a:ext cx="256032" cy="256032"/>
          </a:xfrm>
          <a:prstGeom prst="ellipse">
            <a:avLst/>
          </a:prstGeom>
          <a:solidFill>
            <a:srgbClr val="2E8069"/>
          </a:solidFill>
          <a:ln w="12700">
            <a:solidFill>
              <a:srgbClr val="2E8069">
                <a:alpha val="0"/>
              </a:srgbClr>
            </a:solidFill>
            <a:prstDash val="solid"/>
          </a:ln>
        </p:spPr>
      </p:sp>
      <p:sp>
        <p:nvSpPr>
          <p:cNvPr id="17" name="Text 15"/>
          <p:cNvSpPr/>
          <p:nvPr/>
        </p:nvSpPr>
        <p:spPr>
          <a:xfrm>
            <a:off x="4562856" y="2491740"/>
            <a:ext cx="256032"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18" name="Text 16"/>
          <p:cNvSpPr/>
          <p:nvPr/>
        </p:nvSpPr>
        <p:spPr>
          <a:xfrm>
            <a:off x="4946904" y="2432304"/>
            <a:ext cx="3136392" cy="320040"/>
          </a:xfrm>
          <a:prstGeom prst="rect">
            <a:avLst/>
          </a:prstGeom>
          <a:noFill/>
          <a:ln/>
        </p:spPr>
        <p:txBody>
          <a:bodyPr wrap="square" lIns="0" tIns="0" rIns="0" bIns="0" rtlCol="0" anchor="ctr">
            <a:normAutofit/>
          </a:bodyPr>
          <a:lstStyle/>
          <a:p>
            <a:pPr algn="l" indent="0" marL="0">
              <a:buNone/>
            </a:pPr>
            <a:r>
              <a:rPr lang="en-US" sz="1230" b="1" dirty="0">
                <a:solidFill>
                  <a:srgbClr val="182D2A"/>
                </a:solidFill>
                <a:latin typeface="Aptos" pitchFamily="34" charset="0"/>
                <a:ea typeface="Aptos" pitchFamily="34" charset="-122"/>
                <a:cs typeface="Aptos" pitchFamily="34" charset="-120"/>
              </a:rPr>
              <a:t>Story comparison workflow</a:t>
            </a:r>
            <a:endParaRPr lang="en-US" sz="1230" dirty="0"/>
          </a:p>
        </p:txBody>
      </p:sp>
      <p:sp>
        <p:nvSpPr>
          <p:cNvPr id="19" name="Shape 17"/>
          <p:cNvSpPr/>
          <p:nvPr/>
        </p:nvSpPr>
        <p:spPr>
          <a:xfrm>
            <a:off x="4562856" y="3145536"/>
            <a:ext cx="256032" cy="256032"/>
          </a:xfrm>
          <a:prstGeom prst="ellipse">
            <a:avLst/>
          </a:prstGeom>
          <a:solidFill>
            <a:srgbClr val="2E8069"/>
          </a:solidFill>
          <a:ln w="12700">
            <a:solidFill>
              <a:srgbClr val="2E8069">
                <a:alpha val="0"/>
              </a:srgbClr>
            </a:solidFill>
            <a:prstDash val="solid"/>
          </a:ln>
        </p:spPr>
      </p:sp>
      <p:sp>
        <p:nvSpPr>
          <p:cNvPr id="20" name="Text 18"/>
          <p:cNvSpPr/>
          <p:nvPr/>
        </p:nvSpPr>
        <p:spPr>
          <a:xfrm>
            <a:off x="4562856" y="3168396"/>
            <a:ext cx="256032"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21" name="Text 19"/>
          <p:cNvSpPr/>
          <p:nvPr/>
        </p:nvSpPr>
        <p:spPr>
          <a:xfrm>
            <a:off x="4946904" y="3108960"/>
            <a:ext cx="3136392" cy="320040"/>
          </a:xfrm>
          <a:prstGeom prst="rect">
            <a:avLst/>
          </a:prstGeom>
          <a:noFill/>
          <a:ln/>
        </p:spPr>
        <p:txBody>
          <a:bodyPr wrap="square" lIns="0" tIns="0" rIns="0" bIns="0" rtlCol="0" anchor="ctr">
            <a:normAutofit/>
          </a:bodyPr>
          <a:lstStyle/>
          <a:p>
            <a:pPr algn="l" indent="0" marL="0">
              <a:buNone/>
            </a:pPr>
            <a:r>
              <a:rPr lang="en-US" sz="1230" b="1" dirty="0">
                <a:solidFill>
                  <a:srgbClr val="182D2A"/>
                </a:solidFill>
                <a:latin typeface="Aptos" pitchFamily="34" charset="0"/>
                <a:ea typeface="Aptos" pitchFamily="34" charset="-122"/>
                <a:cs typeface="Aptos" pitchFamily="34" charset="-120"/>
              </a:rPr>
              <a:t>API + research UI journey</a:t>
            </a:r>
            <a:endParaRPr lang="en-US" sz="1230" dirty="0"/>
          </a:p>
        </p:txBody>
      </p:sp>
      <p:sp>
        <p:nvSpPr>
          <p:cNvPr id="22" name="Shape 20"/>
          <p:cNvSpPr/>
          <p:nvPr/>
        </p:nvSpPr>
        <p:spPr>
          <a:xfrm>
            <a:off x="8284464" y="1764792"/>
            <a:ext cx="36576" cy="2212848"/>
          </a:xfrm>
          <a:prstGeom prst="roundRect">
            <a:avLst>
              <a:gd name="adj" fmla="val 50000"/>
            </a:avLst>
          </a:prstGeom>
          <a:solidFill>
            <a:srgbClr val="D9DFD7"/>
          </a:solidFill>
          <a:ln w="10160">
            <a:solidFill>
              <a:srgbClr val="D9DFD7">
                <a:alpha val="0"/>
              </a:srgbClr>
            </a:solidFill>
            <a:prstDash val="solid"/>
          </a:ln>
        </p:spPr>
      </p:sp>
      <p:sp>
        <p:nvSpPr>
          <p:cNvPr id="23" name="Shape 21"/>
          <p:cNvSpPr/>
          <p:nvPr/>
        </p:nvSpPr>
        <p:spPr>
          <a:xfrm>
            <a:off x="8595360" y="1737360"/>
            <a:ext cx="2862072" cy="2276856"/>
          </a:xfrm>
          <a:prstGeom prst="roundRect">
            <a:avLst>
              <a:gd name="adj" fmla="val 5221"/>
            </a:avLst>
          </a:prstGeom>
          <a:solidFill>
            <a:srgbClr val="173D35"/>
          </a:solidFill>
          <a:ln w="10160">
            <a:solidFill>
              <a:srgbClr val="173D35">
                <a:alpha val="0"/>
              </a:srgbClr>
            </a:solidFill>
            <a:prstDash val="solid"/>
          </a:ln>
        </p:spPr>
      </p:sp>
      <p:sp>
        <p:nvSpPr>
          <p:cNvPr id="24" name="Shape 22"/>
          <p:cNvSpPr/>
          <p:nvPr/>
        </p:nvSpPr>
        <p:spPr>
          <a:xfrm>
            <a:off x="8595360" y="1883664"/>
            <a:ext cx="50292" cy="1984248"/>
          </a:xfrm>
          <a:prstGeom prst="roundRect">
            <a:avLst>
              <a:gd name="adj" fmla="val 36364"/>
            </a:avLst>
          </a:prstGeom>
          <a:solidFill>
            <a:srgbClr val="E7A54A"/>
          </a:solidFill>
          <a:ln w="10160">
            <a:solidFill>
              <a:srgbClr val="E7A54A">
                <a:alpha val="0"/>
              </a:srgbClr>
            </a:solidFill>
            <a:prstDash val="solid"/>
          </a:ln>
        </p:spPr>
      </p:sp>
      <p:sp>
        <p:nvSpPr>
          <p:cNvPr id="25" name="Text 23"/>
          <p:cNvSpPr/>
          <p:nvPr/>
        </p:nvSpPr>
        <p:spPr>
          <a:xfrm>
            <a:off x="8942832" y="2075688"/>
            <a:ext cx="2011680" cy="612648"/>
          </a:xfrm>
          <a:prstGeom prst="rect">
            <a:avLst/>
          </a:prstGeom>
          <a:noFill/>
          <a:ln/>
        </p:spPr>
        <p:txBody>
          <a:bodyPr wrap="square" lIns="0" tIns="0" rIns="0" bIns="0" rtlCol="0" anchor="ctr">
            <a:normAutofit/>
          </a:bodyPr>
          <a:lstStyle/>
          <a:p>
            <a:pPr algn="l" indent="0" marL="0">
              <a:buNone/>
            </a:pPr>
            <a:r>
              <a:rPr lang="en-US" sz="3700" b="1" dirty="0">
                <a:solidFill>
                  <a:srgbClr val="FFFFFF"/>
                </a:solidFill>
                <a:latin typeface="Georgia" pitchFamily="34" charset="0"/>
                <a:ea typeface="Georgia" pitchFamily="34" charset="-122"/>
                <a:cs typeface="Georgia" pitchFamily="34" charset="-120"/>
              </a:rPr>
              <a:t>6 / 10</a:t>
            </a:r>
            <a:endParaRPr lang="en-US" sz="3700" dirty="0"/>
          </a:p>
        </p:txBody>
      </p:sp>
      <p:sp>
        <p:nvSpPr>
          <p:cNvPr id="26" name="Text 24"/>
          <p:cNvSpPr/>
          <p:nvPr/>
        </p:nvSpPr>
        <p:spPr>
          <a:xfrm>
            <a:off x="8961120" y="2761488"/>
            <a:ext cx="2011680" cy="256032"/>
          </a:xfrm>
          <a:prstGeom prst="rect">
            <a:avLst/>
          </a:prstGeom>
          <a:noFill/>
          <a:ln/>
        </p:spPr>
        <p:txBody>
          <a:bodyPr wrap="square" lIns="0" tIns="0" rIns="0" bIns="0" rtlCol="0" anchor="ctr">
            <a:normAutofit/>
          </a:bodyPr>
          <a:lstStyle/>
          <a:p>
            <a:pPr algn="l" indent="0" marL="0">
              <a:buNone/>
            </a:pPr>
            <a:r>
              <a:rPr lang="en-US" sz="1300" b="1" dirty="0">
                <a:solidFill>
                  <a:srgbClr val="D6E5DC"/>
                </a:solidFill>
                <a:latin typeface="Aptos" pitchFamily="34" charset="0"/>
                <a:ea typeface="Aptos" pitchFamily="34" charset="-122"/>
                <a:cs typeface="Aptos" pitchFamily="34" charset="-120"/>
              </a:rPr>
              <a:t>functional scope</a:t>
            </a:r>
            <a:endParaRPr lang="en-US" sz="1300" dirty="0"/>
          </a:p>
        </p:txBody>
      </p:sp>
      <p:sp>
        <p:nvSpPr>
          <p:cNvPr id="27" name="Text 25"/>
          <p:cNvSpPr/>
          <p:nvPr/>
        </p:nvSpPr>
        <p:spPr>
          <a:xfrm>
            <a:off x="8961120" y="3218688"/>
            <a:ext cx="2103120" cy="438912"/>
          </a:xfrm>
          <a:prstGeom prst="rect">
            <a:avLst/>
          </a:prstGeom>
          <a:noFill/>
          <a:ln/>
        </p:spPr>
        <p:txBody>
          <a:bodyPr wrap="square" lIns="0" tIns="0" rIns="0" bIns="0" rtlCol="0" anchor="t">
            <a:normAutofit/>
          </a:bodyPr>
          <a:lstStyle/>
          <a:p>
            <a:pPr algn="l" indent="0" marL="0">
              <a:buNone/>
            </a:pPr>
            <a:r>
              <a:rPr lang="en-US" sz="1150" dirty="0">
                <a:solidFill>
                  <a:srgbClr val="D6E5DC"/>
                </a:solidFill>
                <a:latin typeface="Aptos" pitchFamily="34" charset="0"/>
                <a:ea typeface="Aptos" pitchFamily="34" charset="-122"/>
                <a:cs typeface="Aptos" pitchFamily="34" charset="-120"/>
              </a:rPr>
              <a:t>A scope target, not a rubric score.</a:t>
            </a:r>
            <a:endParaRPr lang="en-US" sz="1150" dirty="0"/>
          </a:p>
        </p:txBody>
      </p:sp>
      <p:sp>
        <p:nvSpPr>
          <p:cNvPr id="28" name="Text 26"/>
          <p:cNvSpPr/>
          <p:nvPr/>
        </p:nvSpPr>
        <p:spPr>
          <a:xfrm>
            <a:off x="749808" y="4187952"/>
            <a:ext cx="914400" cy="192024"/>
          </a:xfrm>
          <a:prstGeom prst="rect">
            <a:avLst/>
          </a:prstGeom>
          <a:noFill/>
          <a:ln/>
        </p:spPr>
        <p:txBody>
          <a:bodyPr wrap="square" lIns="0" tIns="0" rIns="0" bIns="0" rtlCol="0" anchor="ctr">
            <a:normAutofit/>
          </a:bodyPr>
          <a:lstStyle/>
          <a:p>
            <a:pPr algn="l" indent="0" marL="0">
              <a:buNone/>
            </a:pPr>
            <a:r>
              <a:rPr lang="en-US" sz="950" b="1" spc="120" kern="0" dirty="0">
                <a:solidFill>
                  <a:srgbClr val="C8734E"/>
                </a:solidFill>
                <a:latin typeface="Aptos" pitchFamily="34" charset="0"/>
                <a:ea typeface="Aptos" pitchFamily="34" charset="-122"/>
                <a:cs typeface="Aptos" pitchFamily="34" charset="-120"/>
              </a:rPr>
              <a:t>NEXT</a:t>
            </a:r>
            <a:endParaRPr lang="en-US" sz="950" dirty="0"/>
          </a:p>
        </p:txBody>
      </p:sp>
      <p:sp>
        <p:nvSpPr>
          <p:cNvPr id="29" name="Shape 27"/>
          <p:cNvSpPr/>
          <p:nvPr/>
        </p:nvSpPr>
        <p:spPr>
          <a:xfrm>
            <a:off x="749808" y="4553712"/>
            <a:ext cx="457200" cy="274320"/>
          </a:xfrm>
          <a:prstGeom prst="roundRect">
            <a:avLst>
              <a:gd name="adj" fmla="val 43333"/>
            </a:avLst>
          </a:prstGeom>
          <a:solidFill>
            <a:srgbClr val="F7EBD7"/>
          </a:solidFill>
          <a:ln w="10160">
            <a:solidFill>
              <a:srgbClr val="F7EBD7">
                <a:alpha val="0"/>
              </a:srgbClr>
            </a:solidFill>
            <a:prstDash val="solid"/>
          </a:ln>
        </p:spPr>
      </p:sp>
      <p:sp>
        <p:nvSpPr>
          <p:cNvPr id="30" name="Text 28"/>
          <p:cNvSpPr/>
          <p:nvPr/>
        </p:nvSpPr>
        <p:spPr>
          <a:xfrm>
            <a:off x="841248" y="4562856"/>
            <a:ext cx="27432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C8734E"/>
                </a:solidFill>
                <a:latin typeface="Aptos" pitchFamily="34" charset="0"/>
                <a:ea typeface="Aptos" pitchFamily="34" charset="-122"/>
                <a:cs typeface="Aptos" pitchFamily="34" charset="-120"/>
              </a:rPr>
              <a:t>07</a:t>
            </a:r>
            <a:endParaRPr lang="en-US" sz="900" dirty="0"/>
          </a:p>
        </p:txBody>
      </p:sp>
      <p:sp>
        <p:nvSpPr>
          <p:cNvPr id="31" name="Text 29"/>
          <p:cNvSpPr/>
          <p:nvPr/>
        </p:nvSpPr>
        <p:spPr>
          <a:xfrm>
            <a:off x="1371600" y="4526280"/>
            <a:ext cx="1947672" cy="612648"/>
          </a:xfrm>
          <a:prstGeom prst="rect">
            <a:avLst/>
          </a:prstGeom>
          <a:noFill/>
          <a:ln/>
        </p:spPr>
        <p:txBody>
          <a:bodyPr wrap="square" lIns="0" tIns="0" rIns="0" bIns="0" rtlCol="0" anchor="t">
            <a:normAutofit/>
          </a:bodyPr>
          <a:lstStyle/>
          <a:p>
            <a:pPr algn="l" indent="0" marL="0">
              <a:buNone/>
            </a:pPr>
            <a:r>
              <a:rPr lang="en-US" sz="1130" b="1" dirty="0">
                <a:solidFill>
                  <a:srgbClr val="64766E"/>
                </a:solidFill>
                <a:latin typeface="Aptos" pitchFamily="34" charset="0"/>
                <a:ea typeface="Aptos" pitchFamily="34" charset="-122"/>
                <a:cs typeface="Aptos" pitchFamily="34" charset="-120"/>
              </a:rPr>
              <a:t>Expanded source / language analytics</a:t>
            </a:r>
            <a:endParaRPr lang="en-US" sz="1130" dirty="0"/>
          </a:p>
        </p:txBody>
      </p:sp>
      <p:sp>
        <p:nvSpPr>
          <p:cNvPr id="32" name="Shape 30"/>
          <p:cNvSpPr/>
          <p:nvPr/>
        </p:nvSpPr>
        <p:spPr>
          <a:xfrm>
            <a:off x="3529584" y="4553712"/>
            <a:ext cx="457200" cy="274320"/>
          </a:xfrm>
          <a:prstGeom prst="roundRect">
            <a:avLst>
              <a:gd name="adj" fmla="val 43333"/>
            </a:avLst>
          </a:prstGeom>
          <a:solidFill>
            <a:srgbClr val="F7EBD7"/>
          </a:solidFill>
          <a:ln w="10160">
            <a:solidFill>
              <a:srgbClr val="F7EBD7">
                <a:alpha val="0"/>
              </a:srgbClr>
            </a:solidFill>
            <a:prstDash val="solid"/>
          </a:ln>
        </p:spPr>
      </p:sp>
      <p:sp>
        <p:nvSpPr>
          <p:cNvPr id="33" name="Text 31"/>
          <p:cNvSpPr/>
          <p:nvPr/>
        </p:nvSpPr>
        <p:spPr>
          <a:xfrm>
            <a:off x="3621024" y="4562856"/>
            <a:ext cx="27432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C8734E"/>
                </a:solidFill>
                <a:latin typeface="Aptos" pitchFamily="34" charset="0"/>
                <a:ea typeface="Aptos" pitchFamily="34" charset="-122"/>
                <a:cs typeface="Aptos" pitchFamily="34" charset="-120"/>
              </a:rPr>
              <a:t>08</a:t>
            </a:r>
            <a:endParaRPr lang="en-US" sz="900" dirty="0"/>
          </a:p>
        </p:txBody>
      </p:sp>
      <p:sp>
        <p:nvSpPr>
          <p:cNvPr id="34" name="Text 32"/>
          <p:cNvSpPr/>
          <p:nvPr/>
        </p:nvSpPr>
        <p:spPr>
          <a:xfrm>
            <a:off x="4151376" y="4526280"/>
            <a:ext cx="1947672" cy="612648"/>
          </a:xfrm>
          <a:prstGeom prst="rect">
            <a:avLst/>
          </a:prstGeom>
          <a:noFill/>
          <a:ln/>
        </p:spPr>
        <p:txBody>
          <a:bodyPr wrap="square" lIns="0" tIns="0" rIns="0" bIns="0" rtlCol="0" anchor="t">
            <a:normAutofit/>
          </a:bodyPr>
          <a:lstStyle/>
          <a:p>
            <a:pPr algn="l" indent="0" marL="0">
              <a:buNone/>
            </a:pPr>
            <a:r>
              <a:rPr lang="en-US" sz="1130" b="1" dirty="0">
                <a:solidFill>
                  <a:srgbClr val="64766E"/>
                </a:solidFill>
                <a:latin typeface="Aptos" pitchFamily="34" charset="0"/>
                <a:ea typeface="Aptos" pitchFamily="34" charset="-122"/>
                <a:cs typeface="Aptos" pitchFamily="34" charset="-120"/>
              </a:rPr>
              <a:t>Global search + researcher cluster review</a:t>
            </a:r>
            <a:endParaRPr lang="en-US" sz="1130" dirty="0"/>
          </a:p>
        </p:txBody>
      </p:sp>
      <p:sp>
        <p:nvSpPr>
          <p:cNvPr id="35" name="Shape 33"/>
          <p:cNvSpPr/>
          <p:nvPr/>
        </p:nvSpPr>
        <p:spPr>
          <a:xfrm>
            <a:off x="6309360" y="4553712"/>
            <a:ext cx="457200" cy="274320"/>
          </a:xfrm>
          <a:prstGeom prst="roundRect">
            <a:avLst>
              <a:gd name="adj" fmla="val 43333"/>
            </a:avLst>
          </a:prstGeom>
          <a:solidFill>
            <a:srgbClr val="F7EBD7"/>
          </a:solidFill>
          <a:ln w="10160">
            <a:solidFill>
              <a:srgbClr val="F7EBD7">
                <a:alpha val="0"/>
              </a:srgbClr>
            </a:solidFill>
            <a:prstDash val="solid"/>
          </a:ln>
        </p:spPr>
      </p:sp>
      <p:sp>
        <p:nvSpPr>
          <p:cNvPr id="36" name="Text 34"/>
          <p:cNvSpPr/>
          <p:nvPr/>
        </p:nvSpPr>
        <p:spPr>
          <a:xfrm>
            <a:off x="6400800" y="4562856"/>
            <a:ext cx="27432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C8734E"/>
                </a:solidFill>
                <a:latin typeface="Aptos" pitchFamily="34" charset="0"/>
                <a:ea typeface="Aptos" pitchFamily="34" charset="-122"/>
                <a:cs typeface="Aptos" pitchFamily="34" charset="-120"/>
              </a:rPr>
              <a:t>09</a:t>
            </a:r>
            <a:endParaRPr lang="en-US" sz="900" dirty="0"/>
          </a:p>
        </p:txBody>
      </p:sp>
      <p:sp>
        <p:nvSpPr>
          <p:cNvPr id="37" name="Text 35"/>
          <p:cNvSpPr/>
          <p:nvPr/>
        </p:nvSpPr>
        <p:spPr>
          <a:xfrm>
            <a:off x="6931152" y="4526280"/>
            <a:ext cx="1947672" cy="612648"/>
          </a:xfrm>
          <a:prstGeom prst="rect">
            <a:avLst/>
          </a:prstGeom>
          <a:noFill/>
          <a:ln/>
        </p:spPr>
        <p:txBody>
          <a:bodyPr wrap="square" lIns="0" tIns="0" rIns="0" bIns="0" rtlCol="0" anchor="t">
            <a:normAutofit/>
          </a:bodyPr>
          <a:lstStyle/>
          <a:p>
            <a:pPr algn="l" indent="0" marL="0">
              <a:buNone/>
            </a:pPr>
            <a:r>
              <a:rPr lang="en-US" sz="1130" b="1" dirty="0">
                <a:solidFill>
                  <a:srgbClr val="64766E"/>
                </a:solidFill>
                <a:latin typeface="Aptos" pitchFamily="34" charset="0"/>
                <a:ea typeface="Aptos" pitchFamily="34" charset="-122"/>
                <a:cs typeface="Aptos" pitchFamily="34" charset="-120"/>
              </a:rPr>
              <a:t>Retries, scheduling, pipeline controls</a:t>
            </a:r>
            <a:endParaRPr lang="en-US" sz="1130" dirty="0"/>
          </a:p>
        </p:txBody>
      </p:sp>
      <p:sp>
        <p:nvSpPr>
          <p:cNvPr id="38" name="Shape 36"/>
          <p:cNvSpPr/>
          <p:nvPr/>
        </p:nvSpPr>
        <p:spPr>
          <a:xfrm>
            <a:off x="9089136" y="4553712"/>
            <a:ext cx="457200" cy="274320"/>
          </a:xfrm>
          <a:prstGeom prst="roundRect">
            <a:avLst>
              <a:gd name="adj" fmla="val 43333"/>
            </a:avLst>
          </a:prstGeom>
          <a:solidFill>
            <a:srgbClr val="F7EBD7"/>
          </a:solidFill>
          <a:ln w="10160">
            <a:solidFill>
              <a:srgbClr val="F7EBD7">
                <a:alpha val="0"/>
              </a:srgbClr>
            </a:solidFill>
            <a:prstDash val="solid"/>
          </a:ln>
        </p:spPr>
      </p:sp>
      <p:sp>
        <p:nvSpPr>
          <p:cNvPr id="39" name="Text 37"/>
          <p:cNvSpPr/>
          <p:nvPr/>
        </p:nvSpPr>
        <p:spPr>
          <a:xfrm>
            <a:off x="9180576" y="4562856"/>
            <a:ext cx="274320" cy="256032"/>
          </a:xfrm>
          <a:prstGeom prst="rect">
            <a:avLst/>
          </a:prstGeom>
          <a:noFill/>
          <a:ln/>
        </p:spPr>
        <p:txBody>
          <a:bodyPr wrap="square" lIns="0" tIns="0" rIns="0" bIns="0" rtlCol="0" anchor="ctr">
            <a:normAutofit/>
          </a:bodyPr>
          <a:lstStyle/>
          <a:p>
            <a:pPr algn="ctr" indent="0" marL="0">
              <a:buNone/>
            </a:pPr>
            <a:r>
              <a:rPr lang="en-US" sz="900" b="1" spc="40" kern="0" dirty="0">
                <a:solidFill>
                  <a:srgbClr val="C8734E"/>
                </a:solidFill>
                <a:latin typeface="Aptos" pitchFamily="34" charset="0"/>
                <a:ea typeface="Aptos" pitchFamily="34" charset="-122"/>
                <a:cs typeface="Aptos" pitchFamily="34" charset="-120"/>
              </a:rPr>
              <a:t>10</a:t>
            </a:r>
            <a:endParaRPr lang="en-US" sz="900" dirty="0"/>
          </a:p>
        </p:txBody>
      </p:sp>
      <p:sp>
        <p:nvSpPr>
          <p:cNvPr id="40" name="Text 38"/>
          <p:cNvSpPr/>
          <p:nvPr/>
        </p:nvSpPr>
        <p:spPr>
          <a:xfrm>
            <a:off x="9710928" y="4526280"/>
            <a:ext cx="1947672" cy="612648"/>
          </a:xfrm>
          <a:prstGeom prst="rect">
            <a:avLst/>
          </a:prstGeom>
          <a:noFill/>
          <a:ln/>
        </p:spPr>
        <p:txBody>
          <a:bodyPr wrap="square" lIns="0" tIns="0" rIns="0" bIns="0" rtlCol="0" anchor="t">
            <a:normAutofit/>
          </a:bodyPr>
          <a:lstStyle/>
          <a:p>
            <a:pPr algn="l" indent="0" marL="0">
              <a:buNone/>
            </a:pPr>
            <a:r>
              <a:rPr lang="en-US" sz="1130" b="1" dirty="0">
                <a:solidFill>
                  <a:srgbClr val="64766E"/>
                </a:solidFill>
                <a:latin typeface="Aptos" pitchFamily="34" charset="0"/>
                <a:ea typeface="Aptos" pitchFamily="34" charset="-122"/>
                <a:cs typeface="Aptos" pitchFamily="34" charset="-120"/>
              </a:rPr>
              <a:t>Evaluation, release hardening, deployment ops</a:t>
            </a:r>
            <a:endParaRPr lang="en-US" sz="1130" dirty="0"/>
          </a:p>
        </p:txBody>
      </p:sp>
      <p:sp>
        <p:nvSpPr>
          <p:cNvPr id="25" name="Slide Number Placeholder 0"/>
          <p:cNvSpPr>
            <a:spLocks noGrp="1"/>
          </p:cNvSpPr>
          <p:nvPr>
            <p:ph type="sldNum" sz="quarter" idx="4294967295"/>
          </p:nvPr>
        </p:nvSpPr>
        <p:spPr>
          <a:xfrm>
            <a:off x="11155680" y="6492240"/>
            <a:ext cx="4572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1817A"/>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73D35"/>
        </a:solidFill>
      </p:bgPr>
    </p:bg>
    <p:spTree>
      <p:nvGrpSpPr>
        <p:cNvPr id="1" name=""/>
        <p:cNvGrpSpPr/>
        <p:nvPr/>
      </p:nvGrpSpPr>
      <p:grpSpPr>
        <a:xfrm>
          <a:off x="0" y="0"/>
          <a:ext cx="0" cy="0"/>
          <a:chOff x="0" y="0"/>
          <a:chExt cx="0" cy="0"/>
        </a:xfrm>
      </p:grpSpPr>
      <p:sp>
        <p:nvSpPr>
          <p:cNvPr id="2" name="Text 0"/>
          <p:cNvSpPr/>
          <p:nvPr/>
        </p:nvSpPr>
        <p:spPr>
          <a:xfrm>
            <a:off x="667512" y="448056"/>
            <a:ext cx="5303520" cy="219456"/>
          </a:xfrm>
          <a:prstGeom prst="rect">
            <a:avLst/>
          </a:prstGeom>
          <a:noFill/>
          <a:ln/>
        </p:spPr>
        <p:txBody>
          <a:bodyPr wrap="square" lIns="0" tIns="0" rIns="0" bIns="0" rtlCol="0" anchor="ctr">
            <a:normAutofit/>
          </a:bodyPr>
          <a:lstStyle/>
          <a:p>
            <a:pPr algn="l" indent="0" marL="0">
              <a:buNone/>
            </a:pPr>
            <a:r>
              <a:rPr lang="en-US" sz="950" b="1" spc="150" kern="0" dirty="0">
                <a:solidFill>
                  <a:srgbClr val="D1E2D7"/>
                </a:solidFill>
                <a:latin typeface="Aptos" pitchFamily="34" charset="0"/>
                <a:ea typeface="Aptos" pitchFamily="34" charset="-122"/>
                <a:cs typeface="Aptos" pitchFamily="34" charset="-120"/>
              </a:rPr>
              <a:t>18 / PRESENTATION CLOSE</a:t>
            </a:r>
            <a:endParaRPr lang="en-US" sz="950" dirty="0"/>
          </a:p>
        </p:txBody>
      </p:sp>
      <p:sp>
        <p:nvSpPr>
          <p:cNvPr id="3" name="Text 1"/>
          <p:cNvSpPr/>
          <p:nvPr/>
        </p:nvSpPr>
        <p:spPr>
          <a:xfrm>
            <a:off x="667512" y="841248"/>
            <a:ext cx="6492240" cy="1060704"/>
          </a:xfrm>
          <a:prstGeom prst="rect">
            <a:avLst/>
          </a:prstGeom>
          <a:noFill/>
          <a:ln/>
        </p:spPr>
        <p:txBody>
          <a:bodyPr wrap="square" lIns="0" tIns="0" rIns="0" bIns="0" rtlCol="0" anchor="t">
            <a:normAutofit/>
          </a:bodyPr>
          <a:lstStyle/>
          <a:p>
            <a:pPr algn="l" indent="0" marL="0">
              <a:buNone/>
            </a:pPr>
            <a:r>
              <a:rPr lang="en-US" sz="3100" b="1" dirty="0">
                <a:solidFill>
                  <a:srgbClr val="FFFFFF"/>
                </a:solidFill>
                <a:latin typeface="Georgia" pitchFamily="34" charset="0"/>
                <a:ea typeface="Georgia" pitchFamily="34" charset="-122"/>
                <a:cs typeface="Georgia" pitchFamily="34" charset="-120"/>
              </a:rPr>
              <a:t>A clear demo.</a:t>
            </a:r>
            <a:endParaRPr lang="en-US" sz="3100" dirty="0"/>
          </a:p>
          <a:p>
            <a:pPr algn="l" indent="0" marL="0">
              <a:buNone/>
            </a:pPr>
            <a:r>
              <a:rPr lang="en-US" sz="3100" b="1" dirty="0">
                <a:solidFill>
                  <a:srgbClr val="FFFFFF"/>
                </a:solidFill>
                <a:latin typeface="Georgia" pitchFamily="34" charset="0"/>
                <a:ea typeface="Georgia" pitchFamily="34" charset="-122"/>
                <a:cs typeface="Georgia" pitchFamily="34" charset="-120"/>
              </a:rPr>
              <a:t>A cautious conclusion.</a:t>
            </a:r>
            <a:endParaRPr lang="en-US" sz="3100" dirty="0"/>
          </a:p>
        </p:txBody>
      </p:sp>
      <p:sp>
        <p:nvSpPr>
          <p:cNvPr id="4" name="Shape 2"/>
          <p:cNvSpPr/>
          <p:nvPr/>
        </p:nvSpPr>
        <p:spPr>
          <a:xfrm>
            <a:off x="749808" y="2267712"/>
            <a:ext cx="329184" cy="329184"/>
          </a:xfrm>
          <a:prstGeom prst="ellipse">
            <a:avLst/>
          </a:prstGeom>
          <a:solidFill>
            <a:srgbClr val="E7A54A"/>
          </a:solidFill>
          <a:ln w="12700">
            <a:solidFill>
              <a:srgbClr val="E7A54A">
                <a:alpha val="0"/>
              </a:srgbClr>
            </a:solidFill>
            <a:prstDash val="solid"/>
          </a:ln>
        </p:spPr>
      </p:sp>
      <p:sp>
        <p:nvSpPr>
          <p:cNvPr id="5" name="Text 3"/>
          <p:cNvSpPr/>
          <p:nvPr/>
        </p:nvSpPr>
        <p:spPr>
          <a:xfrm>
            <a:off x="749808" y="2276856"/>
            <a:ext cx="329184" cy="31089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01</a:t>
            </a:r>
            <a:endParaRPr lang="en-US" sz="900" dirty="0"/>
          </a:p>
        </p:txBody>
      </p:sp>
      <p:sp>
        <p:nvSpPr>
          <p:cNvPr id="6" name="Text 4"/>
          <p:cNvSpPr/>
          <p:nvPr/>
        </p:nvSpPr>
        <p:spPr>
          <a:xfrm>
            <a:off x="1252728" y="2276856"/>
            <a:ext cx="5852160" cy="283464"/>
          </a:xfrm>
          <a:prstGeom prst="rect">
            <a:avLst/>
          </a:prstGeom>
          <a:noFill/>
          <a:ln/>
        </p:spPr>
        <p:txBody>
          <a:bodyPr wrap="square" lIns="0" tIns="0" rIns="0" bIns="0" rtlCol="0" anchor="ctr">
            <a:normAutofit/>
          </a:bodyPr>
          <a:lstStyle/>
          <a:p>
            <a:pPr algn="l" indent="0" marL="0">
              <a:buNone/>
            </a:pPr>
            <a:r>
              <a:rPr lang="en-US" sz="1270" dirty="0">
                <a:solidFill>
                  <a:srgbClr val="E6EFE8"/>
                </a:solidFill>
                <a:latin typeface="Aptos" pitchFamily="34" charset="0"/>
                <a:ea typeface="Aptos" pitchFamily="34" charset="-122"/>
                <a:cs typeface="Aptos" pitchFamily="34" charset="-120"/>
              </a:rPr>
              <a:t>Open Overview and point out the synthetic-data label.</a:t>
            </a:r>
            <a:endParaRPr lang="en-US" sz="1270" dirty="0"/>
          </a:p>
        </p:txBody>
      </p:sp>
      <p:sp>
        <p:nvSpPr>
          <p:cNvPr id="7" name="Shape 5"/>
          <p:cNvSpPr/>
          <p:nvPr/>
        </p:nvSpPr>
        <p:spPr>
          <a:xfrm>
            <a:off x="749808" y="2880360"/>
            <a:ext cx="329184" cy="329184"/>
          </a:xfrm>
          <a:prstGeom prst="ellipse">
            <a:avLst/>
          </a:prstGeom>
          <a:solidFill>
            <a:srgbClr val="2E8069"/>
          </a:solidFill>
          <a:ln w="12700">
            <a:solidFill>
              <a:srgbClr val="2E8069">
                <a:alpha val="0"/>
              </a:srgbClr>
            </a:solidFill>
            <a:prstDash val="solid"/>
          </a:ln>
        </p:spPr>
      </p:sp>
      <p:sp>
        <p:nvSpPr>
          <p:cNvPr id="8" name="Text 6"/>
          <p:cNvSpPr/>
          <p:nvPr/>
        </p:nvSpPr>
        <p:spPr>
          <a:xfrm>
            <a:off x="749808" y="2889504"/>
            <a:ext cx="329184" cy="31089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02</a:t>
            </a:r>
            <a:endParaRPr lang="en-US" sz="900" dirty="0"/>
          </a:p>
        </p:txBody>
      </p:sp>
      <p:sp>
        <p:nvSpPr>
          <p:cNvPr id="9" name="Text 7"/>
          <p:cNvSpPr/>
          <p:nvPr/>
        </p:nvSpPr>
        <p:spPr>
          <a:xfrm>
            <a:off x="1252728" y="2889504"/>
            <a:ext cx="5852160" cy="283464"/>
          </a:xfrm>
          <a:prstGeom prst="rect">
            <a:avLst/>
          </a:prstGeom>
          <a:noFill/>
          <a:ln/>
        </p:spPr>
        <p:txBody>
          <a:bodyPr wrap="square" lIns="0" tIns="0" rIns="0" bIns="0" rtlCol="0" anchor="ctr">
            <a:normAutofit/>
          </a:bodyPr>
          <a:lstStyle/>
          <a:p>
            <a:pPr algn="l" indent="0" marL="0">
              <a:buNone/>
            </a:pPr>
            <a:r>
              <a:rPr lang="en-US" sz="1270" dirty="0">
                <a:solidFill>
                  <a:srgbClr val="E6EFE8"/>
                </a:solidFill>
                <a:latin typeface="Aptos" pitchFamily="34" charset="0"/>
                <a:ea typeface="Aptos" pitchFamily="34" charset="-122"/>
                <a:cs typeface="Aptos" pitchFamily="34" charset="-120"/>
              </a:rPr>
              <a:t>Search one initiative with aliases, a short date range and two languages.</a:t>
            </a:r>
            <a:endParaRPr lang="en-US" sz="1270" dirty="0"/>
          </a:p>
        </p:txBody>
      </p:sp>
      <p:sp>
        <p:nvSpPr>
          <p:cNvPr id="10" name="Shape 8"/>
          <p:cNvSpPr/>
          <p:nvPr/>
        </p:nvSpPr>
        <p:spPr>
          <a:xfrm>
            <a:off x="749808" y="3493008"/>
            <a:ext cx="329184" cy="329184"/>
          </a:xfrm>
          <a:prstGeom prst="ellipse">
            <a:avLst/>
          </a:prstGeom>
          <a:solidFill>
            <a:srgbClr val="2E8069"/>
          </a:solidFill>
          <a:ln w="12700">
            <a:solidFill>
              <a:srgbClr val="2E8069">
                <a:alpha val="0"/>
              </a:srgbClr>
            </a:solidFill>
            <a:prstDash val="solid"/>
          </a:ln>
        </p:spPr>
      </p:sp>
      <p:sp>
        <p:nvSpPr>
          <p:cNvPr id="11" name="Text 9"/>
          <p:cNvSpPr/>
          <p:nvPr/>
        </p:nvSpPr>
        <p:spPr>
          <a:xfrm>
            <a:off x="749808" y="3502152"/>
            <a:ext cx="329184" cy="31089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03</a:t>
            </a:r>
            <a:endParaRPr lang="en-US" sz="900" dirty="0"/>
          </a:p>
        </p:txBody>
      </p:sp>
      <p:sp>
        <p:nvSpPr>
          <p:cNvPr id="12" name="Text 10"/>
          <p:cNvSpPr/>
          <p:nvPr/>
        </p:nvSpPr>
        <p:spPr>
          <a:xfrm>
            <a:off x="1252728" y="3502152"/>
            <a:ext cx="5852160" cy="283464"/>
          </a:xfrm>
          <a:prstGeom prst="rect">
            <a:avLst/>
          </a:prstGeom>
          <a:noFill/>
          <a:ln/>
        </p:spPr>
        <p:txBody>
          <a:bodyPr wrap="square" lIns="0" tIns="0" rIns="0" bIns="0" rtlCol="0" anchor="ctr">
            <a:normAutofit/>
          </a:bodyPr>
          <a:lstStyle/>
          <a:p>
            <a:pPr algn="l" indent="0" marL="0">
              <a:buNone/>
            </a:pPr>
            <a:r>
              <a:rPr lang="en-US" sz="1270" dirty="0">
                <a:solidFill>
                  <a:srgbClr val="E6EFE8"/>
                </a:solidFill>
                <a:latin typeface="Aptos" pitchFamily="34" charset="0"/>
                <a:ea typeface="Aptos" pitchFamily="34" charset="-122"/>
                <a:cs typeface="Aptos" pitchFamily="34" charset="-120"/>
              </a:rPr>
              <a:t>Open the resulting candidate group; compare sample counts and topics.</a:t>
            </a:r>
            <a:endParaRPr lang="en-US" sz="1270" dirty="0"/>
          </a:p>
        </p:txBody>
      </p:sp>
      <p:sp>
        <p:nvSpPr>
          <p:cNvPr id="13" name="Shape 11"/>
          <p:cNvSpPr/>
          <p:nvPr/>
        </p:nvSpPr>
        <p:spPr>
          <a:xfrm>
            <a:off x="749808" y="4105656"/>
            <a:ext cx="329184" cy="329184"/>
          </a:xfrm>
          <a:prstGeom prst="ellipse">
            <a:avLst/>
          </a:prstGeom>
          <a:solidFill>
            <a:srgbClr val="2E8069"/>
          </a:solidFill>
          <a:ln w="12700">
            <a:solidFill>
              <a:srgbClr val="2E8069">
                <a:alpha val="0"/>
              </a:srgbClr>
            </a:solidFill>
            <a:prstDash val="solid"/>
          </a:ln>
        </p:spPr>
      </p:sp>
      <p:sp>
        <p:nvSpPr>
          <p:cNvPr id="14" name="Text 12"/>
          <p:cNvSpPr/>
          <p:nvPr/>
        </p:nvSpPr>
        <p:spPr>
          <a:xfrm>
            <a:off x="749808" y="4114800"/>
            <a:ext cx="329184" cy="31089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04</a:t>
            </a:r>
            <a:endParaRPr lang="en-US" sz="900" dirty="0"/>
          </a:p>
        </p:txBody>
      </p:sp>
      <p:sp>
        <p:nvSpPr>
          <p:cNvPr id="15" name="Text 13"/>
          <p:cNvSpPr/>
          <p:nvPr/>
        </p:nvSpPr>
        <p:spPr>
          <a:xfrm>
            <a:off x="1252728" y="4114800"/>
            <a:ext cx="5852160" cy="283464"/>
          </a:xfrm>
          <a:prstGeom prst="rect">
            <a:avLst/>
          </a:prstGeom>
          <a:noFill/>
          <a:ln/>
        </p:spPr>
        <p:txBody>
          <a:bodyPr wrap="square" lIns="0" tIns="0" rIns="0" bIns="0" rtlCol="0" anchor="ctr">
            <a:normAutofit/>
          </a:bodyPr>
          <a:lstStyle/>
          <a:p>
            <a:pPr algn="l" indent="0" marL="0">
              <a:buNone/>
            </a:pPr>
            <a:r>
              <a:rPr lang="en-US" sz="1270" dirty="0">
                <a:solidFill>
                  <a:srgbClr val="E6EFE8"/>
                </a:solidFill>
                <a:latin typeface="Aptos" pitchFamily="34" charset="0"/>
                <a:ea typeface="Aptos" pitchFamily="34" charset="-122"/>
                <a:cs typeface="Aptos" pitchFamily="34" charset="-120"/>
              </a:rPr>
              <a:t>Open an article; show its evidence snippet, model label and source URL.</a:t>
            </a:r>
            <a:endParaRPr lang="en-US" sz="1270" dirty="0"/>
          </a:p>
        </p:txBody>
      </p:sp>
      <p:sp>
        <p:nvSpPr>
          <p:cNvPr id="16" name="Shape 14"/>
          <p:cNvSpPr/>
          <p:nvPr/>
        </p:nvSpPr>
        <p:spPr>
          <a:xfrm>
            <a:off x="7680960" y="475488"/>
            <a:ext cx="3931920" cy="5687568"/>
          </a:xfrm>
          <a:prstGeom prst="roundRect">
            <a:avLst>
              <a:gd name="adj" fmla="val 3721"/>
            </a:avLst>
          </a:prstGeom>
          <a:solidFill>
            <a:srgbClr val="21584A"/>
          </a:solidFill>
          <a:ln w="10160">
            <a:solidFill>
              <a:srgbClr val="21584A">
                <a:alpha val="0"/>
              </a:srgbClr>
            </a:solidFill>
            <a:prstDash val="solid"/>
          </a:ln>
        </p:spPr>
      </p:sp>
      <p:sp>
        <p:nvSpPr>
          <p:cNvPr id="17" name="Text 15"/>
          <p:cNvSpPr/>
          <p:nvPr/>
        </p:nvSpPr>
        <p:spPr>
          <a:xfrm>
            <a:off x="8028432" y="832104"/>
            <a:ext cx="3108960" cy="210312"/>
          </a:xfrm>
          <a:prstGeom prst="rect">
            <a:avLst/>
          </a:prstGeom>
          <a:noFill/>
          <a:ln/>
        </p:spPr>
        <p:txBody>
          <a:bodyPr wrap="square" lIns="0" tIns="0" rIns="0" bIns="0" rtlCol="0" anchor="ctr">
            <a:normAutofit/>
          </a:bodyPr>
          <a:lstStyle/>
          <a:p>
            <a:pPr algn="l" indent="0" marL="0">
              <a:buNone/>
            </a:pPr>
            <a:r>
              <a:rPr lang="en-US" sz="900" b="1" spc="120" kern="0" dirty="0">
                <a:solidFill>
                  <a:srgbClr val="D1E2D7"/>
                </a:solidFill>
                <a:latin typeface="Aptos" pitchFamily="34" charset="0"/>
                <a:ea typeface="Aptos" pitchFamily="34" charset="-122"/>
                <a:cs typeface="Aptos" pitchFamily="34" charset="-120"/>
              </a:rPr>
              <a:t>PROJECT REFERENCES</a:t>
            </a:r>
            <a:endParaRPr lang="en-US" sz="900" dirty="0"/>
          </a:p>
        </p:txBody>
      </p:sp>
      <p:sp>
        <p:nvSpPr>
          <p:cNvPr id="18" name="Text 16"/>
          <p:cNvSpPr/>
          <p:nvPr/>
        </p:nvSpPr>
        <p:spPr>
          <a:xfrm>
            <a:off x="8028432" y="1298448"/>
            <a:ext cx="3035808" cy="219456"/>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Aptos" pitchFamily="34" charset="0"/>
                <a:ea typeface="Aptos" pitchFamily="34" charset="-122"/>
                <a:cs typeface="Aptos" pitchFamily="34" charset="-120"/>
              </a:rPr>
              <a:t>OpenNext for Cloudflare</a:t>
            </a:r>
            <a:endParaRPr lang="en-US" sz="1220" dirty="0"/>
          </a:p>
        </p:txBody>
      </p:sp>
      <p:sp>
        <p:nvSpPr>
          <p:cNvPr id="19" name="Text 17"/>
          <p:cNvSpPr/>
          <p:nvPr/>
        </p:nvSpPr>
        <p:spPr>
          <a:xfrm>
            <a:off x="8028432" y="1591056"/>
            <a:ext cx="3127248" cy="228600"/>
          </a:xfrm>
          <a:prstGeom prst="rect">
            <a:avLst/>
          </a:prstGeom>
          <a:noFill/>
          <a:ln/>
        </p:spPr>
        <p:txBody>
          <a:bodyPr wrap="square" lIns="0" tIns="0" rIns="0" bIns="0" rtlCol="0" anchor="ctr">
            <a:normAutofit/>
          </a:bodyPr>
          <a:lstStyle/>
          <a:p>
            <a:pPr algn="l" indent="0" marL="0">
              <a:buNone/>
            </a:pPr>
            <a:r>
              <a:rPr lang="en-US" sz="980" dirty="0">
                <a:solidFill>
                  <a:srgbClr val="BCD4C6"/>
                </a:solidFill>
                <a:latin typeface="Aptos" pitchFamily="34" charset="0"/>
                <a:ea typeface="Aptos" pitchFamily="34" charset="-122"/>
                <a:cs typeface="Aptos" pitchFamily="34" charset="-120"/>
              </a:rPr>
              <a:t>opennext.js.org/cloudflare/get-started</a:t>
            </a:r>
            <a:endParaRPr lang="en-US" sz="980" dirty="0"/>
          </a:p>
        </p:txBody>
      </p:sp>
      <p:sp>
        <p:nvSpPr>
          <p:cNvPr id="20" name="Text 18"/>
          <p:cNvSpPr/>
          <p:nvPr/>
        </p:nvSpPr>
        <p:spPr>
          <a:xfrm>
            <a:off x="8028432" y="2057400"/>
            <a:ext cx="3035808" cy="219456"/>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Aptos" pitchFamily="34" charset="0"/>
                <a:ea typeface="Aptos" pitchFamily="34" charset="-122"/>
                <a:cs typeface="Aptos" pitchFamily="34" charset="-120"/>
              </a:rPr>
              <a:t>Cloudflare Workers</a:t>
            </a:r>
            <a:endParaRPr lang="en-US" sz="1220" dirty="0"/>
          </a:p>
        </p:txBody>
      </p:sp>
      <p:sp>
        <p:nvSpPr>
          <p:cNvPr id="21" name="Text 19"/>
          <p:cNvSpPr/>
          <p:nvPr/>
        </p:nvSpPr>
        <p:spPr>
          <a:xfrm>
            <a:off x="8028432" y="2350008"/>
            <a:ext cx="3127248" cy="228600"/>
          </a:xfrm>
          <a:prstGeom prst="rect">
            <a:avLst/>
          </a:prstGeom>
          <a:noFill/>
          <a:ln/>
        </p:spPr>
        <p:txBody>
          <a:bodyPr wrap="square" lIns="0" tIns="0" rIns="0" bIns="0" rtlCol="0" anchor="ctr">
            <a:normAutofit/>
          </a:bodyPr>
          <a:lstStyle/>
          <a:p>
            <a:pPr algn="l" indent="0" marL="0">
              <a:buNone/>
            </a:pPr>
            <a:r>
              <a:rPr lang="en-US" sz="980" dirty="0">
                <a:solidFill>
                  <a:srgbClr val="BCD4C6"/>
                </a:solidFill>
                <a:latin typeface="Aptos" pitchFamily="34" charset="0"/>
                <a:ea typeface="Aptos" pitchFamily="34" charset="-122"/>
                <a:cs typeface="Aptos" pitchFamily="34" charset="-120"/>
              </a:rPr>
              <a:t>developers.cloudflare.com/workers/</a:t>
            </a:r>
            <a:endParaRPr lang="en-US" sz="980" dirty="0"/>
          </a:p>
        </p:txBody>
      </p:sp>
      <p:sp>
        <p:nvSpPr>
          <p:cNvPr id="22" name="Text 20"/>
          <p:cNvSpPr/>
          <p:nvPr/>
        </p:nvSpPr>
        <p:spPr>
          <a:xfrm>
            <a:off x="8028432" y="2816352"/>
            <a:ext cx="3035808" cy="219456"/>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Aptos" pitchFamily="34" charset="0"/>
                <a:ea typeface="Aptos" pitchFamily="34" charset="-122"/>
                <a:cs typeface="Aptos" pitchFamily="34" charset="-120"/>
              </a:rPr>
              <a:t>Cloudflare D1</a:t>
            </a:r>
            <a:endParaRPr lang="en-US" sz="1220" dirty="0"/>
          </a:p>
        </p:txBody>
      </p:sp>
      <p:sp>
        <p:nvSpPr>
          <p:cNvPr id="23" name="Text 21"/>
          <p:cNvSpPr/>
          <p:nvPr/>
        </p:nvSpPr>
        <p:spPr>
          <a:xfrm>
            <a:off x="8028432" y="3108960"/>
            <a:ext cx="3127248" cy="228600"/>
          </a:xfrm>
          <a:prstGeom prst="rect">
            <a:avLst/>
          </a:prstGeom>
          <a:noFill/>
          <a:ln/>
        </p:spPr>
        <p:txBody>
          <a:bodyPr wrap="square" lIns="0" tIns="0" rIns="0" bIns="0" rtlCol="0" anchor="ctr">
            <a:normAutofit/>
          </a:bodyPr>
          <a:lstStyle/>
          <a:p>
            <a:pPr algn="l" indent="0" marL="0">
              <a:buNone/>
            </a:pPr>
            <a:r>
              <a:rPr lang="en-US" sz="980" dirty="0">
                <a:solidFill>
                  <a:srgbClr val="BCD4C6"/>
                </a:solidFill>
                <a:latin typeface="Aptos" pitchFamily="34" charset="0"/>
                <a:ea typeface="Aptos" pitchFamily="34" charset="-122"/>
                <a:cs typeface="Aptos" pitchFamily="34" charset="-120"/>
              </a:rPr>
              <a:t>developers.cloudflare.com/d1/</a:t>
            </a:r>
            <a:endParaRPr lang="en-US" sz="980" dirty="0"/>
          </a:p>
        </p:txBody>
      </p:sp>
      <p:sp>
        <p:nvSpPr>
          <p:cNvPr id="24" name="Text 22"/>
          <p:cNvSpPr/>
          <p:nvPr/>
        </p:nvSpPr>
        <p:spPr>
          <a:xfrm>
            <a:off x="8028432" y="3575304"/>
            <a:ext cx="3035808" cy="219456"/>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Aptos" pitchFamily="34" charset="0"/>
                <a:ea typeface="Aptos" pitchFamily="34" charset="-122"/>
                <a:cs typeface="Aptos" pitchFamily="34" charset="-120"/>
              </a:rPr>
              <a:t>TypeSafe API / JEV</a:t>
            </a:r>
            <a:endParaRPr lang="en-US" sz="1220" dirty="0"/>
          </a:p>
        </p:txBody>
      </p:sp>
      <p:sp>
        <p:nvSpPr>
          <p:cNvPr id="25" name="Text 23"/>
          <p:cNvSpPr/>
          <p:nvPr/>
        </p:nvSpPr>
        <p:spPr>
          <a:xfrm>
            <a:off x="8028432" y="3867912"/>
            <a:ext cx="3127248" cy="228600"/>
          </a:xfrm>
          <a:prstGeom prst="rect">
            <a:avLst/>
          </a:prstGeom>
          <a:noFill/>
          <a:ln/>
        </p:spPr>
        <p:txBody>
          <a:bodyPr wrap="square" lIns="0" tIns="0" rIns="0" bIns="0" rtlCol="0" anchor="ctr">
            <a:normAutofit/>
          </a:bodyPr>
          <a:lstStyle/>
          <a:p>
            <a:pPr algn="l" indent="0" marL="0">
              <a:buNone/>
            </a:pPr>
            <a:r>
              <a:rPr lang="en-US" sz="980" dirty="0">
                <a:solidFill>
                  <a:srgbClr val="BCD4C6"/>
                </a:solidFill>
                <a:latin typeface="Aptos" pitchFamily="34" charset="0"/>
                <a:ea typeface="Aptos" pitchFamily="34" charset="-122"/>
                <a:cs typeface="Aptos" pitchFamily="34" charset="-120"/>
              </a:rPr>
              <a:t>api.typesafe.ai/docs</a:t>
            </a:r>
            <a:endParaRPr lang="en-US" sz="980" dirty="0"/>
          </a:p>
        </p:txBody>
      </p:sp>
      <p:sp>
        <p:nvSpPr>
          <p:cNvPr id="26" name="Text 24"/>
          <p:cNvSpPr/>
          <p:nvPr/>
        </p:nvSpPr>
        <p:spPr>
          <a:xfrm>
            <a:off x="8028432" y="4334256"/>
            <a:ext cx="3035808" cy="219456"/>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Aptos" pitchFamily="34" charset="0"/>
                <a:ea typeface="Aptos" pitchFamily="34" charset="-122"/>
                <a:cs typeface="Aptos" pitchFamily="34" charset="-120"/>
              </a:rPr>
              <a:t>Project method + limits</a:t>
            </a:r>
            <a:endParaRPr lang="en-US" sz="1220" dirty="0"/>
          </a:p>
        </p:txBody>
      </p:sp>
      <p:sp>
        <p:nvSpPr>
          <p:cNvPr id="27" name="Text 25"/>
          <p:cNvSpPr/>
          <p:nvPr/>
        </p:nvSpPr>
        <p:spPr>
          <a:xfrm>
            <a:off x="8028432" y="4626864"/>
            <a:ext cx="3127248" cy="228600"/>
          </a:xfrm>
          <a:prstGeom prst="rect">
            <a:avLst/>
          </a:prstGeom>
          <a:noFill/>
          <a:ln/>
        </p:spPr>
        <p:txBody>
          <a:bodyPr wrap="square" lIns="0" tIns="0" rIns="0" bIns="0" rtlCol="0" anchor="ctr">
            <a:normAutofit/>
          </a:bodyPr>
          <a:lstStyle/>
          <a:p>
            <a:pPr algn="l" indent="0" marL="0">
              <a:buNone/>
            </a:pPr>
            <a:r>
              <a:rPr lang="en-US" sz="980" dirty="0">
                <a:solidFill>
                  <a:srgbClr val="BCD4C6"/>
                </a:solidFill>
                <a:latin typeface="Aptos" pitchFamily="34" charset="0"/>
                <a:ea typeface="Aptos" pitchFamily="34" charset="-122"/>
                <a:cs typeface="Aptos" pitchFamily="34" charset="-120"/>
              </a:rPr>
              <a:t>docs/METHODOLOGY.md · docs/LIMITATIONS.md</a:t>
            </a:r>
            <a:endParaRPr lang="en-US" sz="980" dirty="0"/>
          </a:p>
        </p:txBody>
      </p:sp>
      <p:sp>
        <p:nvSpPr>
          <p:cNvPr id="28" name="Shape 26"/>
          <p:cNvSpPr/>
          <p:nvPr/>
        </p:nvSpPr>
        <p:spPr>
          <a:xfrm>
            <a:off x="8028432" y="5330952"/>
            <a:ext cx="3191256" cy="0"/>
          </a:xfrm>
          <a:prstGeom prst="line">
            <a:avLst/>
          </a:prstGeom>
          <a:noFill/>
          <a:ln w="10160">
            <a:solidFill>
              <a:srgbClr val="5C8A78"/>
            </a:solidFill>
            <a:prstDash val="solid"/>
            <a:headEnd type="none"/>
            <a:tailEnd type="none"/>
          </a:ln>
        </p:spPr>
      </p:sp>
      <p:sp>
        <p:nvSpPr>
          <p:cNvPr id="29" name="Text 27"/>
          <p:cNvSpPr/>
          <p:nvPr/>
        </p:nvSpPr>
        <p:spPr>
          <a:xfrm>
            <a:off x="8028432" y="5550408"/>
            <a:ext cx="1920240" cy="320040"/>
          </a:xfrm>
          <a:prstGeom prst="rect">
            <a:avLst/>
          </a:prstGeom>
          <a:noFill/>
          <a:ln/>
        </p:spPr>
        <p:txBody>
          <a:bodyPr wrap="square" lIns="0" tIns="0" rIns="0" bIns="0" rtlCol="0" anchor="ctr">
            <a:normAutofit/>
          </a:bodyPr>
          <a:lstStyle/>
          <a:p>
            <a:pPr algn="l" indent="0" marL="0">
              <a:buNone/>
            </a:pPr>
            <a:r>
              <a:rPr lang="en-US" sz="2000" b="1" dirty="0">
                <a:solidFill>
                  <a:srgbClr val="E7A54A"/>
                </a:solidFill>
                <a:latin typeface="Georgia" pitchFamily="34" charset="0"/>
                <a:ea typeface="Georgia" pitchFamily="34" charset="-122"/>
                <a:cs typeface="Georgia" pitchFamily="34" charset="-120"/>
              </a:rPr>
              <a:t>Questions</a:t>
            </a:r>
            <a:endParaRPr lang="en-US" sz="2000" dirty="0"/>
          </a:p>
        </p:txBody>
      </p:sp>
      <p:sp>
        <p:nvSpPr>
          <p:cNvPr id="30" name="Text 28"/>
          <p:cNvSpPr/>
          <p:nvPr/>
        </p:nvSpPr>
        <p:spPr>
          <a:xfrm>
            <a:off x="713232" y="6281928"/>
            <a:ext cx="5029200" cy="173736"/>
          </a:xfrm>
          <a:prstGeom prst="rect">
            <a:avLst/>
          </a:prstGeom>
          <a:noFill/>
          <a:ln/>
        </p:spPr>
        <p:txBody>
          <a:bodyPr wrap="square" lIns="0" tIns="0" rIns="0" bIns="0" rtlCol="0" anchor="ctr">
            <a:normAutofit/>
          </a:bodyPr>
          <a:lstStyle/>
          <a:p>
            <a:pPr algn="l" indent="0" marL="0">
              <a:buNone/>
            </a:pPr>
            <a:r>
              <a:rPr lang="en-US" sz="920" spc="70" kern="0" dirty="0">
                <a:solidFill>
                  <a:srgbClr val="BED2C5"/>
                </a:solidFill>
                <a:latin typeface="Aptos" pitchFamily="34" charset="0"/>
                <a:ea typeface="Aptos" pitchFamily="34" charset="-122"/>
                <a:cs typeface="Aptos" pitchFamily="34" charset="-120"/>
              </a:rPr>
              <a:t>PRJ_277  ·  360° Media Research</a:t>
            </a:r>
            <a:endParaRPr lang="en-US" sz="9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University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PRJ_277 | 360-Degree News Coverage Research</dc:title>
  <dc:subject>University prototype for evidence-linked, multilingual news coverage research</dc:subject>
  <dc:creator>PRJ_277 project team</dc:creator>
  <cp:lastModifiedBy>PRJ_277 project team</cp:lastModifiedBy>
  <cp:revision>1</cp:revision>
  <dcterms:created xsi:type="dcterms:W3CDTF">2026-09-24T15:31:06Z</dcterms:created>
  <dcterms:modified xsi:type="dcterms:W3CDTF">2026-09-24T15:31:06Z</dcterms:modified>
</cp:coreProperties>
</file>